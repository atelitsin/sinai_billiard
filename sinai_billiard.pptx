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11.xml" ContentType="application/vnd.openxmlformats-officedocument.presentationml.slid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s/slide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5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embedTrueTypeFonts="1" saveSubsetFonts="1" strictFirstAndLastChars="0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5143500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  <a:defRPr lang="ru-RU"/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0" d="6"/>
          <a:sy n="0" d="2"/>
        </p:scale>
        <p:origin x="478964560" y="0"/>
      </p:cViewPr>
      <p:guideLst>
        <p:guide pos="2880"/>
        <p:guide pos="1620" orient="horz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Relationship Id="rId19" Type="http://schemas.onlyoffice.com/jsaProject" Target="jsaProject.bin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09035" name="Google Shape;3;n"/>
          <p:cNvSpPr txBox="1"/>
          <p:nvPr>
            <p:ph type="hdr" idx="2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770555594" name="Google Shape;4;n"/>
          <p:cNvSpPr txBox="1"/>
          <p:nvPr>
            <p:ph type="dt" idx="10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48858345" name="Google Shape;5;n"/>
          <p:cNvSpPr/>
          <p:nvPr>
            <p:ph type="sldImg" idx="3"/>
          </p:nvPr>
        </p:nvSpPr>
        <p:spPr bwMode="auto"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0148821" name="Google Shape;6;n"/>
          <p:cNvSpPr txBox="1"/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649475155" name="Google Shape;7;n"/>
          <p:cNvSpPr txBox="1"/>
          <p:nvPr>
            <p:ph type="ftr" idx="11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175032241" name="Google Shape;8;n"/>
          <p:cNvSpPr txBox="1"/>
          <p:nvPr>
            <p:ph type="sldNum" idx="12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7646597" name="Google Shape;37;g3d81e7673dc_0_0:notes"/>
          <p:cNvSpPr txBox="1"/>
          <p:nvPr>
            <p:ph type="body" idx="1"/>
          </p:nvPr>
        </p:nvSpPr>
        <p:spPr bwMode="auto">
          <a:xfrm>
            <a:off x="514350" y="4400550"/>
            <a:ext cx="41148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468417821" name="Google Shape;38;g3d81e7673dc_0_0:notes"/>
          <p:cNvSpPr/>
          <p:nvPr>
            <p:ph type="sldImg" idx="2"/>
          </p:nvPr>
        </p:nvSpPr>
        <p:spPr bwMode="auto">
          <a:xfrm>
            <a:off x="51435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8577965" name="Slide Image Placeholder 1"/>
          <p:cNvSpPr>
            <a:spLocks noGrp="1"/>
          </p:cNvSpPr>
          <p:nvPr>
            <p:ph type="sldImg" idx="3"/>
          </p:nvPr>
        </p:nvSpPr>
        <p:spPr bwMode="auto"/>
      </p:sp>
      <p:sp>
        <p:nvSpPr>
          <p:cNvPr id="16198276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6002415" name="Slide Number Placeholder 3"/>
          <p:cNvSpPr>
            <a:spLocks noGrp="1"/>
          </p:cNvSpPr>
          <p:nvPr>
            <p:ph type="sldNum" idx="12"/>
          </p:nvPr>
        </p:nvSpPr>
        <p:spPr bwMode="auto"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6331633" name="Slide Image Placeholder 1"/>
          <p:cNvSpPr>
            <a:spLocks noGrp="1"/>
          </p:cNvSpPr>
          <p:nvPr>
            <p:ph type="sldImg" idx="3"/>
          </p:nvPr>
        </p:nvSpPr>
        <p:spPr bwMode="auto"/>
      </p:sp>
      <p:sp>
        <p:nvSpPr>
          <p:cNvPr id="8267588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9912140" name="Slide Number Placeholder 3"/>
          <p:cNvSpPr>
            <a:spLocks noGrp="1"/>
          </p:cNvSpPr>
          <p:nvPr>
            <p:ph type="sldNum" idx="12"/>
          </p:nvPr>
        </p:nvSpPr>
        <p:spPr bwMode="auto"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4878742" name="Slide Image Placeholder 1"/>
          <p:cNvSpPr>
            <a:spLocks noGrp="1"/>
          </p:cNvSpPr>
          <p:nvPr>
            <p:ph type="sldImg" idx="3"/>
          </p:nvPr>
        </p:nvSpPr>
        <p:spPr bwMode="auto"/>
      </p:sp>
      <p:sp>
        <p:nvSpPr>
          <p:cNvPr id="7554129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1456728" name="Slide Number Placeholder 3"/>
          <p:cNvSpPr>
            <a:spLocks noGrp="1"/>
          </p:cNvSpPr>
          <p:nvPr>
            <p:ph type="sldNum" idx="12"/>
          </p:nvPr>
        </p:nvSpPr>
        <p:spPr bwMode="auto"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3111071" name="Slide Image Placeholder 1"/>
          <p:cNvSpPr>
            <a:spLocks noGrp="1"/>
          </p:cNvSpPr>
          <p:nvPr>
            <p:ph type="sldImg" idx="3"/>
          </p:nvPr>
        </p:nvSpPr>
        <p:spPr bwMode="auto"/>
      </p:sp>
      <p:sp>
        <p:nvSpPr>
          <p:cNvPr id="8195835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061711" name="Slide Number Placeholder 3"/>
          <p:cNvSpPr>
            <a:spLocks noGrp="1"/>
          </p:cNvSpPr>
          <p:nvPr>
            <p:ph type="sldNum" idx="12"/>
          </p:nvPr>
        </p:nvSpPr>
        <p:spPr bwMode="auto"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5339549" name="Slide Image Placeholder 1"/>
          <p:cNvSpPr>
            <a:spLocks noGrp="1"/>
          </p:cNvSpPr>
          <p:nvPr>
            <p:ph type="sldImg" idx="3"/>
          </p:nvPr>
        </p:nvSpPr>
        <p:spPr bwMode="auto"/>
      </p:sp>
      <p:sp>
        <p:nvSpPr>
          <p:cNvPr id="13257899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6033709" name="Slide Number Placeholder 3"/>
          <p:cNvSpPr>
            <a:spLocks noGrp="1"/>
          </p:cNvSpPr>
          <p:nvPr>
            <p:ph type="sldNum" idx="12"/>
          </p:nvPr>
        </p:nvSpPr>
        <p:spPr bwMode="auto"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5500017" name="Slide Image Placeholder 1"/>
          <p:cNvSpPr>
            <a:spLocks noGrp="1"/>
          </p:cNvSpPr>
          <p:nvPr>
            <p:ph type="sldImg" idx="3"/>
          </p:nvPr>
        </p:nvSpPr>
        <p:spPr bwMode="auto"/>
      </p:sp>
      <p:sp>
        <p:nvSpPr>
          <p:cNvPr id="14325096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3130915" name="Slide Number Placeholder 3"/>
          <p:cNvSpPr>
            <a:spLocks noGrp="1"/>
          </p:cNvSpPr>
          <p:nvPr>
            <p:ph type="sldNum" idx="12"/>
          </p:nvPr>
        </p:nvSpPr>
        <p:spPr bwMode="auto"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7525622" name="Google Shape;44;p3:notes"/>
          <p:cNvSpPr/>
          <p:nvPr>
            <p:ph type="sldImg" idx="2"/>
          </p:nvPr>
        </p:nvSpPr>
        <p:spPr bwMode="auto"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869708" name="Google Shape;45;p3:notes"/>
          <p:cNvSpPr txBox="1"/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390659262" name="Google Shape;46;p3:notes"/>
          <p:cNvSpPr txBox="1"/>
          <p:nvPr>
            <p:ph type="sldNum" idx="12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2778713" name="Google Shape;224;p11:notes"/>
          <p:cNvSpPr/>
          <p:nvPr>
            <p:ph type="sldImg" idx="2"/>
          </p:nvPr>
        </p:nvSpPr>
        <p:spPr bwMode="auto"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8619574" name="Google Shape;225;p11:notes"/>
          <p:cNvSpPr txBox="1"/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356731228" name="Google Shape;226;p11:notes"/>
          <p:cNvSpPr txBox="1"/>
          <p:nvPr>
            <p:ph type="sldNum" idx="12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3180869" name="Google Shape;276;p13:notes"/>
          <p:cNvSpPr/>
          <p:nvPr>
            <p:ph type="sldImg" idx="2"/>
          </p:nvPr>
        </p:nvSpPr>
        <p:spPr bwMode="auto"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19251236" name="Google Shape;277;p13:notes"/>
          <p:cNvSpPr txBox="1"/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984835660" name="Google Shape;278;p13:notes"/>
          <p:cNvSpPr txBox="1"/>
          <p:nvPr>
            <p:ph type="sldNum" idx="12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1054293" name="Google Shape;306;g3d81e7673dc_0_110:notes"/>
          <p:cNvSpPr txBox="1"/>
          <p:nvPr>
            <p:ph type="body" idx="1"/>
          </p:nvPr>
        </p:nvSpPr>
        <p:spPr bwMode="auto">
          <a:xfrm>
            <a:off x="514350" y="4400550"/>
            <a:ext cx="41148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842025296" name="Google Shape;307;g3d81e7673dc_0_110:notes"/>
          <p:cNvSpPr/>
          <p:nvPr>
            <p:ph type="sldImg" idx="2"/>
          </p:nvPr>
        </p:nvSpPr>
        <p:spPr bwMode="auto">
          <a:xfrm>
            <a:off x="51435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DEFAULT" preserve="0" showMasterPhAnim="0" showMasterSp="1" userDrawn="1">
  <p:cSld name="DEFAULT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2_Титульный слайд" preserve="0" showMasterPhAnim="0" showMasterSp="0" userDrawn="1">
  <p:cSld name="2_Титульный слайд">
    <p:bg>
      <p:bgPr shadeToTitle="0">
        <a:blipFill rotWithShape="1">
          <a:blip r:embed="rId2">
            <a:alphaModFix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72868" name="Google Shape;12;p3"/>
          <p:cNvSpPr txBox="1"/>
          <p:nvPr>
            <p:ph type="ctrTitle"/>
          </p:nvPr>
        </p:nvSpPr>
        <p:spPr bwMode="auto">
          <a:xfrm>
            <a:off x="504645" y="1600200"/>
            <a:ext cx="8476200" cy="95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15151"/>
              </a:buClr>
              <a:buSzPts val="3600"/>
              <a:buFont typeface="Quattrocento Sans"/>
              <a:buChar char="●"/>
              <a:defRPr sz="3600">
                <a:solidFill>
                  <a:srgbClr val="51515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pPr>
              <a:defRPr/>
            </a:pPr>
            <a:endParaRPr/>
          </a:p>
        </p:txBody>
      </p:sp>
      <p:sp>
        <p:nvSpPr>
          <p:cNvPr id="585490385" name="Google Shape;13;p3"/>
          <p:cNvSpPr txBox="1"/>
          <p:nvPr>
            <p:ph type="subTitle" idx="1"/>
          </p:nvPr>
        </p:nvSpPr>
        <p:spPr bwMode="auto">
          <a:xfrm>
            <a:off x="494110" y="2656131"/>
            <a:ext cx="8486700" cy="3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515151"/>
              </a:buClr>
              <a:buSzPts val="2100"/>
              <a:buNone/>
              <a:defRPr sz="2100">
                <a:solidFill>
                  <a:srgbClr val="515151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21212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21212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21212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21212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pPr>
              <a:defRPr/>
            </a:pPr>
            <a:endParaRPr/>
          </a:p>
        </p:txBody>
      </p:sp>
      <p:sp>
        <p:nvSpPr>
          <p:cNvPr id="1245427407" name="Google Shape;14;p3"/>
          <p:cNvSpPr txBox="1"/>
          <p:nvPr>
            <p:ph type="body" idx="2"/>
          </p:nvPr>
        </p:nvSpPr>
        <p:spPr bwMode="auto">
          <a:xfrm>
            <a:off x="498693" y="4075757"/>
            <a:ext cx="84822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515151"/>
              </a:buClr>
              <a:buSzPts val="1800"/>
              <a:buNone/>
              <a:defRPr sz="1800" b="1">
                <a:solidFill>
                  <a:srgbClr val="51515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515151"/>
              </a:buClr>
              <a:buSzPts val="1500"/>
              <a:buNone/>
              <a:defRPr sz="1500">
                <a:solidFill>
                  <a:srgbClr val="51515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515151"/>
              </a:buClr>
              <a:buSzPts val="1400"/>
              <a:buNone/>
              <a:defRPr sz="1400">
                <a:solidFill>
                  <a:srgbClr val="51515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515151"/>
              </a:buClr>
              <a:buSzPts val="1200"/>
              <a:buNone/>
              <a:defRPr sz="1200">
                <a:solidFill>
                  <a:srgbClr val="51515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515151"/>
              </a:buClr>
              <a:buSzPts val="1200"/>
              <a:buNone/>
              <a:defRPr sz="1200">
                <a:solidFill>
                  <a:srgbClr val="515151"/>
                </a:solidFill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1100"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100"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1100"/>
            </a:lvl9pPr>
          </a:lstStyle>
          <a:p>
            <a:pPr>
              <a:defRPr/>
            </a:pPr>
            <a:endParaRPr/>
          </a:p>
        </p:txBody>
      </p:sp>
      <p:sp>
        <p:nvSpPr>
          <p:cNvPr id="775561868" name="Google Shape;15;p3"/>
          <p:cNvSpPr txBox="1"/>
          <p:nvPr>
            <p:ph type="body" idx="3"/>
          </p:nvPr>
        </p:nvSpPr>
        <p:spPr bwMode="auto">
          <a:xfrm>
            <a:off x="494110" y="4476750"/>
            <a:ext cx="8486700" cy="25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515151"/>
              </a:buClr>
              <a:buSzPts val="1500"/>
              <a:buNone/>
              <a:defRPr sz="1500">
                <a:solidFill>
                  <a:srgbClr val="51515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21212"/>
              </a:buClr>
              <a:buSzPts val="1400"/>
              <a:buChar char="○"/>
              <a:defRPr sz="1100"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21212"/>
              </a:buClr>
              <a:buSzPts val="1400"/>
              <a:buChar char="■"/>
              <a:defRPr sz="1100"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21212"/>
              </a:buClr>
              <a:buSzPts val="1400"/>
              <a:buChar char="●"/>
              <a:defRPr sz="1100"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21212"/>
              </a:buClr>
              <a:buSzPts val="1400"/>
              <a:buChar char="○"/>
              <a:defRPr sz="11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1100"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100"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1100"/>
            </a:lvl9pPr>
          </a:lstStyle>
          <a:p>
            <a:pPr>
              <a:defRPr/>
            </a:pPr>
            <a:endParaRPr/>
          </a:p>
        </p:txBody>
      </p:sp>
      <p:pic>
        <p:nvPicPr>
          <p:cNvPr id="480771223" name="Google Shape;16;p3" descr="\\ad.pu.ru\RECTORAT\УСО\ДИЗАЙНЕРЫ\300 лет СПбГУ\300 лет логотипы все варианты\Logo 300 let classic white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1207280" y="327422"/>
            <a:ext cx="2829903" cy="8699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Вертикальный заголовок и текст" preserve="0" showMasterPhAnim="0" showMasterSp="0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335970" name="Google Shape;18;p4"/>
          <p:cNvPicPr/>
          <p:nvPr/>
        </p:nvPicPr>
        <p:blipFill rotWithShape="1">
          <a:blip r:embed="rId2">
            <a:alphaModFix/>
          </a:blip>
          <a:srcRect l="0" t="0" r="0" b="0"/>
          <a:stretch/>
        </p:blipFill>
        <p:spPr bwMode="auto">
          <a:xfrm>
            <a:off x="0" y="0"/>
            <a:ext cx="9144002" cy="5141597"/>
          </a:xfrm>
          <a:prstGeom prst="rect">
            <a:avLst/>
          </a:prstGeom>
          <a:noFill/>
          <a:ln>
            <a:noFill/>
          </a:ln>
        </p:spPr>
      </p:pic>
      <p:sp>
        <p:nvSpPr>
          <p:cNvPr id="1123535474" name="Google Shape;19;p4"/>
          <p:cNvSpPr/>
          <p:nvPr/>
        </p:nvSpPr>
        <p:spPr bwMode="auto">
          <a:xfrm>
            <a:off x="0" y="1514476"/>
            <a:ext cx="9144000" cy="2586300"/>
          </a:xfrm>
          <a:prstGeom prst="rect">
            <a:avLst/>
          </a:prstGeom>
          <a:solidFill>
            <a:srgbClr val="EAE0D5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grpSp>
        <p:nvGrpSpPr>
          <p:cNvPr id="239802344" name="Google Shape;20;p4"/>
          <p:cNvGrpSpPr/>
          <p:nvPr/>
        </p:nvGrpSpPr>
        <p:grpSpPr bwMode="auto">
          <a:xfrm>
            <a:off x="9241246" y="2763409"/>
            <a:ext cx="827775" cy="1834463"/>
            <a:chOff x="12321661" y="3684546"/>
            <a:chExt cx="1103700" cy="2445951"/>
          </a:xfrm>
        </p:grpSpPr>
        <p:sp>
          <p:nvSpPr>
            <p:cNvPr id="21" name="Google Shape;21;p4"/>
            <p:cNvSpPr/>
            <p:nvPr/>
          </p:nvSpPr>
          <p:spPr bwMode="auto">
            <a:xfrm>
              <a:off x="12321661" y="3684546"/>
              <a:ext cx="1103700" cy="422399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2" name="Google Shape;22;p4"/>
            <p:cNvSpPr txBox="1"/>
            <p:nvPr/>
          </p:nvSpPr>
          <p:spPr bwMode="auto">
            <a:xfrm>
              <a:off x="12427169" y="3780118"/>
              <a:ext cx="8931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r>
                <a:rPr lang="en-US" sz="600">
                  <a:solidFill>
                    <a:schemeClr val="lt1"/>
                  </a:solidFill>
                  <a:latin typeface="Calibri"/>
                  <a:ea typeface="Calibri"/>
                  <a:cs typeface="Calibri"/>
                </a:rPr>
                <a:t>175 / 44 / 34</a:t>
              </a:r>
              <a:endParaRPr sz="600" b="1">
                <a:solidFill>
                  <a:schemeClr val="lt1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3" name="Google Shape;23;p4"/>
            <p:cNvSpPr/>
            <p:nvPr/>
          </p:nvSpPr>
          <p:spPr bwMode="auto">
            <a:xfrm>
              <a:off x="12321661" y="4195929"/>
              <a:ext cx="1103700" cy="422399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4" name="Google Shape;24;p4"/>
            <p:cNvSpPr txBox="1"/>
            <p:nvPr/>
          </p:nvSpPr>
          <p:spPr bwMode="auto">
            <a:xfrm>
              <a:off x="12427169" y="4291501"/>
              <a:ext cx="8931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r>
                <a:rPr lang="en-US" sz="600">
                  <a:solidFill>
                    <a:schemeClr val="lt1"/>
                  </a:solidFill>
                  <a:latin typeface="Calibri"/>
                  <a:ea typeface="Calibri"/>
                  <a:cs typeface="Calibri"/>
                </a:rPr>
                <a:t>200 / 160 / 110</a:t>
              </a:r>
              <a:endParaRPr sz="600" b="1">
                <a:solidFill>
                  <a:schemeClr val="lt1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5" name="Google Shape;25;p4"/>
            <p:cNvSpPr/>
            <p:nvPr/>
          </p:nvSpPr>
          <p:spPr bwMode="auto">
            <a:xfrm>
              <a:off x="12321661" y="4699985"/>
              <a:ext cx="1103700" cy="422399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6" name="Google Shape;26;p4"/>
            <p:cNvSpPr txBox="1"/>
            <p:nvPr/>
          </p:nvSpPr>
          <p:spPr bwMode="auto">
            <a:xfrm>
              <a:off x="12427169" y="4795557"/>
              <a:ext cx="8931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r>
                <a:rPr lang="en-US" sz="600">
                  <a:solidFill>
                    <a:schemeClr val="lt1"/>
                  </a:solidFill>
                  <a:latin typeface="Calibri"/>
                  <a:ea typeface="Calibri"/>
                  <a:cs typeface="Calibri"/>
                </a:rPr>
                <a:t>201 / 188 / 171</a:t>
              </a:r>
              <a:endParaRPr sz="600" b="1">
                <a:solidFill>
                  <a:schemeClr val="lt1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7" name="Google Shape;27;p4"/>
            <p:cNvSpPr/>
            <p:nvPr/>
          </p:nvSpPr>
          <p:spPr bwMode="auto">
            <a:xfrm>
              <a:off x="12321661" y="5204041"/>
              <a:ext cx="1103700" cy="422399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8" name="Google Shape;28;p4"/>
            <p:cNvSpPr txBox="1"/>
            <p:nvPr/>
          </p:nvSpPr>
          <p:spPr bwMode="auto">
            <a:xfrm>
              <a:off x="12427169" y="5299613"/>
              <a:ext cx="8931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r>
                <a:rPr lang="en-US" sz="600">
                  <a:solidFill>
                    <a:schemeClr val="lt1"/>
                  </a:solidFill>
                  <a:latin typeface="Calibri"/>
                  <a:ea typeface="Calibri"/>
                  <a:cs typeface="Calibri"/>
                </a:rPr>
                <a:t>135 / 135 / 135</a:t>
              </a:r>
              <a:endParaRPr sz="600" b="1">
                <a:solidFill>
                  <a:schemeClr val="lt1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9" name="Google Shape;29;p4"/>
            <p:cNvSpPr/>
            <p:nvPr/>
          </p:nvSpPr>
          <p:spPr bwMode="auto">
            <a:xfrm>
              <a:off x="12321661" y="5708096"/>
              <a:ext cx="1103700" cy="422399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rgbClr val="8D3F3F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30" name="Google Shape;30;p4"/>
            <p:cNvSpPr txBox="1"/>
            <p:nvPr/>
          </p:nvSpPr>
          <p:spPr bwMode="auto">
            <a:xfrm>
              <a:off x="12427169" y="5803669"/>
              <a:ext cx="8931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r>
                <a:rPr lang="en-US" sz="600">
                  <a:solidFill>
                    <a:schemeClr val="lt1"/>
                  </a:solidFill>
                  <a:latin typeface="Calibri"/>
                  <a:ea typeface="Calibri"/>
                  <a:cs typeface="Calibri"/>
                </a:rPr>
                <a:t>141 / 63 / 63</a:t>
              </a:r>
              <a:endParaRPr sz="600" b="1">
                <a:solidFill>
                  <a:schemeClr val="lt1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704719155" name="Google Shape;31;p4"/>
          <p:cNvSpPr txBox="1"/>
          <p:nvPr>
            <p:ph type="body" idx="1"/>
          </p:nvPr>
        </p:nvSpPr>
        <p:spPr bwMode="auto">
          <a:xfrm>
            <a:off x="494110" y="2157413"/>
            <a:ext cx="3534900" cy="11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515151"/>
              </a:buClr>
              <a:buSzPts val="1400"/>
              <a:buNone/>
              <a:defRPr sz="1400" b="1">
                <a:solidFill>
                  <a:srgbClr val="51515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515151"/>
              </a:buClr>
              <a:buSzPts val="1800"/>
              <a:buNone/>
              <a:defRPr sz="1100">
                <a:solidFill>
                  <a:srgbClr val="51515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515151"/>
              </a:buClr>
              <a:buSzPts val="1500"/>
              <a:buNone/>
              <a:defRPr sz="1100">
                <a:solidFill>
                  <a:srgbClr val="51515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515151"/>
              </a:buClr>
              <a:buSzPts val="1400"/>
              <a:buNone/>
              <a:defRPr sz="1100">
                <a:solidFill>
                  <a:srgbClr val="51515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515151"/>
              </a:buClr>
              <a:buSzPts val="1400"/>
              <a:buNone/>
              <a:defRPr sz="1100">
                <a:solidFill>
                  <a:srgbClr val="515151"/>
                </a:solidFill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1100"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100"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1100"/>
            </a:lvl9pPr>
          </a:lstStyle>
          <a:p>
            <a:pPr>
              <a:defRPr/>
            </a:pPr>
            <a:endParaRPr/>
          </a:p>
        </p:txBody>
      </p:sp>
      <p:sp>
        <p:nvSpPr>
          <p:cNvPr id="192025064" name="Google Shape;32;p4"/>
          <p:cNvSpPr txBox="1"/>
          <p:nvPr/>
        </p:nvSpPr>
        <p:spPr bwMode="auto">
          <a:xfrm>
            <a:off x="7537847" y="4446985"/>
            <a:ext cx="1248900" cy="3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Quattrocento Sans"/>
              <a:buNone/>
              <a:defRPr/>
            </a:pPr>
            <a:r>
              <a:rPr lang="en-US" sz="2400" b="1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</a:rPr>
              <a:t>spbu.ru</a:t>
            </a:r>
            <a:endParaRPr sz="2400" b="1">
              <a:solidFill>
                <a:schemeClr val="lt1"/>
              </a:solidFill>
              <a:latin typeface="Quattrocento Sans"/>
              <a:ea typeface="Quattrocento Sans"/>
              <a:cs typeface="Quattrocento Sans"/>
            </a:endParaRPr>
          </a:p>
        </p:txBody>
      </p:sp>
      <p:pic>
        <p:nvPicPr>
          <p:cNvPr id="1255053431" name="Google Shape;33;p4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457540" y="506429"/>
            <a:ext cx="1926484" cy="592104"/>
          </a:xfrm>
          <a:prstGeom prst="rect">
            <a:avLst/>
          </a:prstGeom>
          <a:noFill/>
          <a:ln>
            <a:noFill/>
          </a:ln>
        </p:spPr>
      </p:pic>
      <p:sp>
        <p:nvSpPr>
          <p:cNvPr id="1615351044" name="Google Shape;34;p4"/>
          <p:cNvSpPr txBox="1"/>
          <p:nvPr>
            <p:ph type="body" idx="2"/>
          </p:nvPr>
        </p:nvSpPr>
        <p:spPr bwMode="auto">
          <a:xfrm>
            <a:off x="4139952" y="2157413"/>
            <a:ext cx="3534900" cy="11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515151"/>
              </a:buClr>
              <a:buSzPts val="1400"/>
              <a:buNone/>
              <a:defRPr sz="1400" b="1">
                <a:solidFill>
                  <a:srgbClr val="51515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515151"/>
              </a:buClr>
              <a:buSzPts val="1800"/>
              <a:buNone/>
              <a:defRPr sz="1100">
                <a:solidFill>
                  <a:srgbClr val="51515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515151"/>
              </a:buClr>
              <a:buSzPts val="1500"/>
              <a:buNone/>
              <a:defRPr sz="1100">
                <a:solidFill>
                  <a:srgbClr val="51515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515151"/>
              </a:buClr>
              <a:buSzPts val="1400"/>
              <a:buNone/>
              <a:defRPr sz="1100">
                <a:solidFill>
                  <a:srgbClr val="51515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515151"/>
              </a:buClr>
              <a:buSzPts val="1400"/>
              <a:buNone/>
              <a:defRPr sz="1100">
                <a:solidFill>
                  <a:srgbClr val="515151"/>
                </a:solidFill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1100"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100"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1100"/>
            </a:lvl9pPr>
          </a:lstStyle>
          <a:p>
            <a:pPr>
              <a:defRPr/>
            </a:pPr>
            <a:endParaRPr/>
          </a:p>
        </p:txBody>
      </p:sp>
      <p:sp>
        <p:nvSpPr>
          <p:cNvPr id="1197348136" name="Google Shape;35;p4"/>
          <p:cNvSpPr/>
          <p:nvPr/>
        </p:nvSpPr>
        <p:spPr bwMode="auto">
          <a:xfrm>
            <a:off x="498532" y="1615567"/>
            <a:ext cx="14007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100" b="1">
                <a:solidFill>
                  <a:schemeClr val="accent1"/>
                </a:solidFill>
                <a:latin typeface="Quattrocento Sans"/>
                <a:ea typeface="Quattrocento Sans"/>
                <a:cs typeface="Quattrocento Sans"/>
              </a:rPr>
              <a:t>Контакты</a:t>
            </a:r>
            <a:endParaRPr sz="1100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dt="0" ftr="0" hdr="0" sldNum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1488543" name="Google Shape;40;p5"/>
          <p:cNvSpPr txBox="1"/>
          <p:nvPr>
            <p:ph type="ctrTitle"/>
          </p:nvPr>
        </p:nvSpPr>
        <p:spPr bwMode="auto">
          <a:xfrm>
            <a:off x="504645" y="2215937"/>
            <a:ext cx="8476200" cy="14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ru-RU" sz="2400" b="1">
                <a:solidFill>
                  <a:srgbClr val="141414"/>
                </a:solidFill>
                <a:latin typeface="Open Sans"/>
                <a:ea typeface="Open Sans"/>
                <a:cs typeface="Open Sans"/>
              </a:rPr>
              <a:t>Биллиард Синая как модель динамического хаоса.</a:t>
            </a:r>
            <a:endParaRPr sz="2700" b="1">
              <a:solidFill>
                <a:srgbClr val="141414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15151"/>
              </a:buClr>
              <a:buSzPts val="3300"/>
              <a:buFont typeface="Quattrocento Sans"/>
              <a:buNone/>
              <a:defRPr/>
            </a:pPr>
            <a:endParaRPr sz="3300"/>
          </a:p>
        </p:txBody>
      </p:sp>
      <p:sp>
        <p:nvSpPr>
          <p:cNvPr id="1570775176" name="Google Shape;41;p5"/>
          <p:cNvSpPr txBox="1"/>
          <p:nvPr>
            <p:ph type="body" idx="2"/>
          </p:nvPr>
        </p:nvSpPr>
        <p:spPr bwMode="auto">
          <a:xfrm flipH="0" flipV="0">
            <a:off x="501642" y="3240657"/>
            <a:ext cx="8482199" cy="1143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4" tIns="34274" rIns="68574" bIns="34274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15151"/>
              </a:buClr>
              <a:buSzPts val="1800"/>
              <a:buNone/>
              <a:defRPr/>
            </a:pPr>
            <a:r>
              <a:rPr lang="ru-RU">
                <a:latin typeface="Open Sans"/>
                <a:ea typeface="Open Sans"/>
                <a:cs typeface="Open Sans"/>
              </a:rPr>
              <a:t>Гончаров Иван</a:t>
            </a:r>
            <a:endParaRPr lang="ru-RU">
              <a:latin typeface="Open Sans"/>
              <a:ea typeface="Open Sans"/>
              <a:cs typeface="Open Sans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15151"/>
              </a:buClr>
              <a:buSzPts val="1800"/>
              <a:buNone/>
              <a:defRPr/>
            </a:pPr>
            <a:r>
              <a:rPr lang="ru-RU">
                <a:latin typeface="Open Sans"/>
                <a:ea typeface="Open Sans"/>
                <a:cs typeface="Open Sans"/>
              </a:rPr>
              <a:t>Музиров Борис</a:t>
            </a:r>
            <a:endParaRPr lang="ru-RU">
              <a:latin typeface="Open Sans"/>
              <a:ea typeface="Open Sans"/>
              <a:cs typeface="Open Sans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15151"/>
              </a:buClr>
              <a:buSzPts val="1800"/>
              <a:buNone/>
              <a:defRPr/>
            </a:pPr>
            <a:r>
              <a:rPr lang="ru-RU">
                <a:latin typeface="Open Sans"/>
                <a:ea typeface="Open Sans"/>
                <a:cs typeface="Open Sans"/>
              </a:rPr>
              <a:t>Телицин Андрей</a:t>
            </a:r>
            <a:endParaRPr>
              <a:latin typeface="Open Sans"/>
              <a:cs typeface="Open Sans"/>
            </a:endParaRPr>
          </a:p>
        </p:txBody>
      </p:sp>
      <p:sp>
        <p:nvSpPr>
          <p:cNvPr id="2111618241" name="Google Shape;42;p5"/>
          <p:cNvSpPr txBox="1"/>
          <p:nvPr>
            <p:ph type="body" idx="3"/>
          </p:nvPr>
        </p:nvSpPr>
        <p:spPr bwMode="auto">
          <a:xfrm>
            <a:off x="494110" y="4383881"/>
            <a:ext cx="8486700" cy="25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15151"/>
              </a:buClr>
              <a:buSzPts val="1500"/>
              <a:buNone/>
              <a:defRPr/>
            </a:pPr>
            <a:r>
              <a:rPr lang="en-US"/>
              <a:t>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24804849" name="Picture 1" descr="image12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498080" y="137160"/>
            <a:ext cx="1463040" cy="475488"/>
          </a:xfrm>
          <a:prstGeom prst="rect">
            <a:avLst/>
          </a:prstGeom>
        </p:spPr>
      </p:pic>
      <p:sp>
        <p:nvSpPr>
          <p:cNvPr id="1660115670" name="Rectangle 2"/>
          <p:cNvSpPr/>
          <p:nvPr/>
        </p:nvSpPr>
        <p:spPr bwMode="auto">
          <a:xfrm>
            <a:off x="8686800" y="4846320"/>
            <a:ext cx="274320" cy="182880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97649048" name="TextBox 3"/>
          <p:cNvSpPr txBox="1"/>
          <p:nvPr/>
        </p:nvSpPr>
        <p:spPr bwMode="auto">
          <a:xfrm>
            <a:off x="8641080" y="4800600"/>
            <a:ext cx="365760" cy="228600"/>
          </a:xfrm>
          <a:prstGeom prst="rect">
            <a:avLst/>
          </a:prstGeom>
          <a:noFill/>
        </p:spPr>
        <p:txBody>
          <a:bodyPr wrap="square" lIns="91423" tIns="45699" rIns="91423" bIns="45699" anchor="ctr">
            <a:noAutofit/>
          </a:bodyPr>
          <a:lstStyle/>
          <a:p>
            <a:pPr marL="0" marR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/>
          </a:p>
        </p:txBody>
      </p:sp>
      <p:sp>
        <p:nvSpPr>
          <p:cNvPr id="670785614" name="TextBox 4"/>
          <p:cNvSpPr txBox="1"/>
          <p:nvPr/>
        </p:nvSpPr>
        <p:spPr bwMode="auto">
          <a:xfrm flipH="0" flipV="0">
            <a:off x="322229" y="182880"/>
            <a:ext cx="7907369" cy="502920"/>
          </a:xfrm>
          <a:prstGeom prst="rect">
            <a:avLst/>
          </a:prstGeom>
          <a:noFill/>
        </p:spPr>
        <p:txBody>
          <a:bodyPr wrap="square" lIns="91422" tIns="45697" rIns="91422" bIns="45697" anchor="ctr">
            <a:noAutofit/>
          </a:bodyPr>
          <a:lstStyle/>
          <a:p>
            <a:pPr marL="0" marR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sz="2400" b="1" i="0">
                <a:solidFill>
                  <a:srgbClr val="C0272D"/>
                </a:solidFill>
                <a:latin typeface="Open Sans"/>
                <a:ea typeface="Open Sans"/>
                <a:cs typeface="Open Sans"/>
              </a:rPr>
              <a:t>Вступление. О математических бильярдах.</a:t>
            </a:r>
            <a:endParaRPr sz="1200">
              <a:latin typeface="Open Sans"/>
              <a:cs typeface="Open Sans"/>
            </a:endParaRPr>
          </a:p>
        </p:txBody>
      </p:sp>
      <p:sp>
        <p:nvSpPr>
          <p:cNvPr id="1948386742" name="Rectangle 5"/>
          <p:cNvSpPr/>
          <p:nvPr/>
        </p:nvSpPr>
        <p:spPr bwMode="auto">
          <a:xfrm>
            <a:off x="249078" y="201168"/>
            <a:ext cx="73152" cy="457200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01669312" name="Rectangle 6"/>
          <p:cNvSpPr/>
          <p:nvPr/>
        </p:nvSpPr>
        <p:spPr bwMode="auto">
          <a:xfrm flipH="0" flipV="0">
            <a:off x="249077" y="839556"/>
            <a:ext cx="4210123" cy="4189642"/>
          </a:xfrm>
          <a:prstGeom prst="rect">
            <a:avLst/>
          </a:prstGeom>
          <a:solidFill>
            <a:srgbClr val="E8D5D5"/>
          </a:solidFill>
          <a:ln w="12700">
            <a:solidFill>
              <a:srgbClr val="D8B8B8"/>
            </a:solidFill>
            <a:prstDash val="solid"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06079935" name=""/>
          <p:cNvSpPr txBox="1"/>
          <p:nvPr/>
        </p:nvSpPr>
        <p:spPr bwMode="auto">
          <a:xfrm rot="0" flipH="0" flipV="0">
            <a:off x="249077" y="862416"/>
            <a:ext cx="4268401" cy="414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indent="274319">
              <a:defRPr/>
            </a:pPr>
            <a:r>
              <a:rPr sz="1400" b="1" i="0" u="none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Бильярды </a:t>
            </a:r>
            <a:r>
              <a:rPr sz="1400" b="0" i="0" u="none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— это </a:t>
            </a:r>
            <a:r>
              <a:rPr sz="1400" b="1" i="0" u="none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математические модели</a:t>
            </a:r>
            <a:r>
              <a:rPr sz="1400" b="0" i="0" u="none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, описывающие множество </a:t>
            </a:r>
            <a:r>
              <a:rPr sz="1400" b="1" i="0" u="none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физических явлений</a:t>
            </a:r>
            <a:r>
              <a:rPr sz="1400" b="0" i="0" u="none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, в которых одна или несколько частиц движутся внутри </a:t>
            </a:r>
            <a:r>
              <a:rPr sz="1400" b="1" i="0" u="none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некоторой области</a:t>
            </a:r>
            <a:r>
              <a:rPr sz="1400" b="0" i="0" u="none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и </a:t>
            </a:r>
            <a:r>
              <a:rPr sz="1400" b="1" i="0" u="none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сталкиваются</a:t>
            </a:r>
            <a:r>
              <a:rPr sz="1400" b="0" i="0" u="none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с её стенками и/или друг с другом.</a:t>
            </a:r>
            <a:r>
              <a:rPr sz="1400" b="0" i="0" u="none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sz="1400" b="0" i="0" u="none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Динамические свойства таких моделей определяются </a:t>
            </a:r>
            <a:r>
              <a:rPr sz="1400" b="1" i="0" u="none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формой стенок</a:t>
            </a:r>
            <a:r>
              <a:rPr sz="1400" b="0" i="0" u="none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этой области и могут </a:t>
            </a:r>
            <a:r>
              <a:rPr sz="1400" b="1" i="0" u="none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варьироваться </a:t>
            </a:r>
            <a:r>
              <a:rPr sz="1400" b="0" i="0" u="none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от полностью регулярного (</a:t>
            </a:r>
            <a:r>
              <a:rPr sz="1400" b="1" i="0" u="none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интегрируемого</a:t>
            </a:r>
            <a:r>
              <a:rPr sz="1400" b="0" i="0" u="none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) движения до полностью </a:t>
            </a:r>
            <a:r>
              <a:rPr sz="1400" b="1" i="0" u="none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хаотического</a:t>
            </a:r>
            <a:r>
              <a:rPr sz="1400" b="0" i="0" u="none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.</a:t>
            </a:r>
            <a:endParaRPr sz="1400" b="0" i="0" u="none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indent="274319">
              <a:defRPr/>
            </a:pPr>
            <a:r>
              <a:rPr sz="1400" b="0" i="0" u="none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Наибольший интерес представляют </a:t>
            </a:r>
            <a:r>
              <a:rPr sz="1400" b="1" i="0" u="none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хаотические бильярды</a:t>
            </a:r>
            <a:r>
              <a:rPr sz="1400" b="0" i="0" u="none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. К ним относятся классические модели абсолютно упругих шаров, изучавшиеся </a:t>
            </a:r>
            <a:r>
              <a:rPr sz="1400" b="0" i="0" u="sng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Л. Больцманом</a:t>
            </a:r>
            <a:r>
              <a:rPr sz="1400" b="0" i="0" u="none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в XIX веке, газ </a:t>
            </a:r>
            <a:r>
              <a:rPr sz="1400" b="0" i="0" u="sng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Лоренца</a:t>
            </a:r>
            <a:r>
              <a:rPr sz="1400" b="0" i="0" u="none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, введённый в 1905 году для описания электрических явлений, а также современные бильярды с рассеивающими границами, предложенные </a:t>
            </a:r>
            <a:r>
              <a:rPr sz="1400" b="0" i="0" u="sng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Я. Синаем.</a:t>
            </a:r>
            <a:endParaRPr sz="1600" u="sng">
              <a:latin typeface="Open Sans"/>
              <a:cs typeface="Open Sans"/>
            </a:endParaRPr>
          </a:p>
        </p:txBody>
      </p:sp>
      <p:sp>
        <p:nvSpPr>
          <p:cNvPr id="1150561435" name=""/>
          <p:cNvSpPr txBox="1"/>
          <p:nvPr/>
        </p:nvSpPr>
        <p:spPr bwMode="auto">
          <a:xfrm rot="0" flipH="0" flipV="0">
            <a:off x="4750623" y="873122"/>
            <a:ext cx="4222803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369336682" name=""/>
          <p:cNvSpPr txBox="1"/>
          <p:nvPr/>
        </p:nvSpPr>
        <p:spPr bwMode="auto">
          <a:xfrm rot="0" flipH="0" flipV="0">
            <a:off x="4571999" y="846666"/>
            <a:ext cx="4543349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b="1">
                <a:solidFill>
                  <a:srgbClr val="C00000"/>
                </a:solidFill>
              </a:rPr>
              <a:t>Простые примеры бильярда с круглым столом</a:t>
            </a:r>
            <a:r>
              <a:rPr b="1">
                <a:solidFill>
                  <a:srgbClr val="C00000"/>
                </a:solidFill>
              </a:rPr>
              <a:t>:</a:t>
            </a:r>
            <a:endParaRPr b="1">
              <a:solidFill>
                <a:srgbClr val="C00000"/>
              </a:solidFill>
            </a:endParaRPr>
          </a:p>
        </p:txBody>
      </p:sp>
      <p:sp>
        <p:nvSpPr>
          <p:cNvPr id="1122041156" name=""/>
          <p:cNvSpPr txBox="1"/>
          <p:nvPr/>
        </p:nvSpPr>
        <p:spPr bwMode="auto">
          <a:xfrm rot="0" flipH="0" flipV="0">
            <a:off x="5104721" y="3092685"/>
            <a:ext cx="3806042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>
                <a:highlight>
                  <a:srgbClr val="FFFF00"/>
                </a:highlight>
              </a:rPr>
              <a:t>Анимация бильярда с окружностью</a:t>
            </a:r>
            <a:endParaRPr>
              <a:highlight>
                <a:srgbClr val="FFFF00"/>
              </a:highligh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49522364" name="Picture 1" descr="image12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498080" y="137160"/>
            <a:ext cx="1463040" cy="475488"/>
          </a:xfrm>
          <a:prstGeom prst="rect">
            <a:avLst/>
          </a:prstGeom>
        </p:spPr>
      </p:pic>
      <p:sp>
        <p:nvSpPr>
          <p:cNvPr id="215709837" name="Rectangle 2"/>
          <p:cNvSpPr/>
          <p:nvPr/>
        </p:nvSpPr>
        <p:spPr bwMode="auto">
          <a:xfrm>
            <a:off x="8686800" y="4846320"/>
            <a:ext cx="274320" cy="182880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09527062" name="TextBox 3"/>
          <p:cNvSpPr txBox="1"/>
          <p:nvPr/>
        </p:nvSpPr>
        <p:spPr bwMode="auto">
          <a:xfrm>
            <a:off x="8641080" y="4800600"/>
            <a:ext cx="365760" cy="228600"/>
          </a:xfrm>
          <a:prstGeom prst="rect">
            <a:avLst/>
          </a:prstGeom>
          <a:noFill/>
        </p:spPr>
        <p:txBody>
          <a:bodyPr wrap="square" lIns="91422" tIns="45698" rIns="91422" bIns="45698" anchor="ctr">
            <a:noAutofit/>
          </a:bodyPr>
          <a:lstStyle/>
          <a:p>
            <a:pPr marL="0" marR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/>
          </a:p>
        </p:txBody>
      </p:sp>
      <p:sp>
        <p:nvSpPr>
          <p:cNvPr id="981578631" name="TextBox 4"/>
          <p:cNvSpPr txBox="1"/>
          <p:nvPr/>
        </p:nvSpPr>
        <p:spPr bwMode="auto">
          <a:xfrm>
            <a:off x="594360" y="182880"/>
            <a:ext cx="6858000" cy="502920"/>
          </a:xfrm>
          <a:prstGeom prst="rect">
            <a:avLst/>
          </a:prstGeom>
          <a:noFill/>
        </p:spPr>
        <p:txBody>
          <a:bodyPr wrap="square" lIns="91422" tIns="45698" rIns="91422" bIns="45698" anchor="ctr">
            <a:noAutofit/>
          </a:bodyPr>
          <a:lstStyle/>
          <a:p>
            <a:pPr marL="0" marR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sz="2400" b="1" i="0">
                <a:solidFill>
                  <a:srgbClr val="C0272D"/>
                </a:solidFill>
                <a:latin typeface="Open Sans"/>
                <a:ea typeface="Open Sans"/>
                <a:cs typeface="Open Sans"/>
              </a:rPr>
              <a:t>Периодичность и эргодичность на круге.</a:t>
            </a:r>
            <a:endParaRPr sz="1200">
              <a:latin typeface="Open Sans"/>
              <a:cs typeface="Open Sans"/>
            </a:endParaRPr>
          </a:p>
        </p:txBody>
      </p:sp>
      <p:sp>
        <p:nvSpPr>
          <p:cNvPr id="1094531860" name="Rectangle 5"/>
          <p:cNvSpPr/>
          <p:nvPr/>
        </p:nvSpPr>
        <p:spPr bwMode="auto">
          <a:xfrm>
            <a:off x="457200" y="201168"/>
            <a:ext cx="73152" cy="457200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92605178" name="Rectangle 6"/>
          <p:cNvSpPr/>
          <p:nvPr/>
        </p:nvSpPr>
        <p:spPr bwMode="auto">
          <a:xfrm flipH="0" flipV="0">
            <a:off x="459355" y="848355"/>
            <a:ext cx="8503920" cy="3878866"/>
          </a:xfrm>
          <a:prstGeom prst="rect">
            <a:avLst/>
          </a:prstGeom>
          <a:solidFill>
            <a:srgbClr val="E8D5D5"/>
          </a:solidFill>
          <a:ln w="12700">
            <a:solidFill>
              <a:srgbClr val="D8B8B8"/>
            </a:solidFill>
            <a:prstDash val="solid"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68624432" name=""/>
          <p:cNvSpPr txBox="1"/>
          <p:nvPr/>
        </p:nvSpPr>
        <p:spPr bwMode="auto">
          <a:xfrm rot="0" flipH="0" flipV="0">
            <a:off x="457199" y="848355"/>
            <a:ext cx="8509675" cy="383140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indent="274319">
              <a:defRPr/>
            </a:pPr>
            <a:r>
              <a:rPr sz="1300" b="0" i="0" u="none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В основе анализа бильярдных систем лежит изучение движения частицы, которое можно описать через </a:t>
            </a:r>
            <a:r>
              <a:rPr sz="1300" b="1" i="0" u="none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отображения</a:t>
            </a:r>
            <a:r>
              <a:rPr lang="ru-RU" sz="1300" b="0" i="0" u="none" strike="noStrike" cap="none" spc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ru-RU" sz="1300" b="1" i="0" u="none" strike="noStrike" cap="none" spc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столкновений</a:t>
            </a:r>
            <a:r>
              <a:rPr lang="ru-RU" sz="1300" b="0" i="0" u="none" strike="noStrike" cap="none" spc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(</a:t>
            </a:r>
            <a:r>
              <a:rPr lang="ru-RU" sz="1300" b="0" i="1" u="none" strike="noStrike" cap="none" spc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billiard map)</a:t>
            </a:r>
            <a:r>
              <a:rPr lang="ru-RU" sz="1300" b="0" i="0" u="none" strike="noStrike" cap="none" spc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. Вместо непрерывного движения частицы между столкновениями рассматривают последовательность её состояний непосредственно в моменты ударов о границу.</a:t>
            </a:r>
            <a:endParaRPr sz="1300" b="0" i="0" u="none" strike="noStrike" cap="none" spc="0">
              <a:solidFill>
                <a:srgbClr val="000000"/>
              </a:solidFill>
              <a:latin typeface="Open Sans"/>
              <a:cs typeface="Open Sans"/>
            </a:endParaRPr>
          </a:p>
          <a:p>
            <a:pPr indent="274319">
              <a:defRPr/>
            </a:pPr>
            <a:r>
              <a:rPr lang="ru-RU" sz="1300" b="0" i="0" u="none" strike="noStrike" cap="none" spc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Тогда состояние частицы при столкновении можно задать двумя параметрами:</a:t>
            </a:r>
            <a:endParaRPr sz="1300" b="0" i="0" u="none" strike="noStrike" cap="none" spc="0">
              <a:solidFill>
                <a:srgbClr val="000000"/>
              </a:solidFill>
              <a:latin typeface="Open Sans"/>
              <a:cs typeface="Open Sans"/>
            </a:endParaRPr>
          </a:p>
          <a:p>
            <a:pPr marL="217793" indent="274319">
              <a:buFont typeface="Arial"/>
              <a:buChar char="•"/>
              <a:defRPr/>
            </a:pPr>
            <a:r>
              <a:rPr lang="ru-RU" sz="1300" b="1" i="0" u="none" strike="noStrike" cap="none" spc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положением </a:t>
            </a:r>
            <a:r>
              <a:rPr lang="ru-RU" sz="1300" b="0" i="0" u="none" strike="noStrike" cap="none" spc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точки столкновения на границе;</a:t>
            </a:r>
            <a:endParaRPr sz="1300" b="0" i="0" u="none" strike="noStrike" cap="none" spc="0">
              <a:solidFill>
                <a:srgbClr val="000000"/>
              </a:solidFill>
              <a:latin typeface="Open Sans"/>
              <a:cs typeface="Open Sans"/>
            </a:endParaRPr>
          </a:p>
          <a:p>
            <a:pPr marL="217793" indent="274319">
              <a:buFont typeface="Arial"/>
              <a:buChar char="•"/>
              <a:defRPr/>
            </a:pPr>
            <a:r>
              <a:rPr lang="ru-RU" sz="1300" b="1" i="0" u="none" strike="noStrike" cap="none" spc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направлением </a:t>
            </a:r>
            <a:r>
              <a:rPr lang="ru-RU" sz="1300" b="0" i="0" u="none" strike="noStrike" cap="none" spc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движения после столкновения.</a:t>
            </a:r>
            <a:endParaRPr sz="1300" b="0" i="0" u="none" strike="noStrike" cap="none" spc="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indent="274319">
              <a:defRPr/>
            </a:pPr>
            <a:r>
              <a:rPr lang="ru-RU" sz="1300" b="0" i="0" u="none" strike="noStrike" cap="none" spc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При этом скорость часто несущественна для геометрии траектории: если она постоянна, изменение её величины меняет время между столкновениями, но не последовательность точек столкновения и направлений движения.</a:t>
            </a:r>
            <a:endParaRPr sz="1300" b="0" i="0" u="none" strike="noStrike" cap="none" spc="0">
              <a:solidFill>
                <a:srgbClr val="000000"/>
              </a:solidFill>
              <a:latin typeface="Open Sans"/>
              <a:cs typeface="Open Sans"/>
            </a:endParaRPr>
          </a:p>
          <a:p>
            <a:pPr indent="274319">
              <a:defRPr/>
            </a:pPr>
            <a:r>
              <a:rPr sz="1300" b="0" i="0" u="none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Простейший пример — вращение окружности с постоянным шагом. Здесь ключевую роль играет </a:t>
            </a:r>
            <a:r>
              <a:rPr sz="1300" b="1" i="0" u="none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природа угла поворота</a:t>
            </a:r>
            <a:r>
              <a:rPr sz="1300" b="0" i="0" u="none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или, в контексте бильярда, отношения угла отражения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ru-RU" sz="1300" u="none" strike="noStrike" cap="none" spc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ψ</m:t>
                      </m:r>
                    </m:oMath>
                  </m:oMathPara>
                </a14:m>
              </mc:Choice>
              <mc:Fallback/>
            </mc:AlternateContent>
            <a:r>
              <a:rPr sz="1300" b="0" i="0" u="none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к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i"/>
                        </m:rPr>
                        <a:rPr sz="1300">
                          <a:latin typeface="Cambria Math"/>
                          <a:ea typeface="Cambria Math"/>
                          <a:cs typeface="Cambria Math"/>
                        </a:rPr>
                        <m:t>𝜋</m:t>
                      </m:r>
                    </m:oMath>
                  </m:oMathPara>
                </a14:m>
              </mc:Choice>
              <mc:Fallback/>
            </mc:AlternateContent>
            <a:r>
              <a:rPr sz="1300" b="0" i="0" u="none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(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ru-RU" sz="1300" u="none" strike="noStrike" cap="none" spc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ψ</m:t>
                      </m:r>
                      <m:r>
                        <m:rPr>
                          <m:sty m:val="p"/>
                        </m:rPr>
                        <a:rPr lang="ru-RU" sz="1300" u="none" strike="noStrike" cap="none" spc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 &lt; </m:t>
                      </m:r>
                      <m:r>
                        <m:rPr>
                          <m:sty m:val="p"/>
                        </m:rPr>
                        <a:rPr lang="ru-RU" sz="1300" u="none" strike="noStrike" cap="none" spc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π</m:t>
                      </m:r>
                    </m:oMath>
                  </m:oMathPara>
                </a14:m>
              </mc:Choice>
              <mc:Fallback/>
            </mc:AlternateContent>
            <a:r>
              <a:rPr lang="en-US" sz="1300" b="0" i="0" u="none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)</a:t>
            </a:r>
            <a:r>
              <a:rPr lang="ru-RU" sz="1300" b="0" i="0" u="none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. </a:t>
            </a:r>
            <a:r>
              <a:rPr sz="1300" b="0" i="0" u="none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:</a:t>
            </a:r>
            <a:endParaRPr sz="1300" b="0" i="0" u="none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marL="239821" indent="274319">
              <a:buAutoNum type="arabicPeriod"/>
              <a:defRPr/>
            </a:pPr>
            <a:r>
              <a:rPr sz="1300" b="0" i="0" u="none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Если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ru-RU" sz="1300" u="none" strike="noStrike" cap="none" spc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ψ</m:t>
                      </m:r>
                    </m:oMath>
                  </m:oMathPara>
                </a14:m>
              </mc:Choice>
              <mc:Fallback/>
            </mc:AlternateContent>
            <a:r>
              <a:rPr lang="en-US" sz="1300" b="0" i="0" u="none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— </a:t>
            </a:r>
            <a:r>
              <a:rPr lang="ru-RU" sz="1300" b="0" i="1" u="none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рациональный </a:t>
            </a:r>
            <a:r>
              <a:rPr lang="ru-RU" sz="1300" b="0" i="0" u="none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множитель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ru-RU" sz="1300" u="none" strike="noStrike" cap="none" spc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π</m:t>
                      </m:r>
                    </m:oMath>
                  </m:oMathPara>
                </a14:m>
              </mc:Choice>
              <mc:Fallback/>
            </mc:AlternateContent>
            <a:r>
              <a:rPr lang="ru-RU" sz="1300" b="0" i="0" u="none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, то есть</a:t>
            </a:r>
            <a:r>
              <a:rPr lang="ru-RU" sz="1300" b="0" i="0" u="none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f>
                        <m:fPr>
                          <m:ctrlPr>
                            <a:rPr lang="ru-RU" sz="1300" b="0" i="0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ru-RU" sz="13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ψ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ru-RU" sz="13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π</m:t>
                          </m:r>
                        </m:den>
                      </m:f>
                      <m:r>
                        <m:rPr>
                          <m:sty m:val="p"/>
                        </m:rPr>
                        <a:rPr lang="ru-RU" sz="1300" strike="noStrike" cap="none" spc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 = </m:t>
                      </m:r>
                      <m:f>
                        <m:fPr>
                          <m:ctrlPr>
                            <a:rPr lang="ru-RU" sz="1300" b="0" i="1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>
                              <m:sty m:val="i"/>
                            </m:rPr>
                            <a:rPr lang="ru-RU" sz="1300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</m:num>
                        <m:den>
                          <m:r>
                            <m:rPr>
                              <m:sty m:val="i"/>
                            </m:rPr>
                            <a:rPr lang="ru-RU" sz="1300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den>
                      </m:f>
                    </m:oMath>
                  </m:oMathPara>
                </a14:m>
              </mc:Choice>
              <mc:Fallback/>
            </mc:AlternateContent>
            <a:r>
              <a:rPr lang="en-US" sz="1300" b="0" i="0" u="none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300" b="0" i="0" u="none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(</a:t>
            </a:r>
            <a:r>
              <a:rPr lang="ru-RU" sz="1300" b="0" i="0" u="none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несократимая дробь)</a:t>
            </a:r>
            <a:r>
              <a:rPr sz="1300" b="0" i="0" u="none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, то вращение называется </a:t>
            </a:r>
            <a:r>
              <a:rPr sz="1300" b="1" i="0" u="none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периодическим</a:t>
            </a:r>
            <a:r>
              <a:rPr sz="1300" b="0" i="0" u="none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, и </a:t>
            </a:r>
            <a:r>
              <a:rPr lang="ru-RU" sz="1300" b="0" i="0" u="none" strike="noStrike" cap="none" spc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любая точка вернется в исходное положение ровно через n шагов. Траектория замыкается, образуя правильный многоугольник.</a:t>
            </a:r>
            <a:endParaRPr sz="1300" b="0" i="0" u="none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marL="239821" indent="274319">
              <a:buAutoNum type="arabicPeriod"/>
              <a:defRPr/>
            </a:pPr>
            <a:r>
              <a:rPr sz="1300" b="0" i="0" u="none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Если </a:t>
            </a:r>
            <a:r>
              <a:rPr sz="1300" b="0" i="0" u="none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отношение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f>
                        <m:fPr>
                          <m:ctrlPr>
                            <a:rPr lang="ru-RU" sz="1300" b="0" i="0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ru-RU" sz="13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ψ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ru-RU" sz="13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π</m:t>
                          </m:r>
                        </m:den>
                      </m:f>
                    </m:oMath>
                  </m:oMathPara>
                </a14:m>
              </mc:Choice>
              <mc:Fallback/>
            </mc:AlternateContent>
            <a:r>
              <a:rPr sz="1300" b="0" i="0" u="none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sz="1300" b="0" i="1" u="none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иррационально</a:t>
            </a:r>
            <a:r>
              <a:rPr sz="1300" b="0" i="0" u="none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, тогда вращение является </a:t>
            </a:r>
            <a:r>
              <a:rPr sz="1300" b="1" i="0" u="none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эргодическим </a:t>
            </a:r>
            <a:r>
              <a:rPr sz="1300" b="0" i="0" u="none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относительно меры Лебега. </a:t>
            </a:r>
            <a:r>
              <a:rPr lang="ru-RU" sz="1300" b="0" i="0" u="none" strike="noStrike" cap="none" spc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Траектория с течением времени становится плотной и равномерно распределенной по всей окружности. Более подробно о понятии эргодичности будет сказано позже</a:t>
            </a:r>
            <a:r>
              <a:rPr sz="1300" b="0" i="0" u="none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.</a:t>
            </a:r>
            <a:endParaRPr sz="1300" b="0" i="0" u="none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78135189" name="Picture 1" descr="image12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498080" y="137160"/>
            <a:ext cx="1463040" cy="475488"/>
          </a:xfrm>
          <a:prstGeom prst="rect">
            <a:avLst/>
          </a:prstGeom>
        </p:spPr>
      </p:pic>
      <p:sp>
        <p:nvSpPr>
          <p:cNvPr id="1487142385" name="Rectangle 2"/>
          <p:cNvSpPr/>
          <p:nvPr/>
        </p:nvSpPr>
        <p:spPr bwMode="auto">
          <a:xfrm>
            <a:off x="8686800" y="4846320"/>
            <a:ext cx="274320" cy="182880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57992248" name="TextBox 3"/>
          <p:cNvSpPr txBox="1"/>
          <p:nvPr/>
        </p:nvSpPr>
        <p:spPr bwMode="auto">
          <a:xfrm>
            <a:off x="8641080" y="4800600"/>
            <a:ext cx="365760" cy="228600"/>
          </a:xfrm>
          <a:prstGeom prst="rect">
            <a:avLst/>
          </a:prstGeom>
          <a:noFill/>
        </p:spPr>
        <p:txBody>
          <a:bodyPr wrap="square" lIns="91422" tIns="45696" rIns="91422" bIns="45696" anchor="ctr">
            <a:noAutofit/>
          </a:bodyPr>
          <a:lstStyle/>
          <a:p>
            <a:pPr marL="0" marR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/>
          </a:p>
        </p:txBody>
      </p:sp>
      <p:sp>
        <p:nvSpPr>
          <p:cNvPr id="838579910" name="TextBox 4"/>
          <p:cNvSpPr txBox="1"/>
          <p:nvPr/>
        </p:nvSpPr>
        <p:spPr bwMode="auto">
          <a:xfrm>
            <a:off x="594360" y="182880"/>
            <a:ext cx="6858000" cy="502920"/>
          </a:xfrm>
          <a:prstGeom prst="rect">
            <a:avLst/>
          </a:prstGeom>
          <a:noFill/>
        </p:spPr>
        <p:txBody>
          <a:bodyPr wrap="square" lIns="91422" tIns="45696" rIns="91422" bIns="45696" anchor="ctr">
            <a:noAutofit/>
          </a:bodyPr>
          <a:lstStyle/>
          <a:p>
            <a:pPr marL="0" marR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1800" b="1" i="0" u="none" strike="noStrike" cap="none" spc="0">
                <a:solidFill>
                  <a:srgbClr val="C0272D"/>
                </a:solidFill>
                <a:latin typeface="Open Sans"/>
                <a:ea typeface="Open Sans"/>
                <a:cs typeface="Open Sans"/>
              </a:rPr>
              <a:t>Визуализация периодического</a:t>
            </a:r>
            <a:endParaRPr lang="ru-RU" sz="1800" b="1" i="0" u="none" strike="noStrike" cap="none" spc="0">
              <a:solidFill>
                <a:srgbClr val="C0272D"/>
              </a:solidFill>
              <a:latin typeface="Open Sans"/>
              <a:ea typeface="Open Sans"/>
              <a:cs typeface="Open Sans"/>
            </a:endParaRPr>
          </a:p>
          <a:p>
            <a:pPr marL="0" marR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1800" b="1" i="0" u="none" strike="noStrike" cap="none" spc="0">
                <a:solidFill>
                  <a:srgbClr val="C0272D"/>
                </a:solidFill>
                <a:latin typeface="Open Sans"/>
                <a:ea typeface="Open Sans"/>
                <a:cs typeface="Open Sans"/>
              </a:rPr>
              <a:t>и эргодического вращений.</a:t>
            </a:r>
            <a:endParaRPr lang="ru-RU" sz="1800" b="1" i="0" u="none" strike="noStrike" cap="none" spc="0">
              <a:solidFill>
                <a:srgbClr val="C0272D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358258149" name="Rectangle 5"/>
          <p:cNvSpPr/>
          <p:nvPr/>
        </p:nvSpPr>
        <p:spPr bwMode="auto">
          <a:xfrm>
            <a:off x="457200" y="201168"/>
            <a:ext cx="73152" cy="457200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61082291" name=""/>
          <p:cNvSpPr txBox="1"/>
          <p:nvPr/>
        </p:nvSpPr>
        <p:spPr bwMode="auto">
          <a:xfrm rot="0" flipH="0" flipV="0">
            <a:off x="824350" y="2070851"/>
            <a:ext cx="3014689" cy="1158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 sz="1400" b="0" i="0" u="none" strike="noStrike" cap="none" spc="0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Анимация периодического вращения (частица сталкивается о окружностью, места столкновения помечаются; это конкретное конечное число точек)</a:t>
            </a:r>
            <a:endParaRPr/>
          </a:p>
        </p:txBody>
      </p:sp>
      <p:sp>
        <p:nvSpPr>
          <p:cNvPr id="769569198" name=""/>
          <p:cNvSpPr txBox="1"/>
          <p:nvPr/>
        </p:nvSpPr>
        <p:spPr bwMode="auto">
          <a:xfrm rot="0" flipH="0" flipV="0">
            <a:off x="5280638" y="2070851"/>
            <a:ext cx="3032328" cy="1371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 sz="1400" b="0" i="0" u="none" strike="noStrike" cap="none" spc="0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Анимация эргодического вращения (частица сталкивается о окружностью, места столкновения помечаются;  окружность со временем заполняется плотно)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23860232" name="Picture 1" descr="image12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498080" y="137160"/>
            <a:ext cx="1463040" cy="475488"/>
          </a:xfrm>
          <a:prstGeom prst="rect">
            <a:avLst/>
          </a:prstGeom>
        </p:spPr>
      </p:pic>
      <p:sp>
        <p:nvSpPr>
          <p:cNvPr id="2104223596" name="Rectangle 2"/>
          <p:cNvSpPr/>
          <p:nvPr/>
        </p:nvSpPr>
        <p:spPr bwMode="auto">
          <a:xfrm>
            <a:off x="8686800" y="4846320"/>
            <a:ext cx="274320" cy="182880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66145376" name="TextBox 3"/>
          <p:cNvSpPr txBox="1"/>
          <p:nvPr/>
        </p:nvSpPr>
        <p:spPr bwMode="auto">
          <a:xfrm>
            <a:off x="8641080" y="4800600"/>
            <a:ext cx="365760" cy="228600"/>
          </a:xfrm>
          <a:prstGeom prst="rect">
            <a:avLst/>
          </a:prstGeom>
          <a:noFill/>
        </p:spPr>
        <p:txBody>
          <a:bodyPr wrap="square" lIns="91422" tIns="45697" rIns="91422" bIns="45697" anchor="ctr">
            <a:noAutofit/>
          </a:bodyPr>
          <a:lstStyle/>
          <a:p>
            <a:pPr marL="0" marR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/>
          </a:p>
        </p:txBody>
      </p:sp>
      <p:sp>
        <p:nvSpPr>
          <p:cNvPr id="1694668090" name="TextBox 4"/>
          <p:cNvSpPr txBox="1"/>
          <p:nvPr/>
        </p:nvSpPr>
        <p:spPr bwMode="auto">
          <a:xfrm>
            <a:off x="594360" y="182880"/>
            <a:ext cx="6858000" cy="502920"/>
          </a:xfrm>
          <a:prstGeom prst="rect">
            <a:avLst/>
          </a:prstGeom>
          <a:noFill/>
        </p:spPr>
        <p:txBody>
          <a:bodyPr wrap="square" lIns="91422" tIns="45697" rIns="91422" bIns="45697" anchor="ctr">
            <a:noAutofit/>
          </a:bodyPr>
          <a:lstStyle/>
          <a:p>
            <a:pPr marL="0" marR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sz="1800" b="1" i="0">
                <a:solidFill>
                  <a:srgbClr val="C0272D"/>
                </a:solidFill>
                <a:latin typeface="Open Sans"/>
                <a:ea typeface="Open Sans"/>
                <a:cs typeface="Open Sans"/>
              </a:rPr>
              <a:t>Законы квадратного бильярда. Метод развертки.</a:t>
            </a:r>
            <a:endParaRPr sz="900">
              <a:latin typeface="Open Sans"/>
              <a:cs typeface="Open Sans"/>
            </a:endParaRPr>
          </a:p>
        </p:txBody>
      </p:sp>
      <p:sp>
        <p:nvSpPr>
          <p:cNvPr id="1388500054" name="Rectangle 5"/>
          <p:cNvSpPr/>
          <p:nvPr/>
        </p:nvSpPr>
        <p:spPr bwMode="auto">
          <a:xfrm>
            <a:off x="457200" y="201168"/>
            <a:ext cx="73152" cy="457200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39427975" name="Rectangle 6"/>
          <p:cNvSpPr/>
          <p:nvPr/>
        </p:nvSpPr>
        <p:spPr bwMode="auto">
          <a:xfrm flipH="0" flipV="0">
            <a:off x="459356" y="848356"/>
            <a:ext cx="8503920" cy="3855346"/>
          </a:xfrm>
          <a:prstGeom prst="rect">
            <a:avLst/>
          </a:prstGeom>
          <a:solidFill>
            <a:srgbClr val="E8D5D5"/>
          </a:solidFill>
          <a:ln w="12700">
            <a:solidFill>
              <a:srgbClr val="D8B8B8"/>
            </a:solidFill>
            <a:prstDash val="solid"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57090643" name=""/>
          <p:cNvSpPr txBox="1"/>
          <p:nvPr/>
        </p:nvSpPr>
        <p:spPr bwMode="auto">
          <a:xfrm rot="0" flipH="0" flipV="0">
            <a:off x="422816" y="848356"/>
            <a:ext cx="8633340" cy="3745422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indent="274319">
              <a:defRPr/>
            </a:pPr>
            <a:r>
              <a:rPr sz="1200" b="0" i="0" u="none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Пусть</a:t>
            </a:r>
            <a:r>
              <a:rPr sz="1600" b="0" i="0" u="none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sz="1600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sz="1600">
                              <a:latin typeface="Cambria Math"/>
                              <a:ea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m:rPr/>
                            <a:rPr sz="1600">
                              <a:latin typeface="Cambria Math"/>
                              <a:ea typeface="Cambria Math"/>
                              <a:cs typeface="Cambria Math"/>
                            </a:rPr>
                            <m:t>𝑡</m:t>
                          </m:r>
                        </m:sub>
                      </m:sSub>
                      <m:r>
                        <m:rPr/>
                        <a:rPr sz="1600"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m:rPr/>
                        <a:rPr sz="1600"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sSub>
                        <m:sSubPr>
                          <m:ctrlPr>
                            <a:rPr sz="1600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sz="1600">
                              <a:latin typeface="Cambria Math"/>
                              <a:ea typeface="Cambria Math"/>
                              <a:cs typeface="Cambria Math"/>
                            </a:rPr>
                            <m:t>𝑢</m:t>
                          </m:r>
                        </m:e>
                        <m:sub>
                          <m:r>
                            <m:rPr/>
                            <a:rPr sz="1600">
                              <a:latin typeface="Cambria Math"/>
                              <a:ea typeface="Cambria Math"/>
                              <a:cs typeface="Cambria Math"/>
                            </a:rPr>
                            <m:t>𝑡</m:t>
                          </m:r>
                        </m:sub>
                      </m:sSub>
                      <m:r>
                        <m:rPr/>
                        <a:rPr sz="1600"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sSub>
                        <m:sSubPr>
                          <m:ctrlPr>
                            <a:rPr sz="1600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sz="1600">
                              <a:latin typeface="Cambria Math"/>
                              <a:ea typeface="Cambria Math"/>
                              <a:cs typeface="Cambria Math"/>
                            </a:rPr>
                            <m:t>𝑤</m:t>
                          </m:r>
                        </m:e>
                        <m:sub>
                          <m:r>
                            <m:rPr/>
                            <a:rPr sz="1600">
                              <a:latin typeface="Cambria Math"/>
                              <a:ea typeface="Cambria Math"/>
                              <a:cs typeface="Cambria Math"/>
                            </a:rPr>
                            <m:t>𝑡</m:t>
                          </m:r>
                        </m:sub>
                      </m:sSub>
                      <m:r>
                        <m:rPr/>
                        <a:rPr sz="1600"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oMath>
                  </m:oMathPara>
                </a14:m>
              </mc:Choice>
              <mc:Fallback/>
            </mc:AlternateContent>
            <a:r>
              <a:rPr sz="1200" b="0" i="0" u="none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sz="1200" b="0" i="0" u="none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обозначает вектор скорости частицы в момент времени </a:t>
            </a:r>
            <a:r>
              <a:rPr sz="1200" b="0" i="0" u="none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t</a:t>
            </a:r>
            <a:r>
              <a:rPr sz="1200" b="0" i="0" u="none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. В квадратном бильярде изменение компонент скорости подчиняется строгим правилам, зависящим от типа столкновения со стенкой:</a:t>
            </a:r>
            <a:endParaRPr sz="1200">
              <a:latin typeface="Open Sans"/>
              <a:cs typeface="Open Sans"/>
            </a:endParaRPr>
          </a:p>
          <a:p>
            <a:pPr marL="217793" indent="274319">
              <a:buFont typeface="Arial"/>
              <a:buChar char="•"/>
              <a:defRPr/>
            </a:pPr>
            <a:r>
              <a:rPr sz="1200" b="0" i="0" u="none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При ударе о вертикальную стенку горизонтальная компонента меняет знак</a:t>
            </a:r>
            <a:r>
              <a:rPr sz="1200" b="0" i="0" u="none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, а вертикальная остается неизменной.</a:t>
            </a:r>
            <a:endParaRPr sz="1200">
              <a:latin typeface="Open Sans"/>
              <a:cs typeface="Open Sans"/>
            </a:endParaRPr>
          </a:p>
          <a:p>
            <a:pPr marL="217793" indent="274319">
              <a:buFont typeface="Arial"/>
              <a:buChar char="•"/>
              <a:defRPr/>
            </a:pPr>
            <a:r>
              <a:rPr sz="1200" b="0" i="0" u="none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При ударе о горизонтальную стенку вертикальная компонента меняет знак</a:t>
            </a:r>
            <a:r>
              <a:rPr sz="1200" b="0" i="0" u="none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, а горизонтальная остается неизменной.</a:t>
            </a:r>
            <a:endParaRPr sz="1200">
              <a:latin typeface="Open Sans"/>
              <a:cs typeface="Open Sans"/>
            </a:endParaRPr>
          </a:p>
          <a:p>
            <a:pPr indent="274319">
              <a:defRPr/>
            </a:pPr>
            <a:r>
              <a:rPr sz="1200" b="0" i="0" u="none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Следовательно, текущий вектор скорости выражается через начальный вектор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sz="1200"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sSub>
                        <m:sSubPr>
                          <m:ctrlPr>
                            <a:rPr sz="1200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sz="1200">
                              <a:latin typeface="Cambria Math"/>
                              <a:ea typeface="Cambria Math"/>
                              <a:cs typeface="Cambria Math"/>
                            </a:rPr>
                            <m:t>𝑢</m:t>
                          </m:r>
                        </m:e>
                        <m:sub>
                          <m:r>
                            <m:rPr/>
                            <a:rPr sz="1200"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</m:sSub>
                      <m:r>
                        <m:rPr/>
                        <a:rPr sz="1200"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sSub>
                        <m:sSubPr>
                          <m:ctrlPr>
                            <a:rPr sz="1200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sz="1200">
                              <a:latin typeface="Cambria Math"/>
                              <a:ea typeface="Cambria Math"/>
                              <a:cs typeface="Cambria Math"/>
                            </a:rPr>
                            <m:t>𝑤</m:t>
                          </m:r>
                        </m:e>
                        <m:sub>
                          <m:r>
                            <m:rPr/>
                            <a:rPr sz="1200"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</m:sSub>
                      <m:r>
                        <m:rPr/>
                        <a:rPr sz="1200"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oMath>
                  </m:oMathPara>
                </a14:m>
              </mc:Choice>
              <mc:Fallback/>
            </mc:AlternateContent>
            <a:r>
              <a:rPr sz="1200" b="0" i="0" u="none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с помощью формулы:</a:t>
            </a:r>
            <a:endParaRPr sz="1200">
              <a:latin typeface="Open Sans"/>
              <a:ea typeface="Open Sans"/>
              <a:cs typeface="Open Sans"/>
            </a:endParaRPr>
          </a:p>
          <a:p>
            <a:pPr indent="274319">
              <a:defRPr/>
            </a:pPr>
            <a:endParaRPr sz="800">
              <a:latin typeface="Open Sans"/>
              <a:cs typeface="Open Sans"/>
            </a:endParaRPr>
          </a:p>
          <a:p>
            <a:pPr indent="274319"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sz="1600" u="none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sz="1400" u="none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sz="1400" u="none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sz="1400" u="none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p>
                        <m:sSupPr>
                          <m:ctrlPr>
                            <a:rPr sz="1600" u="none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pPr>
                        <m:e>
                          <m:d>
                            <m:dPr>
                              <m:begChr m:val="("/>
                              <m:endChr m:val=")"/>
                              <m:ctrlPr>
                                <a:rPr sz="1600" u="none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sz="1400" u="none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-1</m:t>
                              </m:r>
                            </m:e>
                          </m:d>
                        </m:e>
                        <m:sup>
                          <m:r>
                            <m:rPr>
                              <m:sty m:val="p"/>
                            </m:rPr>
                            <a:rPr sz="1400" u="none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</m:sup>
                      </m:sSup>
                      <m:sSub>
                        <m:sSubPr>
                          <m:ctrlPr>
                            <a:rPr sz="1600" u="none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sz="1400" u="none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sz="1400" u="none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a:rPr sz="1400" u="none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 </m:t>
                      </m:r>
                      <m:r>
                        <m:rPr>
                          <m:sty m:val="p"/>
                        </m:rPr>
                        <a:rPr sz="1400" u="none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и</m:t>
                      </m:r>
                      <m:r>
                        <m:rPr>
                          <m:sty m:val="p"/>
                        </m:rPr>
                        <a:rPr sz="1400" u="none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 </m:t>
                      </m:r>
                      <m:sSub>
                        <m:sSubPr>
                          <m:ctrlPr>
                            <a:rPr sz="1600" u="none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sz="1400" u="none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w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sz="1400" u="none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sz="1400" u="none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p>
                        <m:sSupPr>
                          <m:ctrlPr>
                            <a:rPr sz="1600" u="none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pPr>
                        <m:e>
                          <m:d>
                            <m:dPr>
                              <m:begChr m:val="("/>
                              <m:endChr m:val=")"/>
                              <m:ctrlPr>
                                <a:rPr sz="1600" u="none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sz="1400" u="none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-1</m:t>
                              </m:r>
                            </m:e>
                          </m:d>
                        </m:e>
                        <m:sup>
                          <m:r>
                            <m:rPr>
                              <m:sty m:val="p"/>
                            </m:rPr>
                            <a:rPr sz="1400" u="none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</m:sSup>
                      <m:sSub>
                        <m:sSubPr>
                          <m:ctrlPr>
                            <a:rPr sz="1600" u="none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sz="1400" u="none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w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sz="1400" u="none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endParaRPr sz="1600">
              <a:latin typeface="Open Sans"/>
              <a:ea typeface="Open Sans"/>
              <a:cs typeface="Open Sans"/>
            </a:endParaRPr>
          </a:p>
          <a:p>
            <a:pPr indent="274319">
              <a:defRPr/>
            </a:pPr>
            <a:endParaRPr sz="600">
              <a:latin typeface="Open Sans"/>
              <a:cs typeface="Open Sans"/>
            </a:endParaRPr>
          </a:p>
          <a:p>
            <a:pPr indent="274319">
              <a:defRPr/>
            </a:pPr>
            <a:r>
              <a:rPr sz="1200" b="0" i="0" u="none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где </a:t>
            </a:r>
            <a:r>
              <a:rPr lang="en-US" sz="1200" b="0" i="0" u="none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m </a:t>
            </a:r>
            <a:r>
              <a:rPr lang="ru-RU" sz="1200" b="0" i="0" u="none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и </a:t>
            </a:r>
            <a:r>
              <a:rPr lang="en-US" sz="1200" b="0" i="0" u="none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n </a:t>
            </a:r>
            <a:r>
              <a:rPr sz="1200" b="0" i="0" u="none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— количество столкновений с вертикальными и горизонтальными стенками соответственно за интервал времени </a:t>
            </a:r>
            <a:r>
              <a:rPr lang="en-US" sz="1200">
                <a:latin typeface="Open Sans"/>
                <a:ea typeface="Open Sans"/>
                <a:cs typeface="Open Sans"/>
              </a:rPr>
              <a:t>(0, t)</a:t>
            </a:r>
            <a:r>
              <a:rPr sz="1200">
                <a:latin typeface="Open Sans"/>
                <a:ea typeface="Open Sans"/>
                <a:cs typeface="Open Sans"/>
              </a:rPr>
              <a:t>.</a:t>
            </a:r>
            <a:endParaRPr sz="1200">
              <a:latin typeface="Open Sans"/>
              <a:cs typeface="Open Sans"/>
            </a:endParaRPr>
          </a:p>
          <a:p>
            <a:pPr indent="274319">
              <a:defRPr/>
            </a:pPr>
            <a:r>
              <a:rPr lang="ru-RU" sz="1200" b="0" i="0" u="none" strike="noStrike" cap="none" spc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При </a:t>
            </a:r>
            <a:r>
              <a:rPr lang="en-US" sz="1200" b="0" i="1" u="none" strike="noStrike" cap="none" spc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u</a:t>
            </a:r>
            <a:r>
              <a:rPr lang="en-US" sz="1200" b="0" i="1" u="none" strike="noStrike" cap="none" spc="0" baseline="-250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0</a:t>
            </a:r>
            <a:r>
              <a:rPr lang="en-US" sz="1200" b="0" i="1" u="none" strike="noStrike" cap="none" spc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sz="1200" b="0" i="1" u="none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≠</a:t>
            </a:r>
            <a:r>
              <a:rPr lang="en-US" sz="1200" b="0" i="1" u="none" strike="noStrike" cap="none" spc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0</a:t>
            </a:r>
            <a:r>
              <a:rPr lang="en-US" sz="1200" b="0" i="0" u="none" strike="noStrike" cap="none" spc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ru-RU" sz="1200" b="0" i="0" u="none" strike="noStrike" cap="none" spc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и </a:t>
            </a:r>
            <a:r>
              <a:rPr lang="en-US" sz="1200" b="0" i="1" u="none" strike="noStrike" cap="none" spc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v</a:t>
            </a:r>
            <a:r>
              <a:rPr lang="en-US" sz="1200" b="0" i="1" u="none" strike="noStrike" cap="none" spc="0" baseline="-250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0</a:t>
            </a:r>
            <a:r>
              <a:rPr lang="en-US" sz="1200" b="0" i="1" u="none" strike="noStrike" cap="none" spc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sz="1200" b="0" i="1" u="none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≠</a:t>
            </a:r>
            <a:r>
              <a:rPr lang="en-US" sz="1200" b="0" i="1" u="none" strike="noStrike" cap="none" spc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0</a:t>
            </a:r>
            <a:r>
              <a:rPr lang="ru-RU" sz="1200" b="0" i="1" u="none" strike="noStrike" cap="none" spc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ru-RU" sz="1200" b="0" i="0" u="none" strike="noStrike" cap="none" spc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частица бесконечно много раз перебирает все возможные комбинации знаков</a:t>
            </a:r>
            <a:r>
              <a:rPr lang="ru-RU" sz="1200" b="0" i="0" u="none" strike="noStrike" cap="none" spc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, что демонстрирует активное перемешивание направлений в системе.</a:t>
            </a:r>
            <a:endParaRPr sz="1200">
              <a:latin typeface="Open Sans"/>
              <a:cs typeface="Open Sans"/>
            </a:endParaRPr>
          </a:p>
          <a:p>
            <a:pPr indent="274319">
              <a:defRPr/>
            </a:pPr>
            <a:r>
              <a:rPr sz="1200">
                <a:latin typeface="Open Sans"/>
                <a:ea typeface="Open Sans"/>
                <a:cs typeface="Open Sans"/>
              </a:rPr>
              <a:t>Воспользуемся следующим приемом: </a:t>
            </a:r>
            <a:r>
              <a:rPr lang="ru-RU" sz="1200" b="0" i="0" u="none" strike="noStrike" cap="none" spc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вместо того чтобы отражать траекторию частицы от стороны </a:t>
            </a:r>
            <a:r>
              <a:rPr lang="ru-RU" sz="1200" b="0" i="1" u="none" strike="noStrike" cap="none" spc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∂D</a:t>
            </a:r>
            <a:r>
              <a:rPr lang="ru-RU" sz="1200" b="0" i="0" u="none" strike="noStrike" cap="none" spc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, мы отражаем сам квадрат </a:t>
            </a:r>
            <a:r>
              <a:rPr lang="ru-RU" sz="1200" b="0" i="1" u="none" strike="noStrike" cap="none" spc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D</a:t>
            </a:r>
            <a:r>
              <a:rPr lang="ru-RU" sz="1200" b="0" i="0" u="none" strike="noStrike" cap="none" spc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относительно этой стороны и позволяем частице двигаться прямолинейно в зеркальное отображение </a:t>
            </a:r>
            <a:r>
              <a:rPr lang="ru-RU" sz="1200" b="0" i="1" u="none" strike="noStrike" cap="none" spc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D</a:t>
            </a:r>
            <a:r>
              <a:rPr lang="ru-RU" sz="1200" b="0" i="0" u="none" strike="noStrike" cap="none" spc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. Если продолжать делать это при каждом столкновении, наша частица будет двигаться вдоль прямой линии сквозь множество копий </a:t>
            </a:r>
            <a:r>
              <a:rPr lang="ru-RU" sz="1200" b="0" i="1" u="none" strike="noStrike" cap="none" spc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D</a:t>
            </a:r>
            <a:r>
              <a:rPr lang="ru-RU" sz="1200" b="0" i="0" u="none" strike="noStrike" cap="none" spc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, полученных последовательными отражениями. Эта конструкция называется разверткой (</a:t>
            </a:r>
            <a:r>
              <a:rPr lang="ru-RU" sz="1200" b="0" i="1" u="none" strike="noStrike" cap="none" spc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unfolding</a:t>
            </a:r>
            <a:r>
              <a:rPr lang="ru-RU" sz="1200" b="0" i="0" u="none" strike="noStrike" cap="none" spc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) бильярдной траектории. Чтобы восстановить исходную траекторию в </a:t>
            </a:r>
            <a:r>
              <a:rPr lang="ru-RU" sz="1200" b="0" i="1" u="none" strike="noStrike" cap="none" spc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D</a:t>
            </a:r>
            <a:r>
              <a:rPr lang="ru-RU" sz="1200" b="0" i="0" u="none" strike="noStrike" cap="none" spc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, нужно «сложить» полученную цепочку соседних копий </a:t>
            </a:r>
            <a:r>
              <a:rPr lang="ru-RU" sz="1200" b="0" i="1" u="none" strike="noStrike" cap="none" spc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D</a:t>
            </a:r>
            <a:r>
              <a:rPr lang="ru-RU" sz="1200" b="0" i="0" u="none" strike="noStrike" cap="none" spc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обратно в </a:t>
            </a:r>
            <a:r>
              <a:rPr lang="ru-RU" sz="1200" b="0" i="1" u="none" strike="noStrike" cap="none" spc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D</a:t>
            </a:r>
            <a:r>
              <a:rPr lang="ru-RU" sz="1200" b="0" i="0" u="none" strike="noStrike" cap="none" spc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.</a:t>
            </a:r>
            <a:endParaRPr sz="1200">
              <a:latin typeface="Open Sans"/>
              <a:cs typeface="Open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46512435" name="Picture 1" descr="image12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498080" y="137160"/>
            <a:ext cx="1463040" cy="475488"/>
          </a:xfrm>
          <a:prstGeom prst="rect">
            <a:avLst/>
          </a:prstGeom>
        </p:spPr>
      </p:pic>
      <p:sp>
        <p:nvSpPr>
          <p:cNvPr id="1279053587" name="Rectangle 2"/>
          <p:cNvSpPr/>
          <p:nvPr/>
        </p:nvSpPr>
        <p:spPr bwMode="auto">
          <a:xfrm>
            <a:off x="8686800" y="4846320"/>
            <a:ext cx="274320" cy="182880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08453016" name="TextBox 3"/>
          <p:cNvSpPr txBox="1"/>
          <p:nvPr/>
        </p:nvSpPr>
        <p:spPr bwMode="auto">
          <a:xfrm>
            <a:off x="8641080" y="4800600"/>
            <a:ext cx="365760" cy="228600"/>
          </a:xfrm>
          <a:prstGeom prst="rect">
            <a:avLst/>
          </a:prstGeom>
          <a:noFill/>
        </p:spPr>
        <p:txBody>
          <a:bodyPr wrap="square" lIns="91422" tIns="45697" rIns="91422" bIns="45697" anchor="ctr">
            <a:noAutofit/>
          </a:bodyPr>
          <a:lstStyle/>
          <a:p>
            <a:pPr marL="0" marR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/>
          </a:p>
        </p:txBody>
      </p:sp>
      <p:sp>
        <p:nvSpPr>
          <p:cNvPr id="840038304" name="TextBox 4"/>
          <p:cNvSpPr txBox="1"/>
          <p:nvPr/>
        </p:nvSpPr>
        <p:spPr bwMode="auto">
          <a:xfrm>
            <a:off x="594360" y="182880"/>
            <a:ext cx="6858000" cy="502920"/>
          </a:xfrm>
          <a:prstGeom prst="rect">
            <a:avLst/>
          </a:prstGeom>
          <a:noFill/>
        </p:spPr>
        <p:txBody>
          <a:bodyPr wrap="square" lIns="91422" tIns="45697" rIns="91422" bIns="45697" anchor="ctr">
            <a:noAutofit/>
          </a:bodyPr>
          <a:lstStyle/>
          <a:p>
            <a:pPr marL="0" marR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1800" b="1" i="0" u="none" strike="noStrike" cap="none" spc="0">
                <a:solidFill>
                  <a:srgbClr val="C0272D"/>
                </a:solidFill>
                <a:latin typeface="Open Sans"/>
                <a:ea typeface="Open Sans"/>
                <a:cs typeface="Open Sans"/>
              </a:rPr>
              <a:t>Визуализация траектории в квадратном</a:t>
            </a:r>
            <a:endParaRPr lang="ru-RU" sz="1800" b="1" i="0" u="none" strike="noStrike" cap="none" spc="0">
              <a:solidFill>
                <a:srgbClr val="C0272D"/>
              </a:solidFill>
              <a:latin typeface="Open Sans"/>
              <a:ea typeface="Open Sans"/>
              <a:cs typeface="Open Sans"/>
            </a:endParaRPr>
          </a:p>
          <a:p>
            <a:pPr marL="0" marR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1800" b="1" i="0" u="none" strike="noStrike" cap="none" spc="0">
                <a:solidFill>
                  <a:srgbClr val="C0272D"/>
                </a:solidFill>
                <a:latin typeface="Open Sans"/>
                <a:ea typeface="Open Sans"/>
                <a:cs typeface="Open Sans"/>
              </a:rPr>
              <a:t>бильярде  и метода развертки.</a:t>
            </a:r>
            <a:endParaRPr sz="1800">
              <a:latin typeface="Open Sans"/>
              <a:cs typeface="Open Sans"/>
            </a:endParaRPr>
          </a:p>
        </p:txBody>
      </p:sp>
      <p:sp>
        <p:nvSpPr>
          <p:cNvPr id="1162391143" name="Rectangle 5"/>
          <p:cNvSpPr/>
          <p:nvPr/>
        </p:nvSpPr>
        <p:spPr bwMode="auto">
          <a:xfrm>
            <a:off x="457200" y="201168"/>
            <a:ext cx="73152" cy="457200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63643872" name=""/>
          <p:cNvSpPr txBox="1"/>
          <p:nvPr/>
        </p:nvSpPr>
        <p:spPr bwMode="auto">
          <a:xfrm rot="0" flipH="0" flipV="0">
            <a:off x="824351" y="2611778"/>
            <a:ext cx="3011450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>
                <a:highlight>
                  <a:srgbClr val="FFFF00"/>
                </a:highlight>
              </a:rPr>
              <a:t>Анимация квадратного бильярда (рациональный угол наклона</a:t>
            </a:r>
            <a:endParaRPr>
              <a:highlight>
                <a:srgbClr val="FFFF00"/>
              </a:highlight>
            </a:endParaRPr>
          </a:p>
        </p:txBody>
      </p:sp>
      <p:sp>
        <p:nvSpPr>
          <p:cNvPr id="1000252403" name=""/>
          <p:cNvSpPr txBox="1"/>
          <p:nvPr/>
        </p:nvSpPr>
        <p:spPr bwMode="auto">
          <a:xfrm rot="0" flipH="0" flipV="0">
            <a:off x="5280639" y="2398418"/>
            <a:ext cx="3030169" cy="9452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>
                <a:highlight>
                  <a:srgbClr val="FFFF00"/>
                </a:highlight>
              </a:rPr>
              <a:t>Анимация развертки квадратного бильярда (тот же рациональный угол наклона</a:t>
            </a:r>
            <a:r>
              <a:rPr>
                <a:highlight>
                  <a:srgbClr val="FFFF00"/>
                </a:highlight>
              </a:rPr>
              <a:t>, что и слева) и свёртки обратно</a:t>
            </a:r>
            <a:endParaRPr>
              <a:highlight>
                <a:srgbClr val="FFFF00"/>
              </a:highligh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54785790" name="Picture 1" descr="image12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498080" y="137160"/>
            <a:ext cx="1463040" cy="475488"/>
          </a:xfrm>
          <a:prstGeom prst="rect">
            <a:avLst/>
          </a:prstGeom>
        </p:spPr>
      </p:pic>
      <p:sp>
        <p:nvSpPr>
          <p:cNvPr id="1981981302" name="Rectangle 2"/>
          <p:cNvSpPr/>
          <p:nvPr/>
        </p:nvSpPr>
        <p:spPr bwMode="auto">
          <a:xfrm>
            <a:off x="8686800" y="4846320"/>
            <a:ext cx="274320" cy="182880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73044855" name="TextBox 3"/>
          <p:cNvSpPr txBox="1"/>
          <p:nvPr/>
        </p:nvSpPr>
        <p:spPr bwMode="auto">
          <a:xfrm>
            <a:off x="8641080" y="4800600"/>
            <a:ext cx="365760" cy="228600"/>
          </a:xfrm>
          <a:prstGeom prst="rect">
            <a:avLst/>
          </a:prstGeom>
          <a:noFill/>
        </p:spPr>
        <p:txBody>
          <a:bodyPr wrap="square" lIns="91422" tIns="45697" rIns="91422" bIns="45697" anchor="ctr">
            <a:noAutofit/>
          </a:bodyPr>
          <a:lstStyle/>
          <a:p>
            <a:pPr marL="0" marR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/>
          </a:p>
        </p:txBody>
      </p:sp>
      <p:sp>
        <p:nvSpPr>
          <p:cNvPr id="137552910" name="TextBox 4"/>
          <p:cNvSpPr txBox="1"/>
          <p:nvPr/>
        </p:nvSpPr>
        <p:spPr bwMode="auto">
          <a:xfrm>
            <a:off x="594360" y="182880"/>
            <a:ext cx="6858000" cy="502920"/>
          </a:xfrm>
          <a:prstGeom prst="rect">
            <a:avLst/>
          </a:prstGeom>
          <a:noFill/>
        </p:spPr>
        <p:txBody>
          <a:bodyPr wrap="square" lIns="91422" tIns="45697" rIns="91422" bIns="45697" anchor="ctr">
            <a:noAutofit/>
          </a:bodyPr>
          <a:lstStyle/>
          <a:p>
            <a:pPr marL="0" marR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sz="2400" b="1" i="0">
                <a:solidFill>
                  <a:srgbClr val="C0272D"/>
                </a:solidFill>
                <a:latin typeface="Open Sans"/>
                <a:ea typeface="Open Sans"/>
                <a:cs typeface="Open Sans"/>
              </a:rPr>
              <a:t>Обобщение на эллипс.</a:t>
            </a:r>
            <a:endParaRPr sz="1200">
              <a:latin typeface="Open Sans"/>
              <a:cs typeface="Open Sans"/>
            </a:endParaRPr>
          </a:p>
        </p:txBody>
      </p:sp>
      <p:sp>
        <p:nvSpPr>
          <p:cNvPr id="1624093272" name="Rectangle 5"/>
          <p:cNvSpPr/>
          <p:nvPr/>
        </p:nvSpPr>
        <p:spPr bwMode="auto">
          <a:xfrm>
            <a:off x="457200" y="201168"/>
            <a:ext cx="73152" cy="457200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97593844" name="Rectangle 6"/>
          <p:cNvSpPr/>
          <p:nvPr/>
        </p:nvSpPr>
        <p:spPr bwMode="auto">
          <a:xfrm flipH="0" flipV="0">
            <a:off x="459356" y="848356"/>
            <a:ext cx="8503920" cy="2326642"/>
          </a:xfrm>
          <a:prstGeom prst="rect">
            <a:avLst/>
          </a:prstGeom>
          <a:solidFill>
            <a:srgbClr val="E8D5D5"/>
          </a:solidFill>
          <a:ln w="12700">
            <a:solidFill>
              <a:srgbClr val="D8B8B8"/>
            </a:solidFill>
            <a:prstDash val="solid"/>
          </a:ln>
        </p:spPr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95741541" name=""/>
          <p:cNvSpPr txBox="1"/>
          <p:nvPr/>
        </p:nvSpPr>
        <p:spPr bwMode="auto">
          <a:xfrm rot="0" flipH="0" flipV="0">
            <a:off x="422815" y="848355"/>
            <a:ext cx="8542979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92673584" name="Google Shape;48;p6" descr="/home/claude/logo_300spbu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7498080" y="137160"/>
            <a:ext cx="1463040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636148423" name="Google Shape;49;p6"/>
          <p:cNvSpPr/>
          <p:nvPr/>
        </p:nvSpPr>
        <p:spPr bwMode="auto">
          <a:xfrm>
            <a:off x="8686800" y="4846320"/>
            <a:ext cx="274320" cy="182880"/>
          </a:xfrm>
          <a:prstGeom prst="rect">
            <a:avLst/>
          </a:prstGeom>
          <a:solidFill>
            <a:srgbClr val="C0272D"/>
          </a:solidFill>
          <a:ln w="12700" cap="flat" cmpd="sng">
            <a:solidFill>
              <a:srgbClr val="C0272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177558690" name="Google Shape;50;p6"/>
          <p:cNvSpPr/>
          <p:nvPr/>
        </p:nvSpPr>
        <p:spPr bwMode="auto">
          <a:xfrm>
            <a:off x="8641080" y="480060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pPr>
            <a:r>
              <a:rPr lang="ru-RU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982599" name="Google Shape;51;p6"/>
          <p:cNvSpPr/>
          <p:nvPr/>
        </p:nvSpPr>
        <p:spPr bwMode="auto">
          <a:xfrm flipH="0" flipV="0">
            <a:off x="530351" y="182880"/>
            <a:ext cx="6784848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272D"/>
              </a:buClr>
              <a:buSzPts val="2800"/>
              <a:buFont typeface="Calibri"/>
              <a:buNone/>
              <a:defRPr/>
            </a:pPr>
            <a:r>
              <a:rPr lang="ru-RU" sz="2800" b="1" i="0" u="none" strike="noStrike" cap="none">
                <a:solidFill>
                  <a:srgbClr val="C0272D"/>
                </a:solidFill>
                <a:latin typeface="Open Sans"/>
                <a:ea typeface="Open Sans"/>
                <a:cs typeface="Open Sans"/>
              </a:rPr>
              <a:t>Постановка задачи.</a:t>
            </a:r>
            <a:endParaRPr sz="2800" b="0" i="0" u="none" strike="noStrike" cap="none">
              <a:solidFill>
                <a:schemeClr val="dk1"/>
              </a:solidFill>
              <a:latin typeface="Open Sans"/>
              <a:cs typeface="Open Sans"/>
            </a:endParaRPr>
          </a:p>
        </p:txBody>
      </p:sp>
      <p:sp>
        <p:nvSpPr>
          <p:cNvPr id="875834847" name="Google Shape;52;p6"/>
          <p:cNvSpPr/>
          <p:nvPr/>
        </p:nvSpPr>
        <p:spPr bwMode="auto">
          <a:xfrm>
            <a:off x="457200" y="201168"/>
            <a:ext cx="73152" cy="457200"/>
          </a:xfrm>
          <a:prstGeom prst="rect">
            <a:avLst/>
          </a:prstGeom>
          <a:solidFill>
            <a:srgbClr val="C0272D"/>
          </a:solidFill>
          <a:ln w="12700" cap="flat" cmpd="sng">
            <a:solidFill>
              <a:srgbClr val="C0272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664993560" name="Google Shape;53;p6"/>
          <p:cNvSpPr/>
          <p:nvPr/>
        </p:nvSpPr>
        <p:spPr bwMode="auto">
          <a:xfrm flipH="0" flipV="0">
            <a:off x="457200" y="754760"/>
            <a:ext cx="8229600" cy="2731970"/>
          </a:xfrm>
          <a:prstGeom prst="rect">
            <a:avLst/>
          </a:prstGeom>
          <a:solidFill>
            <a:srgbClr val="E8D5D5"/>
          </a:solidFill>
          <a:ln w="12700" cap="flat" cmpd="sng">
            <a:solidFill>
              <a:srgbClr val="D8B8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3" tIns="91423" rIns="91423" bIns="91423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821791664" name="Google Shape;57;p6"/>
          <p:cNvSpPr/>
          <p:nvPr/>
        </p:nvSpPr>
        <p:spPr bwMode="auto">
          <a:xfrm>
            <a:off x="457200" y="3749040"/>
            <a:ext cx="8229600" cy="960120"/>
          </a:xfrm>
          <a:prstGeom prst="rect">
            <a:avLst/>
          </a:prstGeom>
          <a:solidFill>
            <a:srgbClr val="F5F5F5"/>
          </a:solidFill>
          <a:ln w="12700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307852402" name="Google Shape;58;p6"/>
          <p:cNvSpPr/>
          <p:nvPr/>
        </p:nvSpPr>
        <p:spPr bwMode="auto">
          <a:xfrm flipH="0" flipV="0">
            <a:off x="640080" y="3960394"/>
            <a:ext cx="7772400" cy="657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ctr" anchorCtr="0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1220966" name=""/>
          <p:cNvSpPr txBox="1"/>
          <p:nvPr/>
        </p:nvSpPr>
        <p:spPr bwMode="auto">
          <a:xfrm rot="0" flipH="0" flipV="0">
            <a:off x="457198" y="977564"/>
            <a:ext cx="8267897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indent="91440">
              <a:defRPr/>
            </a:pPr>
            <a:endParaRPr lang="ru-RU" sz="14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18847520" name="Google Shape;228;p14" descr="/home/claude/logo_300spbu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7498080" y="137160"/>
            <a:ext cx="1463040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779426219" name="Google Shape;229;p14"/>
          <p:cNvSpPr/>
          <p:nvPr/>
        </p:nvSpPr>
        <p:spPr bwMode="auto">
          <a:xfrm>
            <a:off x="8686800" y="4846320"/>
            <a:ext cx="274320" cy="182880"/>
          </a:xfrm>
          <a:prstGeom prst="rect">
            <a:avLst/>
          </a:prstGeom>
          <a:solidFill>
            <a:srgbClr val="C0272D"/>
          </a:solidFill>
          <a:ln w="12700" cap="flat" cmpd="sng">
            <a:solidFill>
              <a:srgbClr val="C0272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753662583" name="Google Shape;230;p14"/>
          <p:cNvSpPr/>
          <p:nvPr/>
        </p:nvSpPr>
        <p:spPr bwMode="auto">
          <a:xfrm>
            <a:off x="8641080" y="480060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11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68422005" name="Google Shape;231;p14"/>
          <p:cNvSpPr/>
          <p:nvPr/>
        </p:nvSpPr>
        <p:spPr bwMode="auto">
          <a:xfrm>
            <a:off x="594360" y="18288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272D"/>
              </a:buClr>
              <a:buSzPts val="2600"/>
              <a:buFont typeface="Calibri"/>
              <a:buNone/>
              <a:defRPr/>
            </a:pPr>
            <a:r>
              <a:rPr lang="en-US" sz="2600" b="1" i="0" u="none" strike="noStrike" cap="none">
                <a:solidFill>
                  <a:srgbClr val="C0272D"/>
                </a:solidFill>
                <a:latin typeface="Calibri"/>
                <a:ea typeface="Calibri"/>
                <a:cs typeface="Calibri"/>
              </a:rPr>
              <a:t>Обобщения и </a:t>
            </a:r>
            <a:r>
              <a:rPr lang="ru-RU" sz="2600" b="1" i="0" u="none" strike="noStrike" cap="none">
                <a:solidFill>
                  <a:srgbClr val="C0272D"/>
                </a:solidFill>
                <a:latin typeface="Calibri"/>
                <a:ea typeface="Calibri"/>
                <a:cs typeface="Calibri"/>
              </a:rPr>
              <a:t>области применения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42431757" name="Google Shape;232;p14"/>
          <p:cNvSpPr/>
          <p:nvPr/>
        </p:nvSpPr>
        <p:spPr bwMode="auto">
          <a:xfrm>
            <a:off x="457200" y="201168"/>
            <a:ext cx="73152" cy="457200"/>
          </a:xfrm>
          <a:prstGeom prst="rect">
            <a:avLst/>
          </a:prstGeom>
          <a:solidFill>
            <a:srgbClr val="C0272D"/>
          </a:solidFill>
          <a:ln w="12700" cap="flat" cmpd="sng">
            <a:solidFill>
              <a:srgbClr val="C0272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607353709" name="Google Shape;233;p14"/>
          <p:cNvSpPr/>
          <p:nvPr/>
        </p:nvSpPr>
        <p:spPr bwMode="auto">
          <a:xfrm>
            <a:off x="457200" y="804672"/>
            <a:ext cx="3977640" cy="1325880"/>
          </a:xfrm>
          <a:prstGeom prst="rect">
            <a:avLst/>
          </a:prstGeom>
          <a:solidFill>
            <a:srgbClr val="F5F5F5"/>
          </a:solidFill>
          <a:ln w="1270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2045627134" name="Google Shape;234;p14"/>
          <p:cNvSpPr/>
          <p:nvPr/>
        </p:nvSpPr>
        <p:spPr bwMode="auto">
          <a:xfrm>
            <a:off x="457200" y="804672"/>
            <a:ext cx="54864" cy="1325880"/>
          </a:xfrm>
          <a:prstGeom prst="rect">
            <a:avLst/>
          </a:prstGeom>
          <a:solidFill>
            <a:srgbClr val="C0272D"/>
          </a:solidFill>
          <a:ln w="12700" cap="flat" cmpd="sng">
            <a:solidFill>
              <a:srgbClr val="C0272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638283849" name="Google Shape;235;p14"/>
          <p:cNvSpPr/>
          <p:nvPr/>
        </p:nvSpPr>
        <p:spPr bwMode="auto">
          <a:xfrm>
            <a:off x="594360" y="877824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272D"/>
              </a:buClr>
              <a:buSzPts val="1300"/>
              <a:buFont typeface="Calibri"/>
              <a:buNone/>
              <a:defRPr/>
            </a:pP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8068251" name="Google Shape;236;p14"/>
          <p:cNvSpPr/>
          <p:nvPr/>
        </p:nvSpPr>
        <p:spPr bwMode="auto">
          <a:xfrm>
            <a:off x="594360" y="1216151"/>
            <a:ext cx="3749040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  <a:defRPr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85907942" name="Google Shape;237;p14"/>
          <p:cNvSpPr/>
          <p:nvPr/>
        </p:nvSpPr>
        <p:spPr bwMode="auto">
          <a:xfrm>
            <a:off x="4617720" y="804672"/>
            <a:ext cx="3977640" cy="1325880"/>
          </a:xfrm>
          <a:prstGeom prst="rect">
            <a:avLst/>
          </a:prstGeom>
          <a:solidFill>
            <a:srgbClr val="E8D5D5"/>
          </a:solidFill>
          <a:ln w="1270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2062983779" name="Google Shape;238;p14"/>
          <p:cNvSpPr/>
          <p:nvPr/>
        </p:nvSpPr>
        <p:spPr bwMode="auto">
          <a:xfrm>
            <a:off x="4617720" y="804672"/>
            <a:ext cx="54864" cy="1325880"/>
          </a:xfrm>
          <a:prstGeom prst="rect">
            <a:avLst/>
          </a:prstGeom>
          <a:solidFill>
            <a:srgbClr val="C0272D"/>
          </a:solidFill>
          <a:ln w="12700" cap="flat" cmpd="sng">
            <a:solidFill>
              <a:srgbClr val="C0272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140536479" name="Google Shape;239;p14"/>
          <p:cNvSpPr/>
          <p:nvPr/>
        </p:nvSpPr>
        <p:spPr bwMode="auto">
          <a:xfrm>
            <a:off x="4754880" y="877824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272D"/>
              </a:buClr>
              <a:buSzPts val="1300"/>
              <a:buFont typeface="Calibri"/>
              <a:buNone/>
              <a:defRPr/>
            </a:pP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37865772" name="Google Shape;240;p14"/>
          <p:cNvSpPr/>
          <p:nvPr/>
        </p:nvSpPr>
        <p:spPr bwMode="auto">
          <a:xfrm>
            <a:off x="4754880" y="1216151"/>
            <a:ext cx="3749040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  <a:defRPr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01843949" name="Google Shape;241;p14"/>
          <p:cNvSpPr/>
          <p:nvPr/>
        </p:nvSpPr>
        <p:spPr bwMode="auto">
          <a:xfrm>
            <a:off x="457200" y="2240280"/>
            <a:ext cx="3977640" cy="1325880"/>
          </a:xfrm>
          <a:prstGeom prst="rect">
            <a:avLst/>
          </a:prstGeom>
          <a:solidFill>
            <a:srgbClr val="F5F5F5"/>
          </a:solidFill>
          <a:ln w="1270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605734303" name="Google Shape;242;p14"/>
          <p:cNvSpPr/>
          <p:nvPr/>
        </p:nvSpPr>
        <p:spPr bwMode="auto">
          <a:xfrm>
            <a:off x="457200" y="2240280"/>
            <a:ext cx="54864" cy="1325880"/>
          </a:xfrm>
          <a:prstGeom prst="rect">
            <a:avLst/>
          </a:prstGeom>
          <a:solidFill>
            <a:srgbClr val="C0272D"/>
          </a:solidFill>
          <a:ln w="12700" cap="flat" cmpd="sng">
            <a:solidFill>
              <a:srgbClr val="C0272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674927636" name="Google Shape;243;p14"/>
          <p:cNvSpPr/>
          <p:nvPr/>
        </p:nvSpPr>
        <p:spPr bwMode="auto">
          <a:xfrm>
            <a:off x="594360" y="2313432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272D"/>
              </a:buClr>
              <a:buSzPts val="1300"/>
              <a:buFont typeface="Calibri"/>
              <a:buNone/>
              <a:defRPr/>
            </a:pP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3258900" name="Google Shape;244;p14"/>
          <p:cNvSpPr/>
          <p:nvPr/>
        </p:nvSpPr>
        <p:spPr bwMode="auto">
          <a:xfrm>
            <a:off x="594360" y="2651760"/>
            <a:ext cx="3749040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  <a:defRPr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23415854" name="Google Shape;245;p14"/>
          <p:cNvSpPr/>
          <p:nvPr/>
        </p:nvSpPr>
        <p:spPr bwMode="auto">
          <a:xfrm>
            <a:off x="4617720" y="2240280"/>
            <a:ext cx="3977640" cy="1325880"/>
          </a:xfrm>
          <a:prstGeom prst="rect">
            <a:avLst/>
          </a:prstGeom>
          <a:solidFill>
            <a:srgbClr val="E8D5D5"/>
          </a:solidFill>
          <a:ln w="1270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482332564" name="Google Shape;246;p14"/>
          <p:cNvSpPr/>
          <p:nvPr/>
        </p:nvSpPr>
        <p:spPr bwMode="auto">
          <a:xfrm>
            <a:off x="4617720" y="2240280"/>
            <a:ext cx="54864" cy="1325880"/>
          </a:xfrm>
          <a:prstGeom prst="rect">
            <a:avLst/>
          </a:prstGeom>
          <a:solidFill>
            <a:srgbClr val="C0272D"/>
          </a:solidFill>
          <a:ln w="12700" cap="flat" cmpd="sng">
            <a:solidFill>
              <a:srgbClr val="C0272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306864115" name="Google Shape;247;p14"/>
          <p:cNvSpPr/>
          <p:nvPr/>
        </p:nvSpPr>
        <p:spPr bwMode="auto">
          <a:xfrm>
            <a:off x="4754880" y="2313432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272D"/>
              </a:buClr>
              <a:buSzPts val="1300"/>
              <a:buFont typeface="Calibri"/>
              <a:buNone/>
              <a:defRPr/>
            </a:pP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35970302" name="Google Shape;248;p14"/>
          <p:cNvSpPr/>
          <p:nvPr/>
        </p:nvSpPr>
        <p:spPr bwMode="auto">
          <a:xfrm>
            <a:off x="4754880" y="2651760"/>
            <a:ext cx="3749040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  <a:defRPr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09713327" name="Google Shape;200;p13"/>
          <p:cNvSpPr/>
          <p:nvPr/>
        </p:nvSpPr>
        <p:spPr bwMode="auto">
          <a:xfrm flipH="0" flipV="0">
            <a:off x="411479" y="3844847"/>
            <a:ext cx="8229600" cy="1092912"/>
          </a:xfrm>
          <a:prstGeom prst="rect">
            <a:avLst/>
          </a:prstGeom>
          <a:solidFill>
            <a:srgbClr val="C0272D"/>
          </a:solidFill>
          <a:ln w="12700" cap="flat" cmpd="sng">
            <a:solidFill>
              <a:srgbClr val="C0272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3" tIns="91423" rIns="91423" bIns="91423" anchor="ctr" anchorCtr="0">
            <a:noAutofit/>
          </a:bodyPr>
          <a:lstStyle/>
          <a:p>
            <a:pPr>
              <a:defRPr/>
            </a:pPr>
            <a:endParaRPr lang="ru-RU" sz="1400" b="1" i="0" u="none" strike="noStrike" cap="none" spc="0">
              <a:solidFill>
                <a:srgbClr val="FFFFFF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56690612" name="Google Shape;280;p16" descr="/home/claude/logo_300spbu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7498080" y="137160"/>
            <a:ext cx="1463040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57112230" name="Google Shape;281;p16"/>
          <p:cNvSpPr/>
          <p:nvPr/>
        </p:nvSpPr>
        <p:spPr bwMode="auto">
          <a:xfrm>
            <a:off x="8686800" y="4846320"/>
            <a:ext cx="274320" cy="182880"/>
          </a:xfrm>
          <a:prstGeom prst="rect">
            <a:avLst/>
          </a:prstGeom>
          <a:solidFill>
            <a:srgbClr val="C0272D"/>
          </a:solidFill>
          <a:ln w="12700" cap="flat" cmpd="sng">
            <a:solidFill>
              <a:srgbClr val="C0272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Open Sans"/>
              <a:cs typeface="Open Sans"/>
            </a:endParaRPr>
          </a:p>
        </p:txBody>
      </p:sp>
      <p:sp>
        <p:nvSpPr>
          <p:cNvPr id="325694237" name="Google Shape;282;p16"/>
          <p:cNvSpPr/>
          <p:nvPr/>
        </p:nvSpPr>
        <p:spPr bwMode="auto">
          <a:xfrm>
            <a:off x="8641080" y="480060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pPr>
            <a:r>
              <a:rPr lang="en-US" sz="10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</a:t>
            </a:r>
            <a:r>
              <a:rPr lang="ru-RU" sz="10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2</a:t>
            </a:r>
            <a:endParaRPr sz="1000" b="0" i="0" u="none" strike="noStrike" cap="none">
              <a:solidFill>
                <a:schemeClr val="dk1"/>
              </a:solidFill>
              <a:latin typeface="Open Sans"/>
              <a:cs typeface="Open Sans"/>
            </a:endParaRPr>
          </a:p>
        </p:txBody>
      </p:sp>
      <p:sp>
        <p:nvSpPr>
          <p:cNvPr id="748795615" name="Google Shape;283;p16"/>
          <p:cNvSpPr/>
          <p:nvPr/>
        </p:nvSpPr>
        <p:spPr bwMode="auto">
          <a:xfrm>
            <a:off x="594360" y="18288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272D"/>
              </a:buClr>
              <a:buSzPts val="2600"/>
              <a:buFont typeface="Calibri"/>
              <a:buNone/>
              <a:defRPr/>
            </a:pPr>
            <a:r>
              <a:rPr lang="ru-RU" sz="2600" b="1" i="0" u="none" strike="noStrike" cap="none">
                <a:solidFill>
                  <a:srgbClr val="C0272D"/>
                </a:solidFill>
                <a:latin typeface="Open Sans"/>
                <a:ea typeface="Open Sans"/>
                <a:cs typeface="Open Sans"/>
              </a:rPr>
              <a:t>Выводы.</a:t>
            </a:r>
            <a:endParaRPr sz="2600" b="0" i="0" u="none" strike="noStrike" cap="none">
              <a:solidFill>
                <a:schemeClr val="dk1"/>
              </a:solidFill>
              <a:latin typeface="Open Sans"/>
              <a:cs typeface="Open Sans"/>
            </a:endParaRPr>
          </a:p>
        </p:txBody>
      </p:sp>
      <p:sp>
        <p:nvSpPr>
          <p:cNvPr id="2115598156" name="Google Shape;284;p16"/>
          <p:cNvSpPr/>
          <p:nvPr/>
        </p:nvSpPr>
        <p:spPr bwMode="auto">
          <a:xfrm>
            <a:off x="457200" y="201168"/>
            <a:ext cx="73152" cy="457200"/>
          </a:xfrm>
          <a:prstGeom prst="rect">
            <a:avLst/>
          </a:prstGeom>
          <a:solidFill>
            <a:srgbClr val="C0272D"/>
          </a:solidFill>
          <a:ln w="12700" cap="flat" cmpd="sng">
            <a:solidFill>
              <a:srgbClr val="C0272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Open Sans"/>
              <a:cs typeface="Open Sans"/>
            </a:endParaRPr>
          </a:p>
        </p:txBody>
      </p:sp>
      <p:sp>
        <p:nvSpPr>
          <p:cNvPr id="317990553" name="Google Shape;285;p16"/>
          <p:cNvSpPr/>
          <p:nvPr/>
        </p:nvSpPr>
        <p:spPr bwMode="auto">
          <a:xfrm>
            <a:off x="457200" y="822960"/>
            <a:ext cx="8229600" cy="768096"/>
          </a:xfrm>
          <a:prstGeom prst="rect">
            <a:avLst/>
          </a:prstGeom>
          <a:solidFill>
            <a:srgbClr val="F5F5F5"/>
          </a:solidFill>
          <a:ln w="12700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Open Sans"/>
              <a:cs typeface="Open Sans"/>
            </a:endParaRPr>
          </a:p>
        </p:txBody>
      </p:sp>
      <p:sp>
        <p:nvSpPr>
          <p:cNvPr id="1349704225" name="Google Shape;286;p16"/>
          <p:cNvSpPr/>
          <p:nvPr/>
        </p:nvSpPr>
        <p:spPr bwMode="auto">
          <a:xfrm>
            <a:off x="457200" y="822960"/>
            <a:ext cx="411480" cy="768096"/>
          </a:xfrm>
          <a:prstGeom prst="rect">
            <a:avLst/>
          </a:prstGeom>
          <a:solidFill>
            <a:srgbClr val="C0272D"/>
          </a:solidFill>
          <a:ln w="12700" cap="flat" cmpd="sng">
            <a:solidFill>
              <a:srgbClr val="C0272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Open Sans"/>
              <a:cs typeface="Open Sans"/>
            </a:endParaRPr>
          </a:p>
        </p:txBody>
      </p:sp>
      <p:sp>
        <p:nvSpPr>
          <p:cNvPr id="441119631" name="Google Shape;287;p16"/>
          <p:cNvSpPr/>
          <p:nvPr/>
        </p:nvSpPr>
        <p:spPr bwMode="auto">
          <a:xfrm>
            <a:off x="457200" y="822960"/>
            <a:ext cx="411480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  <a:defRPr/>
            </a:pPr>
            <a:r>
              <a:rPr lang="en-US" sz="16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</a:t>
            </a:r>
            <a:endParaRPr sz="1600" b="0" i="0" u="none" strike="noStrike" cap="none">
              <a:solidFill>
                <a:schemeClr val="dk1"/>
              </a:solidFill>
              <a:latin typeface="Open Sans"/>
              <a:cs typeface="Open Sans"/>
            </a:endParaRPr>
          </a:p>
        </p:txBody>
      </p:sp>
      <p:sp>
        <p:nvSpPr>
          <p:cNvPr id="1675409096" name="Google Shape;288;p16"/>
          <p:cNvSpPr/>
          <p:nvPr/>
        </p:nvSpPr>
        <p:spPr bwMode="auto">
          <a:xfrm>
            <a:off x="960120" y="914400"/>
            <a:ext cx="75895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Calibri"/>
              <a:buNone/>
              <a:defRPr/>
            </a:pPr>
            <a:endParaRPr sz="1250" b="0" i="0" u="none" strike="noStrike" cap="none">
              <a:solidFill>
                <a:schemeClr val="dk1"/>
              </a:solidFill>
              <a:latin typeface="Open Sans"/>
              <a:cs typeface="Open Sans"/>
            </a:endParaRPr>
          </a:p>
        </p:txBody>
      </p:sp>
      <p:sp>
        <p:nvSpPr>
          <p:cNvPr id="145560423" name="Google Shape;289;p16"/>
          <p:cNvSpPr/>
          <p:nvPr/>
        </p:nvSpPr>
        <p:spPr bwMode="auto">
          <a:xfrm>
            <a:off x="457200" y="1664208"/>
            <a:ext cx="8229600" cy="76809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Open Sans"/>
              <a:cs typeface="Open Sans"/>
            </a:endParaRPr>
          </a:p>
        </p:txBody>
      </p:sp>
      <p:sp>
        <p:nvSpPr>
          <p:cNvPr id="1917065112" name="Google Shape;290;p16"/>
          <p:cNvSpPr/>
          <p:nvPr/>
        </p:nvSpPr>
        <p:spPr bwMode="auto">
          <a:xfrm>
            <a:off x="457200" y="1664208"/>
            <a:ext cx="411480" cy="768096"/>
          </a:xfrm>
          <a:prstGeom prst="rect">
            <a:avLst/>
          </a:prstGeom>
          <a:solidFill>
            <a:srgbClr val="C0272D"/>
          </a:solidFill>
          <a:ln w="12700" cap="flat" cmpd="sng">
            <a:solidFill>
              <a:srgbClr val="C0272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Open Sans"/>
              <a:cs typeface="Open Sans"/>
            </a:endParaRPr>
          </a:p>
        </p:txBody>
      </p:sp>
      <p:sp>
        <p:nvSpPr>
          <p:cNvPr id="452335749" name="Google Shape;291;p16"/>
          <p:cNvSpPr/>
          <p:nvPr/>
        </p:nvSpPr>
        <p:spPr bwMode="auto">
          <a:xfrm>
            <a:off x="457200" y="1664208"/>
            <a:ext cx="411480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  <a:defRPr/>
            </a:pPr>
            <a:r>
              <a:rPr lang="en-US" sz="16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2</a:t>
            </a:r>
            <a:endParaRPr sz="1600" b="0" i="0" u="none" strike="noStrike" cap="none">
              <a:solidFill>
                <a:schemeClr val="dk1"/>
              </a:solidFill>
              <a:latin typeface="Open Sans"/>
              <a:cs typeface="Open Sans"/>
            </a:endParaRPr>
          </a:p>
        </p:txBody>
      </p:sp>
      <p:sp>
        <p:nvSpPr>
          <p:cNvPr id="842114771" name="Google Shape;292;p16"/>
          <p:cNvSpPr/>
          <p:nvPr/>
        </p:nvSpPr>
        <p:spPr bwMode="auto">
          <a:xfrm>
            <a:off x="960120" y="1755648"/>
            <a:ext cx="75895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Calibri"/>
              <a:buNone/>
              <a:defRPr/>
            </a:pPr>
            <a:endParaRPr sz="1250" b="0" i="0" u="none" strike="noStrike" cap="none">
              <a:solidFill>
                <a:schemeClr val="dk1"/>
              </a:solidFill>
              <a:latin typeface="Open Sans"/>
              <a:cs typeface="Open Sans"/>
            </a:endParaRPr>
          </a:p>
        </p:txBody>
      </p:sp>
      <p:sp>
        <p:nvSpPr>
          <p:cNvPr id="307976337" name="Google Shape;293;p16"/>
          <p:cNvSpPr/>
          <p:nvPr/>
        </p:nvSpPr>
        <p:spPr bwMode="auto">
          <a:xfrm>
            <a:off x="457200" y="2505456"/>
            <a:ext cx="8229600" cy="768096"/>
          </a:xfrm>
          <a:prstGeom prst="rect">
            <a:avLst/>
          </a:prstGeom>
          <a:solidFill>
            <a:srgbClr val="F5F5F5"/>
          </a:solidFill>
          <a:ln w="12700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Open Sans"/>
              <a:cs typeface="Open Sans"/>
            </a:endParaRPr>
          </a:p>
        </p:txBody>
      </p:sp>
      <p:sp>
        <p:nvSpPr>
          <p:cNvPr id="23572600" name="Google Shape;294;p16"/>
          <p:cNvSpPr/>
          <p:nvPr/>
        </p:nvSpPr>
        <p:spPr bwMode="auto">
          <a:xfrm>
            <a:off x="457200" y="2505456"/>
            <a:ext cx="411480" cy="768096"/>
          </a:xfrm>
          <a:prstGeom prst="rect">
            <a:avLst/>
          </a:prstGeom>
          <a:solidFill>
            <a:srgbClr val="C0272D"/>
          </a:solidFill>
          <a:ln w="12700" cap="flat" cmpd="sng">
            <a:solidFill>
              <a:srgbClr val="C0272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Open Sans"/>
              <a:cs typeface="Open Sans"/>
            </a:endParaRPr>
          </a:p>
        </p:txBody>
      </p:sp>
      <p:sp>
        <p:nvSpPr>
          <p:cNvPr id="1669002959" name="Google Shape;295;p16"/>
          <p:cNvSpPr/>
          <p:nvPr/>
        </p:nvSpPr>
        <p:spPr bwMode="auto">
          <a:xfrm>
            <a:off x="457200" y="2505456"/>
            <a:ext cx="411480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  <a:defRPr/>
            </a:pPr>
            <a:r>
              <a:rPr lang="en-US" sz="16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3</a:t>
            </a:r>
            <a:endParaRPr sz="1600" b="0" i="0" u="none" strike="noStrike" cap="none">
              <a:solidFill>
                <a:schemeClr val="dk1"/>
              </a:solidFill>
              <a:latin typeface="Open Sans"/>
              <a:cs typeface="Open Sans"/>
            </a:endParaRPr>
          </a:p>
        </p:txBody>
      </p:sp>
      <p:sp>
        <p:nvSpPr>
          <p:cNvPr id="1493396515" name="Google Shape;296;p16"/>
          <p:cNvSpPr/>
          <p:nvPr/>
        </p:nvSpPr>
        <p:spPr bwMode="auto">
          <a:xfrm>
            <a:off x="960120" y="2596896"/>
            <a:ext cx="75895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Calibri"/>
              <a:buNone/>
              <a:defRPr/>
            </a:pPr>
            <a:endParaRPr sz="1250" b="0" i="0" u="none" strike="noStrike" cap="none">
              <a:solidFill>
                <a:schemeClr val="dk1"/>
              </a:solidFill>
              <a:latin typeface="Open Sans"/>
              <a:cs typeface="Open Sans"/>
            </a:endParaRPr>
          </a:p>
        </p:txBody>
      </p:sp>
      <p:sp>
        <p:nvSpPr>
          <p:cNvPr id="381005300" name="Google Shape;297;p16"/>
          <p:cNvSpPr/>
          <p:nvPr/>
        </p:nvSpPr>
        <p:spPr bwMode="auto">
          <a:xfrm>
            <a:off x="457200" y="3346704"/>
            <a:ext cx="8229600" cy="76809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Open Sans"/>
              <a:cs typeface="Open Sans"/>
            </a:endParaRPr>
          </a:p>
        </p:txBody>
      </p:sp>
      <p:sp>
        <p:nvSpPr>
          <p:cNvPr id="1755014172" name="Google Shape;298;p16"/>
          <p:cNvSpPr/>
          <p:nvPr/>
        </p:nvSpPr>
        <p:spPr bwMode="auto">
          <a:xfrm>
            <a:off x="457200" y="3346704"/>
            <a:ext cx="411480" cy="768096"/>
          </a:xfrm>
          <a:prstGeom prst="rect">
            <a:avLst/>
          </a:prstGeom>
          <a:solidFill>
            <a:srgbClr val="C0272D"/>
          </a:solidFill>
          <a:ln w="12700" cap="flat" cmpd="sng">
            <a:solidFill>
              <a:srgbClr val="C0272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Open Sans"/>
              <a:cs typeface="Open Sans"/>
            </a:endParaRPr>
          </a:p>
        </p:txBody>
      </p:sp>
      <p:sp>
        <p:nvSpPr>
          <p:cNvPr id="1200624343" name="Google Shape;299;p16"/>
          <p:cNvSpPr/>
          <p:nvPr/>
        </p:nvSpPr>
        <p:spPr bwMode="auto">
          <a:xfrm>
            <a:off x="457200" y="3346704"/>
            <a:ext cx="411480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  <a:defRPr/>
            </a:pPr>
            <a:r>
              <a:rPr lang="en-US" sz="16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4</a:t>
            </a:r>
            <a:endParaRPr sz="1600" b="0" i="0" u="none" strike="noStrike" cap="none">
              <a:solidFill>
                <a:schemeClr val="dk1"/>
              </a:solidFill>
              <a:latin typeface="Open Sans"/>
              <a:cs typeface="Open Sans"/>
            </a:endParaRPr>
          </a:p>
        </p:txBody>
      </p:sp>
      <p:sp>
        <p:nvSpPr>
          <p:cNvPr id="639493557" name="Google Shape;300;p16"/>
          <p:cNvSpPr/>
          <p:nvPr/>
        </p:nvSpPr>
        <p:spPr bwMode="auto">
          <a:xfrm>
            <a:off x="960120" y="3438144"/>
            <a:ext cx="75895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Calibri"/>
              <a:buNone/>
              <a:defRPr/>
            </a:pPr>
            <a:endParaRPr sz="1250" b="0" i="0" u="none" strike="noStrike" cap="none">
              <a:solidFill>
                <a:schemeClr val="dk1"/>
              </a:solidFill>
              <a:latin typeface="Open Sans"/>
              <a:cs typeface="Open Sans"/>
            </a:endParaRPr>
          </a:p>
        </p:txBody>
      </p:sp>
      <p:sp>
        <p:nvSpPr>
          <p:cNvPr id="1436031429" name="Google Shape;303;p16"/>
          <p:cNvSpPr/>
          <p:nvPr/>
        </p:nvSpPr>
        <p:spPr bwMode="auto">
          <a:xfrm>
            <a:off x="457200" y="4187952"/>
            <a:ext cx="411480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  <a:defRPr/>
            </a:pPr>
            <a:r>
              <a:rPr lang="en-US" sz="16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5</a:t>
            </a:r>
            <a:endParaRPr sz="1600" b="0" i="0" u="none" strike="noStrike" cap="none">
              <a:solidFill>
                <a:schemeClr val="dk1"/>
              </a:solidFill>
              <a:latin typeface="Open Sans"/>
              <a:cs typeface="Open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554253" name="Google Shape;309;p17"/>
          <p:cNvSpPr txBox="1"/>
          <p:nvPr>
            <p:ph type="body" idx="1"/>
          </p:nvPr>
        </p:nvSpPr>
        <p:spPr bwMode="auto">
          <a:xfrm>
            <a:off x="494094" y="2157425"/>
            <a:ext cx="5330700" cy="1157400"/>
          </a:xfrm>
          <a:prstGeom prst="rect">
            <a:avLst/>
          </a:prstGeom>
          <a:noFill/>
          <a:ln>
            <a:noFill/>
          </a:ln>
        </p:spPr>
        <p:txBody>
          <a:bodyPr spcFirstLastPara="1" vertOverflow="overflow" horzOverflow="overflow" vert="horz" wrap="square" lIns="68574" tIns="34274" rIns="68574" bIns="34274" numCol="1" spcCol="0" rtlCol="0" fromWordArt="0" anchor="t" anchorCtr="0" forceAA="0" upright="0" compatLnSpc="0">
            <a:normAutofit fontScale="80000" lnSpcReduction="4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  <a:defRPr/>
            </a:pPr>
            <a:r>
              <a:rPr lang="ru-RU" sz="42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Спасибо за внимание!</a:t>
            </a:r>
            <a:endParaRPr lang="ru-RU" sz="4200" b="0">
              <a:solidFill>
                <a:schemeClr val="dk1"/>
              </a:solidFill>
              <a:latin typeface="Open Sans"/>
              <a:cs typeface="Open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5151"/>
              </a:buClr>
              <a:buSzPct val="100000"/>
              <a:buNone/>
              <a:defRPr/>
            </a:pPr>
            <a:endParaRPr lang="ru-RU">
              <a:latin typeface="Open Sans"/>
              <a:cs typeface="Open Sans"/>
            </a:endParaRPr>
          </a:p>
        </p:txBody>
      </p:sp>
      <p:sp>
        <p:nvSpPr>
          <p:cNvPr id="112363930" name="Google Shape;310;p17"/>
          <p:cNvSpPr/>
          <p:nvPr/>
        </p:nvSpPr>
        <p:spPr bwMode="auto">
          <a:xfrm>
            <a:off x="371175" y="1585850"/>
            <a:ext cx="1878900" cy="657900"/>
          </a:xfrm>
          <a:prstGeom prst="rect">
            <a:avLst/>
          </a:prstGeom>
          <a:solidFill>
            <a:srgbClr val="EAE0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pic>
        <p:nvPicPr>
          <p:cNvPr id="188562035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7320891" y="4510203"/>
            <a:ext cx="1285875" cy="6007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10</cp:revision>
  <dcterms:modified xsi:type="dcterms:W3CDTF">2026-10-18T20:23:51Z</dcterms:modified>
</cp:coreProperties>
</file>