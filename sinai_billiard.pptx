
<file path=[Content_Types].xml><?xml version="1.0" encoding="utf-8"?>
<Types xmlns="http://schemas.openxmlformats.org/package/2006/content-types">
  <Default Extension="xml" ContentType="application/xml"/>
  <Default Extension="mp4" ContentType="video/unknown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s/slide11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  <a:defRPr lang="ru-RU"/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478964560" y="0"/>
      </p:cViewPr>
      <p:guideLst>
        <p:guide pos="2880"/>
        <p:guide pos="162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Relationship Id="rId25" Type="http://schemas.onlyoffice.com/jsaProject" Target="jsaProject.bin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775099" name="Google Shape;3;n"/>
          <p:cNvSpPr txBox="1"/>
          <p:nvPr>
            <p:ph type="hdr" idx="2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989657474" name="Google Shape;4;n"/>
          <p:cNvSpPr txBox="1"/>
          <p:nvPr>
            <p:ph type="dt" idx="10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95687309" name="Google Shape;5;n"/>
          <p:cNvSpPr/>
          <p:nvPr>
            <p:ph type="sldImg" idx="3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031949" name="Google Shape;6;n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61699722" name="Google Shape;7;n"/>
          <p:cNvSpPr txBox="1"/>
          <p:nvPr>
            <p:ph type="ftr" idx="11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37498089" name="Google Shape;8;n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7101434" name="Google Shape;37;g3d81e7673dc_0_0:notes"/>
          <p:cNvSpPr txBox="1"/>
          <p:nvPr>
            <p:ph type="body" idx="1"/>
          </p:nvPr>
        </p:nvSpPr>
        <p:spPr bwMode="auto">
          <a:xfrm>
            <a:off x="514350" y="4400550"/>
            <a:ext cx="41148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3241475" name="Google Shape;38;g3d81e7673dc_0_0:notes"/>
          <p:cNvSpPr/>
          <p:nvPr>
            <p:ph type="sldImg" idx="2"/>
          </p:nvPr>
        </p:nvSpPr>
        <p:spPr bwMode="auto">
          <a:xfrm>
            <a:off x="51435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90620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9283036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821774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551814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2006316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684613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5822024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55503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331748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4105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38706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721796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26262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5913349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219608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419591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137135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255810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88027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2065629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085989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1554970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1630415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402705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794386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62900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31673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823062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384529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987789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115005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2331140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384720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613446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8557563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722139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158739" name="Google Shape;44;p3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7314241" name="Google Shape;45;p3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45699" rIns="91424" bIns="45699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7367991" name="Google Shape;46;p3:notes"/>
          <p:cNvSpPr txBox="1"/>
          <p:nvPr>
            <p:ph type="sldNum" idx="12"/>
          </p:nvPr>
        </p:nvSpPr>
        <p:spPr bwMode="auto">
          <a:xfrm>
            <a:off x="3884612" y="8685212"/>
            <a:ext cx="2971800" cy="458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45699" rIns="91424" bIns="45699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422466E8-E5BF-653A-C381-F3ED8EB6450D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6448852" name="Google Shape;224;p11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882922" name="Google Shape;225;p11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1951963" name="Google Shape;226;p11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7358629" name="Google Shape;276;p13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0406661" name="Google Shape;277;p13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3551330" name="Google Shape;278;p13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4822974" name="Google Shape;306;g3d81e7673dc_0_110:notes"/>
          <p:cNvSpPr txBox="1"/>
          <p:nvPr>
            <p:ph type="body" idx="1"/>
          </p:nvPr>
        </p:nvSpPr>
        <p:spPr bwMode="auto">
          <a:xfrm>
            <a:off x="514350" y="4400550"/>
            <a:ext cx="41148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9250660" name="Google Shape;307;g3d81e7673dc_0_110:notes"/>
          <p:cNvSpPr/>
          <p:nvPr>
            <p:ph type="sldImg" idx="2"/>
          </p:nvPr>
        </p:nvSpPr>
        <p:spPr bwMode="auto">
          <a:xfrm>
            <a:off x="51435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DEFAULT" preserve="0" showMasterPhAnim="0" showMasterSp="1" userDrawn="1">
  <p:cSld name="DEFAULT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_Титульный слайд" preserve="0" showMasterPhAnim="0" showMasterSp="0" userDrawn="1">
  <p:cSld name="2_Титульный слайд">
    <p:bg>
      <p:bgPr shadeToTitle="0">
        <a:blipFill rotWithShape="1">
          <a:blip r:embed="rId2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78239" name="Google Shape;12;p3"/>
          <p:cNvSpPr txBox="1"/>
          <p:nvPr>
            <p:ph type="ctrTitle"/>
          </p:nvPr>
        </p:nvSpPr>
        <p:spPr bwMode="auto">
          <a:xfrm>
            <a:off x="504645" y="1600200"/>
            <a:ext cx="8476200" cy="9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3600"/>
              <a:buFont typeface="Quattrocento Sans"/>
              <a:buChar char="●"/>
              <a:defRPr sz="3600">
                <a:solidFill>
                  <a:srgbClr val="5151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1606170208" name="Google Shape;13;p3"/>
          <p:cNvSpPr txBox="1"/>
          <p:nvPr>
            <p:ph type="subTitle" idx="1"/>
          </p:nvPr>
        </p:nvSpPr>
        <p:spPr bwMode="auto">
          <a:xfrm>
            <a:off x="494110" y="2656131"/>
            <a:ext cx="8486700" cy="34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2100"/>
              <a:buNone/>
              <a:defRPr sz="2100">
                <a:solidFill>
                  <a:srgbClr val="51515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445299952" name="Google Shape;14;p3"/>
          <p:cNvSpPr txBox="1"/>
          <p:nvPr>
            <p:ph type="body" idx="2"/>
          </p:nvPr>
        </p:nvSpPr>
        <p:spPr bwMode="auto">
          <a:xfrm>
            <a:off x="498693" y="4075757"/>
            <a:ext cx="84822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 sz="1800" b="1">
                <a:solidFill>
                  <a:srgbClr val="51515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500">
                <a:solidFill>
                  <a:srgbClr val="51515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400">
                <a:solidFill>
                  <a:srgbClr val="51515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200"/>
              <a:buNone/>
              <a:defRPr sz="1200">
                <a:solidFill>
                  <a:srgbClr val="51515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200"/>
              <a:buNone/>
              <a:defRPr sz="1200">
                <a:solidFill>
                  <a:srgbClr val="51515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388322394" name="Google Shape;15;p3"/>
          <p:cNvSpPr txBox="1"/>
          <p:nvPr>
            <p:ph type="body" idx="3"/>
          </p:nvPr>
        </p:nvSpPr>
        <p:spPr bwMode="auto">
          <a:xfrm>
            <a:off x="494110" y="4476750"/>
            <a:ext cx="84867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500">
                <a:solidFill>
                  <a:srgbClr val="51515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○"/>
              <a:defRPr sz="1100"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■"/>
              <a:defRPr sz="1100"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●"/>
              <a:defRPr sz="1100"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○"/>
              <a:defRPr sz="1100"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pic>
        <p:nvPicPr>
          <p:cNvPr id="540414763" name="Google Shape;16;p3" descr="\\ad.pu.ru\RECTORAT\УСО\ДИЗАЙНЕРЫ\300 лет СПбГУ\300 лет логотипы все варианты\Logo 300 let classic whit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1207280" y="327422"/>
            <a:ext cx="2829903" cy="8699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ертикальный заголовок и текст" preserve="0" showMasterPhAnim="0" showMasterSp="0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6011498" name="Google Shape;18;p4"/>
          <p:cNvPicPr/>
          <p:nvPr/>
        </p:nvPicPr>
        <p:blipFill rotWithShape="1">
          <a:blip r:embed="rId2">
            <a:alphaModFix/>
          </a:blip>
          <a:srcRect l="0" t="0" r="0" b="0"/>
          <a:stretch/>
        </p:blipFill>
        <p:spPr bwMode="auto">
          <a:xfrm>
            <a:off x="0" y="0"/>
            <a:ext cx="9144002" cy="5141597"/>
          </a:xfrm>
          <a:prstGeom prst="rect">
            <a:avLst/>
          </a:prstGeom>
          <a:noFill/>
          <a:ln>
            <a:noFill/>
          </a:ln>
        </p:spPr>
      </p:pic>
      <p:sp>
        <p:nvSpPr>
          <p:cNvPr id="170594963" name="Google Shape;19;p4"/>
          <p:cNvSpPr/>
          <p:nvPr/>
        </p:nvSpPr>
        <p:spPr bwMode="auto">
          <a:xfrm>
            <a:off x="0" y="1514476"/>
            <a:ext cx="9144000" cy="2586300"/>
          </a:xfrm>
          <a:prstGeom prst="rect">
            <a:avLst/>
          </a:prstGeom>
          <a:solidFill>
            <a:srgbClr val="EAE0D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grpSp>
        <p:nvGrpSpPr>
          <p:cNvPr id="407755037" name="Google Shape;20;p4"/>
          <p:cNvGrpSpPr/>
          <p:nvPr/>
        </p:nvGrpSpPr>
        <p:grpSpPr bwMode="auto">
          <a:xfrm>
            <a:off x="9241246" y="2763409"/>
            <a:ext cx="827775" cy="1834463"/>
            <a:chOff x="12321661" y="3684546"/>
            <a:chExt cx="1103700" cy="2445951"/>
          </a:xfrm>
        </p:grpSpPr>
        <p:sp>
          <p:nvSpPr>
            <p:cNvPr id="21" name="Google Shape;21;p4"/>
            <p:cNvSpPr/>
            <p:nvPr/>
          </p:nvSpPr>
          <p:spPr bwMode="auto">
            <a:xfrm>
              <a:off x="12321661" y="3684546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2" name="Google Shape;22;p4"/>
            <p:cNvSpPr txBox="1"/>
            <p:nvPr/>
          </p:nvSpPr>
          <p:spPr bwMode="auto">
            <a:xfrm>
              <a:off x="12427169" y="3780118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175 / 44 / 34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3" name="Google Shape;23;p4"/>
            <p:cNvSpPr/>
            <p:nvPr/>
          </p:nvSpPr>
          <p:spPr bwMode="auto">
            <a:xfrm>
              <a:off x="12321661" y="4195929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4" name="Google Shape;24;p4"/>
            <p:cNvSpPr txBox="1"/>
            <p:nvPr/>
          </p:nvSpPr>
          <p:spPr bwMode="auto">
            <a:xfrm>
              <a:off x="12427169" y="4291501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200 / 160 / 110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5" name="Google Shape;25;p4"/>
            <p:cNvSpPr/>
            <p:nvPr/>
          </p:nvSpPr>
          <p:spPr bwMode="auto">
            <a:xfrm>
              <a:off x="12321661" y="4699985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6" name="Google Shape;26;p4"/>
            <p:cNvSpPr txBox="1"/>
            <p:nvPr/>
          </p:nvSpPr>
          <p:spPr bwMode="auto">
            <a:xfrm>
              <a:off x="12427169" y="4795557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201 / 188 / 171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" name="Google Shape;27;p4"/>
            <p:cNvSpPr/>
            <p:nvPr/>
          </p:nvSpPr>
          <p:spPr bwMode="auto">
            <a:xfrm>
              <a:off x="12321661" y="5204041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" name="Google Shape;28;p4"/>
            <p:cNvSpPr txBox="1"/>
            <p:nvPr/>
          </p:nvSpPr>
          <p:spPr bwMode="auto">
            <a:xfrm>
              <a:off x="12427169" y="5299613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135 / 135 / 135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" name="Google Shape;29;p4"/>
            <p:cNvSpPr/>
            <p:nvPr/>
          </p:nvSpPr>
          <p:spPr bwMode="auto">
            <a:xfrm>
              <a:off x="12321661" y="5708096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rgbClr val="8D3F3F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" name="Google Shape;30;p4"/>
            <p:cNvSpPr txBox="1"/>
            <p:nvPr/>
          </p:nvSpPr>
          <p:spPr bwMode="auto">
            <a:xfrm>
              <a:off x="12427169" y="5803669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141 / 63 / 63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569145452" name="Google Shape;31;p4"/>
          <p:cNvSpPr txBox="1"/>
          <p:nvPr>
            <p:ph type="body" idx="1"/>
          </p:nvPr>
        </p:nvSpPr>
        <p:spPr bwMode="auto">
          <a:xfrm>
            <a:off x="494110" y="2157413"/>
            <a:ext cx="3534900" cy="11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400" b="1">
                <a:solidFill>
                  <a:srgbClr val="51515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 sz="1100">
                <a:solidFill>
                  <a:srgbClr val="51515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100">
                <a:solidFill>
                  <a:srgbClr val="51515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2101672656" name="Google Shape;32;p4"/>
          <p:cNvSpPr txBox="1"/>
          <p:nvPr/>
        </p:nvSpPr>
        <p:spPr bwMode="auto">
          <a:xfrm>
            <a:off x="7537847" y="4446985"/>
            <a:ext cx="12489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ttrocento Sans"/>
              <a:buNone/>
              <a:defRPr/>
            </a:pPr>
            <a:r>
              <a:rPr lang="en-US" sz="2400" b="1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</a:rPr>
              <a:t>spbu.ru</a:t>
            </a:r>
            <a:endParaRPr sz="2400" b="1">
              <a:solidFill>
                <a:schemeClr val="lt1"/>
              </a:solidFill>
              <a:latin typeface="Quattrocento Sans"/>
              <a:ea typeface="Quattrocento Sans"/>
              <a:cs typeface="Quattrocento Sans"/>
            </a:endParaRPr>
          </a:p>
        </p:txBody>
      </p:sp>
      <p:pic>
        <p:nvPicPr>
          <p:cNvPr id="49268507" name="Google Shape;33;p4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457540" y="506429"/>
            <a:ext cx="1926484" cy="592104"/>
          </a:xfrm>
          <a:prstGeom prst="rect">
            <a:avLst/>
          </a:prstGeom>
          <a:noFill/>
          <a:ln>
            <a:noFill/>
          </a:ln>
        </p:spPr>
      </p:pic>
      <p:sp>
        <p:nvSpPr>
          <p:cNvPr id="398796040" name="Google Shape;34;p4"/>
          <p:cNvSpPr txBox="1"/>
          <p:nvPr>
            <p:ph type="body" idx="2"/>
          </p:nvPr>
        </p:nvSpPr>
        <p:spPr bwMode="auto">
          <a:xfrm>
            <a:off x="4139952" y="2157413"/>
            <a:ext cx="3534900" cy="11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400" b="1">
                <a:solidFill>
                  <a:srgbClr val="51515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 sz="1100">
                <a:solidFill>
                  <a:srgbClr val="51515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100">
                <a:solidFill>
                  <a:srgbClr val="51515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860537215" name="Google Shape;35;p4"/>
          <p:cNvSpPr/>
          <p:nvPr/>
        </p:nvSpPr>
        <p:spPr bwMode="auto">
          <a:xfrm>
            <a:off x="498532" y="1615567"/>
            <a:ext cx="1400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</a:rPr>
              <a:t>Контакты</a:t>
            </a:r>
            <a:endParaRPr sz="1100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microsoft.com/office/2007/relationships/media" Target="../media/media1.mp4"/><Relationship Id="rId6" Type="http://schemas.openxmlformats.org/officeDocument/2006/relationships/video" Target="../media/media1.mp4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microsoft.com/office/2007/relationships/media" Target="../media/media2.mp4"/><Relationship Id="rId6" Type="http://schemas.openxmlformats.org/officeDocument/2006/relationships/video" Target="../media/media2.mp4" /><Relationship Id="rId7" Type="http://schemas.openxmlformats.org/officeDocument/2006/relationships/image" Target="../media/image7.png"/><Relationship Id="rId8" Type="http://schemas.microsoft.com/office/2007/relationships/media" Target="../media/media3.mp4"/><Relationship Id="rId9" Type="http://schemas.openxmlformats.org/officeDocument/2006/relationships/video" Target="../media/media3.mp4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microsoft.com/office/2007/relationships/media" Target="../media/media4.mp4"/><Relationship Id="rId6" Type="http://schemas.openxmlformats.org/officeDocument/2006/relationships/video" Target="../media/media4.mp4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978986" name="Google Shape;40;p5"/>
          <p:cNvSpPr txBox="1"/>
          <p:nvPr>
            <p:ph type="ctrTitle"/>
          </p:nvPr>
        </p:nvSpPr>
        <p:spPr bwMode="auto">
          <a:xfrm>
            <a:off x="504645" y="2215937"/>
            <a:ext cx="8476200" cy="14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-RU" sz="2400" b="1">
                <a:solidFill>
                  <a:srgbClr val="141414"/>
                </a:solidFill>
                <a:latin typeface="Open Sans"/>
                <a:ea typeface="Open Sans"/>
                <a:cs typeface="Open Sans"/>
              </a:rPr>
              <a:t>Биллиард Синая как модель динамического хаоса.</a:t>
            </a:r>
            <a:endParaRPr sz="2700" b="1">
              <a:solidFill>
                <a:srgbClr val="141414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3300"/>
              <a:buFont typeface="Quattrocento Sans"/>
              <a:buNone/>
              <a:defRPr/>
            </a:pPr>
            <a:endParaRPr sz="3300"/>
          </a:p>
        </p:txBody>
      </p:sp>
      <p:sp>
        <p:nvSpPr>
          <p:cNvPr id="81019921" name="Google Shape;41;p5"/>
          <p:cNvSpPr txBox="1"/>
          <p:nvPr>
            <p:ph type="body" idx="2"/>
          </p:nvPr>
        </p:nvSpPr>
        <p:spPr bwMode="auto">
          <a:xfrm flipH="0" flipV="0">
            <a:off x="501642" y="3240657"/>
            <a:ext cx="8482199" cy="114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4" tIns="34274" rIns="68574" bIns="34274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/>
            </a:pPr>
            <a:r>
              <a:rPr lang="ru-RU">
                <a:latin typeface="Open Sans"/>
                <a:ea typeface="Open Sans"/>
                <a:cs typeface="Open Sans"/>
              </a:rPr>
              <a:t>Гончаров Иван</a:t>
            </a:r>
            <a:endParaRPr lang="ru-RU">
              <a:latin typeface="Open Sans"/>
              <a:ea typeface="Open Sans"/>
              <a:cs typeface="Open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/>
            </a:pPr>
            <a:r>
              <a:rPr lang="ru-RU">
                <a:latin typeface="Open Sans"/>
                <a:ea typeface="Open Sans"/>
                <a:cs typeface="Open Sans"/>
              </a:rPr>
              <a:t>Музиров Борис</a:t>
            </a:r>
            <a:endParaRPr lang="ru-RU">
              <a:latin typeface="Open Sans"/>
              <a:ea typeface="Open Sans"/>
              <a:cs typeface="Open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/>
            </a:pPr>
            <a:r>
              <a:rPr lang="ru-RU">
                <a:latin typeface="Open Sans"/>
                <a:ea typeface="Open Sans"/>
                <a:cs typeface="Open Sans"/>
              </a:rPr>
              <a:t>Телицин Андрей</a:t>
            </a:r>
            <a:endParaRPr>
              <a:latin typeface="Open Sans"/>
              <a:cs typeface="Open Sans"/>
            </a:endParaRPr>
          </a:p>
        </p:txBody>
      </p:sp>
      <p:sp>
        <p:nvSpPr>
          <p:cNvPr id="526987999" name="Google Shape;42;p5"/>
          <p:cNvSpPr txBox="1"/>
          <p:nvPr>
            <p:ph type="body" idx="3"/>
          </p:nvPr>
        </p:nvSpPr>
        <p:spPr bwMode="auto">
          <a:xfrm>
            <a:off x="494110" y="4383881"/>
            <a:ext cx="84867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/>
            </a:pPr>
            <a:r>
              <a:rPr lang="en-US"/>
              <a:t>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643107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2072277682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3" tIns="45699" rIns="91423" bIns="45699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/>
          </a:p>
        </p:txBody>
      </p:sp>
      <p:sp>
        <p:nvSpPr>
          <p:cNvPr id="522946158" name="TextBox 4"/>
          <p:cNvSpPr txBox="1"/>
          <p:nvPr/>
        </p:nvSpPr>
        <p:spPr bwMode="auto">
          <a:xfrm flipH="0" flipV="0">
            <a:off x="322229" y="182880"/>
            <a:ext cx="7907369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4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Вступление. О математических бильярдах.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630280677" name="Rectangle 5"/>
          <p:cNvSpPr/>
          <p:nvPr/>
        </p:nvSpPr>
        <p:spPr bwMode="auto">
          <a:xfrm>
            <a:off x="249078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9107809" name="Rectangle 6"/>
          <p:cNvSpPr/>
          <p:nvPr/>
        </p:nvSpPr>
        <p:spPr bwMode="auto">
          <a:xfrm flipH="0" flipV="0">
            <a:off x="249077" y="839556"/>
            <a:ext cx="4210123" cy="4189642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8950429" name=""/>
          <p:cNvSpPr txBox="1"/>
          <p:nvPr/>
        </p:nvSpPr>
        <p:spPr bwMode="auto">
          <a:xfrm rot="0" flipH="0" flipV="0">
            <a:off x="249077" y="862416"/>
            <a:ext cx="4268401" cy="414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Бильярды 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это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математические модели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описывающие множество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физических явлений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в которых одна или несколько частиц движутся внутри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некоторой области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сталкиваются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с её стенками и/или друг с другом.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Динамические свойства таких моделей определяются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формой стенок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этой области и могут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варьироваться 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 полностью регулярного (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интегрируемого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движения до полностью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хаотического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4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Наибольший интерес представляют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хаотические бильярды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К ним относятся классические модели абсолютно упругих шаров, изучавшиеся </a:t>
            </a:r>
            <a:r>
              <a:rPr sz="14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Л. Больцманом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в XIX веке, газ </a:t>
            </a:r>
            <a:r>
              <a:rPr sz="14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Лоренца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введённый в 1905 году для описания электрических явлений, а также современные бильярды с рассеивающими границами, предложенные </a:t>
            </a:r>
            <a:r>
              <a:rPr sz="14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Я. Синаем.</a:t>
            </a:r>
            <a:endParaRPr sz="1600" u="sng">
              <a:latin typeface="Open Sans"/>
              <a:cs typeface="Open Sans"/>
            </a:endParaRPr>
          </a:p>
        </p:txBody>
      </p:sp>
      <p:sp>
        <p:nvSpPr>
          <p:cNvPr id="655389492" name=""/>
          <p:cNvSpPr txBox="1"/>
          <p:nvPr/>
        </p:nvSpPr>
        <p:spPr bwMode="auto">
          <a:xfrm rot="0" flipH="0" flipV="0">
            <a:off x="4750623" y="873122"/>
            <a:ext cx="422280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45982235" name=""/>
          <p:cNvSpPr txBox="1"/>
          <p:nvPr/>
        </p:nvSpPr>
        <p:spPr bwMode="auto">
          <a:xfrm rot="0" flipH="0" flipV="0">
            <a:off x="4571998" y="846666"/>
            <a:ext cx="454442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b="1">
                <a:solidFill>
                  <a:srgbClr val="C00000"/>
                </a:solidFill>
              </a:rPr>
              <a:t>Простой пример бильярда с круглым столом</a:t>
            </a:r>
            <a:r>
              <a:rPr b="1">
                <a:solidFill>
                  <a:srgbClr val="C00000"/>
                </a:solidFill>
              </a:rPr>
              <a:t>:</a:t>
            </a:r>
            <a:endParaRPr b="1">
              <a:solidFill>
                <a:srgbClr val="C00000"/>
              </a:solidFill>
            </a:endParaRPr>
          </a:p>
        </p:txBody>
      </p:sp>
      <p:pic>
        <p:nvPicPr>
          <p:cNvPr id="226009406" name="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 rotWithShape="1">
          <a:blip r:embed="rId4"/>
          <a:stretch/>
        </p:blipFill>
        <p:spPr bwMode="auto">
          <a:xfrm flipH="0" flipV="0">
            <a:off x="4967911" y="1219828"/>
            <a:ext cx="3788225" cy="3788225"/>
          </a:xfrm>
          <a:prstGeom prst="rect">
            <a:avLst/>
          </a:prstGeom>
        </p:spPr>
      </p:pic>
      <p:sp>
        <p:nvSpPr>
          <p:cNvPr id="1542382471" name="Rectangle 2"/>
          <p:cNvSpPr/>
          <p:nvPr/>
        </p:nvSpPr>
        <p:spPr bwMode="auto">
          <a:xfrm>
            <a:off x="8839199" y="4952999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3897152" name="TextBox 3"/>
          <p:cNvSpPr txBox="1"/>
          <p:nvPr/>
        </p:nvSpPr>
        <p:spPr bwMode="auto">
          <a:xfrm>
            <a:off x="8793479" y="4907279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764243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2109875363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32062632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951455948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4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Периодичность и эргодичность на круге.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639486772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6614242" name="Rectangle 6"/>
          <p:cNvSpPr/>
          <p:nvPr/>
        </p:nvSpPr>
        <p:spPr bwMode="auto">
          <a:xfrm flipH="0" flipV="0">
            <a:off x="459355" y="848355"/>
            <a:ext cx="8503920" cy="3878866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5076847" name=""/>
          <p:cNvSpPr txBox="1"/>
          <p:nvPr/>
        </p:nvSpPr>
        <p:spPr bwMode="auto">
          <a:xfrm rot="0" flipH="0" flipV="0">
            <a:off x="457198" y="848354"/>
            <a:ext cx="8510754" cy="383140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основе анализа бильярдных систем лежит изучение движения частицы, которое можно описать через </a:t>
            </a:r>
            <a:r>
              <a:rPr sz="13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отображения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3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столкновений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</a:t>
            </a:r>
            <a:r>
              <a:rPr lang="ru-RU" sz="13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billiard map)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Вместо непрерывного движения частицы между столкновениями рассматривают последовательность её состояний непосредственно в моменты ударов о границу.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Тогда состояние частицы при столкновении можно задать двумя параметрами: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lang="ru-RU" sz="13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положением 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точки столкновения на границе;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lang="ru-RU" sz="13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направлением 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движения после столкновения.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этом скорость часто несущественна для геометрии траектории: если она постоянна, изменение её величины меняет время между столкновениями, но не последовательность точек столкновения и направлений движения.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Простейший пример — вращение окружности с постоянным шагом. Здесь ключевую роль играет </a:t>
            </a:r>
            <a:r>
              <a:rPr sz="13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природа угла поворота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или, в контексте бильярда, отношения угла отражения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</m:oMath>
                  </m:oMathPara>
                </a14:m>
              </mc:Choice>
              <mc:Fallback/>
            </mc:AlternateContent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к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300">
                          <a:latin typeface="Cambria Math"/>
                          <a:ea typeface="Cambria Math"/>
                          <a:cs typeface="Cambria Math"/>
                        </a:rPr>
                        <m:t>𝜋</m:t>
                      </m:r>
                    </m:oMath>
                  </m:oMathPara>
                </a14:m>
              </mc:Choice>
              <mc:Fallback/>
            </mc:AlternateContent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&lt; </m:t>
                      </m:r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en-US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</a:t>
            </a:r>
            <a:endParaRPr sz="13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39821" indent="274319">
              <a:buAutoNum type="arabicPeriod"/>
              <a:defRPr/>
            </a:pP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</m:oMath>
                  </m:oMathPara>
                </a14:m>
              </mc:Choice>
              <mc:Fallback/>
            </mc:AlternateContent>
            <a:r>
              <a:rPr lang="en-US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— </a:t>
            </a:r>
            <a:r>
              <a:rPr lang="ru-RU" sz="13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рациональный </a:t>
            </a:r>
            <a:r>
              <a:rPr lang="ru-RU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множитель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ru-RU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есть</a:t>
            </a:r>
            <a:r>
              <a:rPr lang="ru-RU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300" b="0" i="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3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3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300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f>
                        <m:fPr>
                          <m:ctrlPr>
                            <a:rPr lang="ru-RU" sz="1300" b="0" i="1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ru-RU" sz="130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ru-RU" sz="130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en-US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</a:t>
            </a:r>
            <a:r>
              <a:rPr lang="ru-RU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несократимая дробь)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вращение называется </a:t>
            </a:r>
            <a:r>
              <a:rPr sz="13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периодическим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и 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любая точка вернется в исходное положение ровно через </a:t>
            </a:r>
            <a:r>
              <a:rPr lang="ru-RU" sz="13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n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шагов. Траектория замыкается, образуя правильный многоугольник.</a:t>
            </a:r>
            <a:endParaRPr sz="13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39821" indent="274319">
              <a:buAutoNum type="arabicPeriod"/>
              <a:defRPr/>
            </a:pP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отношение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300" b="0" i="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3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3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3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иррационально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тогда вращение является </a:t>
            </a:r>
            <a:r>
              <a:rPr sz="13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эргодическим 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относительно меры Лебега. 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Траектория с течением времени становится плотной и равномерно распределенной по всей окружности. Более подробно о понятии эргодичности будет сказано позже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3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649806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994635181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7231661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236839702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периодического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и эргодического вращений.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770093589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63198790" name="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 rotWithShape="1">
          <a:blip r:embed="rId4"/>
          <a:stretch/>
        </p:blipFill>
        <p:spPr bwMode="auto">
          <a:xfrm flipH="0" flipV="0">
            <a:off x="665217" y="810835"/>
            <a:ext cx="3860336" cy="3860336"/>
          </a:xfrm>
          <a:prstGeom prst="rect">
            <a:avLst/>
          </a:prstGeom>
        </p:spPr>
      </p:pic>
      <p:pic>
        <p:nvPicPr>
          <p:cNvPr id="1065930691" name="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 rotWithShape="1">
          <a:blip r:embed="rId7"/>
          <a:stretch/>
        </p:blipFill>
        <p:spPr bwMode="auto">
          <a:xfrm flipH="0" flipV="0">
            <a:off x="4993004" y="810835"/>
            <a:ext cx="3830954" cy="3830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1955564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658933049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2204404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547737119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Законы квадратного бильярда. Метод развертки.</a:t>
            </a:r>
            <a:endParaRPr sz="900">
              <a:latin typeface="Open Sans"/>
              <a:cs typeface="Open Sans"/>
            </a:endParaRPr>
          </a:p>
        </p:txBody>
      </p:sp>
      <p:sp>
        <p:nvSpPr>
          <p:cNvPr id="569357510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3601339" name="Rectangle 6"/>
          <p:cNvSpPr/>
          <p:nvPr/>
        </p:nvSpPr>
        <p:spPr bwMode="auto">
          <a:xfrm flipH="0" flipV="0">
            <a:off x="459356" y="848356"/>
            <a:ext cx="8503920" cy="3855346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2244623" name=""/>
          <p:cNvSpPr txBox="1"/>
          <p:nvPr/>
        </p:nvSpPr>
        <p:spPr bwMode="auto">
          <a:xfrm rot="0" flipH="0" flipV="0">
            <a:off x="422814" y="848354"/>
            <a:ext cx="8640178" cy="374542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Пусть</a:t>
            </a:r>
            <a:r>
              <a:rPr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𝑤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обозначает вектор скорости частицы в момент времени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В квадратном бильярде изменение компонент скорости подчиняется строгим правилам, зависящим от типа столкновения со стенкой:</a:t>
            </a:r>
            <a:endParaRPr sz="1200"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ударе о вертикальную стенку горизонтальная компонента меняет знак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вертикальная остается неизменной.</a:t>
            </a:r>
            <a:endParaRPr sz="1200"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ударе о горизонтальную стенку вертикальная компонента меняет знак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горизонтальная остается неизменной.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Следовательно, текущий вектор скорости выражается через начальный вектор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𝑤</m:t>
                          </m:r>
                        </m:e>
                        <m:sub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с помощью формулы:</a:t>
            </a:r>
            <a:endParaRPr sz="1200"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endParaRPr sz="800">
              <a:latin typeface="Open Sans"/>
              <a:cs typeface="Open Sans"/>
            </a:endParaRPr>
          </a:p>
          <a:p>
            <a:pPr indent="274319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sz="16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4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p>
                      </m:sSup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 </m:t>
                      </m:r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и</m:t>
                      </m:r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 </m:t>
                      </m:r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sz="16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4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600"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endParaRPr sz="6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где </a:t>
            </a:r>
            <a:r>
              <a:rPr lang="en-US"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m</a:t>
            </a:r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</a:t>
            </a:r>
            <a:r>
              <a:rPr lang="en-US"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n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количество столкновений с вертикальными и горизонтальными стенками соответственно за интервал времени </a:t>
            </a:r>
            <a:r>
              <a:rPr lang="en-US" sz="1200" i="1">
                <a:latin typeface="Open Sans"/>
                <a:ea typeface="Open Sans"/>
                <a:cs typeface="Open Sans"/>
              </a:rPr>
              <a:t>(0, t)</a:t>
            </a:r>
            <a:r>
              <a:rPr sz="1200">
                <a:latin typeface="Open Sans"/>
                <a:ea typeface="Open Sans"/>
                <a:cs typeface="Open Sans"/>
              </a:rPr>
              <a:t>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</a:t>
            </a:r>
            <a:r>
              <a:rPr lang="en-US" sz="12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≠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0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w</a:t>
            </a:r>
            <a:r>
              <a:rPr lang="en-US" sz="12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≠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0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частица бесконечно много раз перебирает все возможные комбинации знаков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что демонстрирует активное перемешивание направлений в системе.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Воспользуемся следующим приемом: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вместо того чтобы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отражать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траекторию частицы от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стороны </a:t>
            </a:r>
            <a:r>
              <a:rPr lang="ru-RU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∂D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мы отражаем сам квадрат </a:t>
            </a:r>
            <a:r>
              <a:rPr lang="ru-RU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относительно этой стороны и позволяем частице двигаться прямолинейно в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зеркальное отображение </a:t>
            </a:r>
            <a:r>
              <a:rPr lang="ru-RU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Если продолжать делать это при каждом столкновении, наша частица будет двигаться вдоль прямой линии сквозь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множество копий </a:t>
            </a:r>
            <a:r>
              <a:rPr lang="ru-RU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полученных последовательными отражениями. Эта конструкция называется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разверткой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unfolding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бильярдной траектории. Чтобы восстановить исходную траекторию в </a:t>
            </a:r>
            <a:r>
              <a:rPr lang="ru-RU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нужно «сложить» полученную цепочку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соседних копий </a:t>
            </a:r>
            <a:r>
              <a:rPr lang="ru-RU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обратно в </a:t>
            </a:r>
            <a:r>
              <a:rPr lang="ru-RU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200"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27951567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907198284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5522680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992617880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траектории в квадратном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бильярде и метода развертки.</a:t>
            </a:r>
            <a:endParaRPr sz="1800">
              <a:latin typeface="Open Sans"/>
              <a:cs typeface="Open Sans"/>
            </a:endParaRPr>
          </a:p>
        </p:txBody>
      </p:sp>
      <p:sp>
        <p:nvSpPr>
          <p:cNvPr id="1627907755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25038003" name="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 rotWithShape="1">
          <a:blip r:embed="rId4"/>
          <a:stretch/>
        </p:blipFill>
        <p:spPr bwMode="auto">
          <a:xfrm flipH="0" flipV="0">
            <a:off x="2716291" y="814139"/>
            <a:ext cx="4215060" cy="42150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37397425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893428739" name="Rectangle 2"/>
          <p:cNvSpPr/>
          <p:nvPr/>
        </p:nvSpPr>
        <p:spPr bwMode="auto">
          <a:xfrm>
            <a:off x="8732520" y="4892039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909611" name="TextBox 3"/>
          <p:cNvSpPr txBox="1"/>
          <p:nvPr/>
        </p:nvSpPr>
        <p:spPr bwMode="auto">
          <a:xfrm>
            <a:off x="8686800" y="4846320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2059679649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Периодическая структура и 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связь с Тором</a:t>
            </a:r>
            <a:r>
              <a:rPr sz="18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.</a:t>
            </a:r>
            <a:endParaRPr sz="900">
              <a:latin typeface="Open Sans"/>
              <a:cs typeface="Open Sans"/>
            </a:endParaRPr>
          </a:p>
        </p:txBody>
      </p:sp>
      <p:sp>
        <p:nvSpPr>
          <p:cNvPr id="1535427219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3880317" name="Rectangle 6"/>
          <p:cNvSpPr/>
          <p:nvPr/>
        </p:nvSpPr>
        <p:spPr bwMode="auto">
          <a:xfrm flipH="0" flipV="0">
            <a:off x="459355" y="755430"/>
            <a:ext cx="8503920" cy="4045168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6110639" name=""/>
          <p:cNvSpPr txBox="1"/>
          <p:nvPr/>
        </p:nvSpPr>
        <p:spPr bwMode="auto">
          <a:xfrm rot="0" flipH="0" flipV="0">
            <a:off x="422814" y="755429"/>
            <a:ext cx="8550542" cy="42130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результате последовательного отражения квадрата </a:t>
            </a:r>
            <a:r>
              <a:rPr lang="ru-RU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возникает бесконечная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периодическая структура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состоящая из его зеркальных копий. Каждая копия получается отражением исходного квадрата относительно одной из сторон соседней копии.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Хотя эта структура распространяется на всю плоскость, она обладает периодичностью. В частности, квадрат со стороной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2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endParaRPr sz="8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x,y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: 0≤x, y≤2</m:t>
                          </m:r>
                        </m:e>
                      </m:d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</m:oMath>
                  </m:oMathPara>
                </a14:m>
              </mc:Choice>
              <mc:Fallback/>
            </mc:AlternateContent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endParaRPr sz="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служит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фундаментальной областью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 вся плоскость покрывается его параллельными переносами.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Это означает, что для описания движения достаточно рассмотреть квадрат 2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× 2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затем отождествить его противоположные стороны. Такая поверхность называется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двумерным плоским тором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обозначается </a:t>
            </a:r>
            <a:r>
              <a:rPr lang="en-US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Tor</a:t>
            </a:r>
            <a:r>
              <a:rPr lang="en-US" sz="1200" b="1" i="1" u="none" strike="noStrike" cap="none" spc="0" baseline="30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2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На торе прямая, по которой движется частица в развёрнутом пространстве, превращается в траекторию линейного потока. При этом частица движется с постоянной скоростью и не испытывает отражений.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Линейный поток на плоском торе —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один из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стандартных примеров эргодической теории. Его основные свойства:</a:t>
            </a:r>
            <a:endParaRPr lang="ru-RU" sz="1200" b="0" i="0" u="none" strike="noStrike" cap="none" spc="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траектория имеет рациональный наклон</a:t>
            </a:r>
            <a:r>
              <a:rPr lang="ru-RU" sz="16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∈ ℚ,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то она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периодична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(движется вдоль замкнутой </a:t>
            </a:r>
            <a:r>
              <a:rPr lang="ru-RU" sz="12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геодезической</a:t>
            </a:r>
            <a:r>
              <a:rPr lang="en-US" sz="12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линии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);</a:t>
            </a:r>
            <a:endParaRPr lang="ru-RU"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траектория имеет иррациональный наклон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∉ ℚ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она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плотна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(ее </a:t>
            </a:r>
            <a:r>
              <a:rPr lang="ru-RU" sz="12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замыкание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весь тор).</a:t>
            </a:r>
            <a:endParaRPr lang="ru-RU" sz="1200" b="0" i="0" u="none" strike="noStrike" cap="none" spc="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20" algn="just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Заметим, что теория легко обобщается на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прямоугольные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бильярды, так как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прямоугольник со сторонами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a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b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можно преобразовать в единичный квадрат с помощью масштабирования координат: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endParaRPr sz="1200">
              <a:latin typeface="Open Sans"/>
              <a:cs typeface="Open Sans"/>
            </a:endParaRPr>
          </a:p>
          <a:p>
            <a:pPr indent="274320" algn="just">
              <a:defRPr/>
            </a:pPr>
            <a:endParaRPr lang="en-US" sz="200" b="0" i="0" u="none" strike="noStrike" cap="none" spc="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20" algn="ctr">
              <a:defRPr/>
            </a:pP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x, y)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→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x/a, y/b)</a:t>
            </a:r>
            <a:endParaRPr sz="1200">
              <a:latin typeface="Open Sans"/>
              <a:cs typeface="Open Sans"/>
            </a:endParaRPr>
          </a:p>
          <a:p>
            <a:pPr>
              <a:defRPr/>
            </a:pPr>
            <a:endParaRPr sz="1200"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85975334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743762080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284719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2127544787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периодической и непериодической траекторий на </a:t>
            </a:r>
            <a:r>
              <a:rPr lang="en-US" sz="1800" b="1" i="1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Tor</a:t>
            </a:r>
            <a:r>
              <a:rPr lang="en-US" sz="1800" b="1" i="1" u="none" strike="noStrike" cap="none" spc="0" baseline="3000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2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.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756131432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76884677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420169737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3159289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897725235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4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Эллиптический бильярд.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638160582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6282813" name="Rectangle 6"/>
          <p:cNvSpPr/>
          <p:nvPr/>
        </p:nvSpPr>
        <p:spPr bwMode="auto">
          <a:xfrm flipH="0" flipV="0">
            <a:off x="459355" y="848354"/>
            <a:ext cx="8503920" cy="3695179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0542481" name=""/>
          <p:cNvSpPr txBox="1"/>
          <p:nvPr/>
        </p:nvSpPr>
        <p:spPr bwMode="auto">
          <a:xfrm rot="0" flipH="0" flipV="0">
            <a:off x="422815" y="848355"/>
            <a:ext cx="854297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924759688" name=""/>
          <p:cNvSpPr txBox="1"/>
          <p:nvPr/>
        </p:nvSpPr>
        <p:spPr bwMode="auto">
          <a:xfrm rot="0" flipH="0" flipV="0">
            <a:off x="474044" y="848352"/>
            <a:ext cx="8572391" cy="34872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Эллиптический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бильярд представляет собой движение частицы внутри области, ограниченной эллипсом, заданным уравнением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/</m:t>
                      </m:r>
                      <m:sSup>
                        <m:sSup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𝑎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𝑦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/</m:t>
                      </m:r>
                      <m:sSup>
                        <m:sSup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𝑏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(где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&gt;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b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&gt;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). Центральную роль играют два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фокуса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лежащие на большой оси.</a:t>
            </a:r>
            <a:endParaRPr sz="12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Имеет место быть геометрическое свойство границы (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теорема Понселе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): касательная к эллипсу в любой точке образует равные углы с отрезками, соединяющими эту точку с фокусами.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Отсюда вытекает главная особенность траекторий: если частица пролетает через один фокус, то после отражения от границы она обязательно пройдет через второй фокус. Такие траектории образуют особое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семейство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зависимости от поведения относительно отрезка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соединяющего фокусы, все траектории делятся на два типа.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Внутренние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траектории при каждом отражении пересекают этот отрезок, а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внешние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огибают.</a:t>
            </a:r>
            <a:endParaRPr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Наиболее важным свойством эллиптического бильярда является наличие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каустик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огибающих кривых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). Оказывается, что для любого типа траекторий существует некая софокусная (имеющая те же фокусы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кривая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которой траектория касается при каждом отражении. Для внешних траекторий такой каустикой служит меньший эллипс, а для внутренних — софокусная гипербола. Это означает, что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траектории никогда не пересекают свои каустики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но касаются их.</a:t>
            </a:r>
            <a:endParaRPr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терминах теории динамических систем это означает, что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фазовое пространство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(пространство столкновений) полностью расслоено на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инвариантные кривые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В отличие от рассмотренных далее хаотических бильярдов , эллиптический бильярд является полностью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регулярной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системой, в которой хаос отсутствует (к этому же классу систем относятся и прямоугольные бильярды). </a:t>
            </a:r>
            <a:endParaRPr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3382726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2117141450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5417974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632945605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эллиптических и гиперболических каустик на эллиптическом бильярде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.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238395502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6503719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019310" y="989504"/>
            <a:ext cx="7412832" cy="3347730"/>
          </a:xfrm>
          <a:prstGeom prst="rect">
            <a:avLst/>
          </a:prstGeom>
        </p:spPr>
      </p:pic>
      <p:sp>
        <p:nvSpPr>
          <p:cNvPr id="130886670" name=""/>
          <p:cNvSpPr txBox="1"/>
          <p:nvPr/>
        </p:nvSpPr>
        <p:spPr bwMode="auto">
          <a:xfrm rot="0" flipH="0" flipV="0">
            <a:off x="570430" y="4280775"/>
            <a:ext cx="811351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highlight>
                  <a:srgbClr val="FFFF00"/>
                </a:highlight>
              </a:rPr>
              <a:t>Что то в этом роде. В первом случае нет пересечения траекторий с </a:t>
            </a:r>
            <a:r>
              <a:rPr lang="en-US">
                <a:highlight>
                  <a:srgbClr val="FFFF00"/>
                </a:highlight>
              </a:rPr>
              <a:t>F1F2</a:t>
            </a:r>
            <a:r>
              <a:rPr lang="ru-RU">
                <a:highlight>
                  <a:srgbClr val="FFFF00"/>
                </a:highlight>
              </a:rPr>
              <a:t>, во втором —</a:t>
            </a:r>
            <a:r>
              <a:rPr lang="en-US">
                <a:highlight>
                  <a:srgbClr val="FFFF00"/>
                </a:highlight>
              </a:rPr>
              <a:t> </a:t>
            </a:r>
            <a:r>
              <a:rPr lang="ru-RU">
                <a:highlight>
                  <a:srgbClr val="FFFF00"/>
                </a:highlight>
              </a:rPr>
              <a:t>есть.</a:t>
            </a:r>
            <a:endParaRPr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575387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397227408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/>
          </a:p>
        </p:txBody>
      </p:sp>
      <p:sp>
        <p:nvSpPr>
          <p:cNvPr id="1981537801" name="TextBox 4"/>
          <p:cNvSpPr txBox="1"/>
          <p:nvPr/>
        </p:nvSpPr>
        <p:spPr bwMode="auto">
          <a:xfrm flipH="0" flipV="0">
            <a:off x="322228" y="182880"/>
            <a:ext cx="7907368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800"/>
              <a:buFont typeface="Calibri"/>
              <a:buNone/>
              <a:defRPr/>
            </a:pPr>
            <a:r>
              <a:rPr lang="ru-RU" sz="20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Введение в хаотические бильярды </a:t>
            </a:r>
            <a:endParaRPr lang="ru-RU" sz="2000" b="1" i="0" u="none" strike="noStrike" cap="none" spc="0">
              <a:solidFill>
                <a:srgbClr val="C0272D"/>
              </a:solidFill>
              <a:latin typeface="Times New Roman"/>
              <a:cs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800"/>
              <a:buFont typeface="Calibri"/>
              <a:buNone/>
              <a:defRPr/>
            </a:pPr>
            <a:r>
              <a:rPr lang="ru-RU" sz="20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на примере пинбольного автомата.</a:t>
            </a:r>
            <a:endParaRPr sz="2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293201032" name="Rectangle 5"/>
          <p:cNvSpPr/>
          <p:nvPr/>
        </p:nvSpPr>
        <p:spPr bwMode="auto">
          <a:xfrm flipH="0" flipV="0">
            <a:off x="249077" y="137160"/>
            <a:ext cx="73152" cy="548639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5081348" name="Rectangle 6"/>
          <p:cNvSpPr/>
          <p:nvPr/>
        </p:nvSpPr>
        <p:spPr bwMode="auto">
          <a:xfrm flipH="0" flipV="0">
            <a:off x="249076" y="839556"/>
            <a:ext cx="4210122" cy="4189641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42340566" name=""/>
          <p:cNvSpPr txBox="1"/>
          <p:nvPr/>
        </p:nvSpPr>
        <p:spPr bwMode="auto">
          <a:xfrm rot="0" flipH="0" flipV="0">
            <a:off x="249076" y="862416"/>
            <a:ext cx="4282800" cy="411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Представьте, что вы играете в пинбол. Маленький шарик вылетает из пушки в правом нижнем углу прямоугольного стола; затем он отскакивает от краев, пока либо не попадет в цель (тогда вы выигрываете), либо не упадет в отверстие внизу (тогда вы проигрываете). Целью может быть некий специальный объект на столе, который регистрирует попадание, когда шарик касается его. Чтобы предотвратить прямые попадания, предположим, что цель заслонена от пушки, а попадание в заслонку запрещено правилами. Значит, шарик должен отскочить от краев, прежде чем достигнет цели. Это довольно необычный автомат для пинбола, но он послужит хорошим начальным примером.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Предположим, вы можете вращать пушку, чтобы изменить угол, под которым вылетает шарик. После одного промаха вы можете скорректировать угол стрельбы и отправить шарик в цель более точно. Это относительно простая задача, поскольку траектория шарика (в прямоугольном бильярде) очень проста и предсказуема. Кроме того, вам не нужно целиться с абсолютной точностью.</a:t>
            </a:r>
            <a:endParaRPr sz="1400" u="sng">
              <a:latin typeface="Open Sans"/>
              <a:cs typeface="Open Sans"/>
            </a:endParaRPr>
          </a:p>
        </p:txBody>
      </p:sp>
      <p:sp>
        <p:nvSpPr>
          <p:cNvPr id="1445427568" name=""/>
          <p:cNvSpPr txBox="1"/>
          <p:nvPr/>
        </p:nvSpPr>
        <p:spPr bwMode="auto">
          <a:xfrm rot="0" flipH="0" flipV="0">
            <a:off x="4750623" y="873121"/>
            <a:ext cx="4222802" cy="3051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43640114" name=""/>
          <p:cNvSpPr txBox="1"/>
          <p:nvPr/>
        </p:nvSpPr>
        <p:spPr bwMode="auto">
          <a:xfrm rot="0" flipH="0" flipV="0">
            <a:off x="4571997" y="846666"/>
            <a:ext cx="455594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b="1">
                <a:solidFill>
                  <a:srgbClr val="C00000"/>
                </a:solidFill>
              </a:rPr>
              <a:t>Визуализация описанного процесса</a:t>
            </a:r>
            <a:r>
              <a:rPr b="1">
                <a:solidFill>
                  <a:srgbClr val="C00000"/>
                </a:solidFill>
              </a:rPr>
              <a:t>:</a:t>
            </a:r>
            <a:endParaRPr b="1">
              <a:solidFill>
                <a:srgbClr val="C00000"/>
              </a:solidFill>
            </a:endParaRPr>
          </a:p>
        </p:txBody>
      </p:sp>
      <p:sp>
        <p:nvSpPr>
          <p:cNvPr id="1698946992" name="Rectangle 2"/>
          <p:cNvSpPr/>
          <p:nvPr/>
        </p:nvSpPr>
        <p:spPr bwMode="auto">
          <a:xfrm>
            <a:off x="8839198" y="4952998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0309128" name="TextBox 3"/>
          <p:cNvSpPr txBox="1"/>
          <p:nvPr/>
        </p:nvSpPr>
        <p:spPr bwMode="auto">
          <a:xfrm>
            <a:off x="8793478" y="4907278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pic>
        <p:nvPicPr>
          <p:cNvPr id="57748627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750623" y="1283308"/>
            <a:ext cx="4120861" cy="2576883"/>
          </a:xfrm>
          <a:prstGeom prst="rect">
            <a:avLst/>
          </a:prstGeom>
        </p:spPr>
      </p:pic>
      <p:sp>
        <p:nvSpPr>
          <p:cNvPr id="1588833402" name=""/>
          <p:cNvSpPr txBox="1"/>
          <p:nvPr/>
        </p:nvSpPr>
        <p:spPr bwMode="auto">
          <a:xfrm rot="0" flipH="0" flipV="0">
            <a:off x="4763620" y="4061810"/>
            <a:ext cx="4309045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Анимация пинбольного автомата. Пусть в первый выстрел шар попадёт в заслонку </a:t>
            </a:r>
            <a:r>
              <a:rPr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и растворится, во второй —</a:t>
            </a:r>
            <a:r>
              <a:rPr lang="en-US"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 </a:t>
            </a:r>
            <a:r>
              <a:rPr lang="ru-RU"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улетит вниз (тут это тоже проигрыш), в третий —</a:t>
            </a:r>
            <a:r>
              <a:rPr lang="en-US"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 </a:t>
            </a:r>
            <a:r>
              <a:rPr lang="ru-RU"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попадёт в цель.</a:t>
            </a:r>
            <a:r>
              <a:rPr lang="ru-RU"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 </a:t>
            </a:r>
            <a:endParaRPr sz="1200">
              <a:highlight>
                <a:srgbClr val="FFFF00"/>
              </a:highlight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8683814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922594189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/>
          </a:p>
        </p:txBody>
      </p:sp>
      <p:sp>
        <p:nvSpPr>
          <p:cNvPr id="1943050255" name="TextBox 4"/>
          <p:cNvSpPr txBox="1"/>
          <p:nvPr/>
        </p:nvSpPr>
        <p:spPr bwMode="auto">
          <a:xfrm flipH="0" flipV="0">
            <a:off x="322228" y="182880"/>
            <a:ext cx="7907368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800"/>
              <a:buFont typeface="Calibri"/>
              <a:buNone/>
              <a:defRPr/>
            </a:pPr>
            <a:r>
              <a:rPr lang="ru-RU" sz="20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Введение в хаотические бильярды </a:t>
            </a:r>
            <a:endParaRPr lang="ru-RU" sz="2000" b="1" i="0" u="none" strike="noStrike" cap="none" spc="0">
              <a:solidFill>
                <a:srgbClr val="C0272D"/>
              </a:solidFill>
              <a:latin typeface="Times New Roman"/>
              <a:cs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800"/>
              <a:buFont typeface="Calibri"/>
              <a:buNone/>
              <a:defRPr/>
            </a:pPr>
            <a:r>
              <a:rPr lang="ru-RU" sz="20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на примере пинбольного автомата.</a:t>
            </a:r>
            <a:endParaRPr sz="2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728332229" name="Rectangle 5"/>
          <p:cNvSpPr/>
          <p:nvPr/>
        </p:nvSpPr>
        <p:spPr bwMode="auto">
          <a:xfrm flipH="0" flipV="0">
            <a:off x="249077" y="137160"/>
            <a:ext cx="73152" cy="548639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11821753" name="Rectangle 6"/>
          <p:cNvSpPr/>
          <p:nvPr/>
        </p:nvSpPr>
        <p:spPr bwMode="auto">
          <a:xfrm flipH="0" flipV="0">
            <a:off x="249076" y="839556"/>
            <a:ext cx="4210122" cy="4189641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2802014" name=""/>
          <p:cNvSpPr txBox="1"/>
          <p:nvPr/>
        </p:nvSpPr>
        <p:spPr bwMode="auto">
          <a:xfrm rot="0" flipH="0" flipV="0">
            <a:off x="249076" y="839556"/>
            <a:ext cx="4211202" cy="414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Теперь установим по всему столу несколько отбойников (круглых столбиков), так чтобы наш движущийся шарик отскакивал между ними на пути к цели.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Будет ли легко настроить пушку на новом столе? Очевидно, нет. Маршрут шарика сложен и почти непредсказуем, так как он может отскакивать от разных отбойников. Даже поиск правильной последовательности отбойников, в которые шарику нужно попасть, прежде чем он достигнет цели, не является простой задачей.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Более того, пушку необходимо наводить с почти абсолютной точностью, так как крошечная ошибка в угле стрельбы может заставить шарик покатиться по совершенно неправильному пути. Нестабильность движения шарика возрастает с каждым последующим отскоком от отбойника.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  <p:sp>
        <p:nvSpPr>
          <p:cNvPr id="971937298" name=""/>
          <p:cNvSpPr txBox="1"/>
          <p:nvPr/>
        </p:nvSpPr>
        <p:spPr bwMode="auto">
          <a:xfrm rot="0" flipH="0" flipV="0">
            <a:off x="4750623" y="873121"/>
            <a:ext cx="4222802" cy="3051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758395236" name=""/>
          <p:cNvSpPr txBox="1"/>
          <p:nvPr/>
        </p:nvSpPr>
        <p:spPr bwMode="auto">
          <a:xfrm rot="0" flipH="0" flipV="0">
            <a:off x="4571997" y="846666"/>
            <a:ext cx="455594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b="1">
                <a:solidFill>
                  <a:srgbClr val="C00000"/>
                </a:solidFill>
              </a:rPr>
              <a:t>Визуализация описанного процесса</a:t>
            </a:r>
            <a:r>
              <a:rPr b="1">
                <a:solidFill>
                  <a:srgbClr val="C00000"/>
                </a:solidFill>
              </a:rPr>
              <a:t>:</a:t>
            </a:r>
            <a:endParaRPr b="1">
              <a:solidFill>
                <a:srgbClr val="C00000"/>
              </a:solidFill>
            </a:endParaRPr>
          </a:p>
        </p:txBody>
      </p:sp>
      <p:sp>
        <p:nvSpPr>
          <p:cNvPr id="1148717369" name="Rectangle 2"/>
          <p:cNvSpPr/>
          <p:nvPr/>
        </p:nvSpPr>
        <p:spPr bwMode="auto">
          <a:xfrm>
            <a:off x="8839198" y="4952998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27857967" name="TextBox 3"/>
          <p:cNvSpPr txBox="1"/>
          <p:nvPr/>
        </p:nvSpPr>
        <p:spPr bwMode="auto">
          <a:xfrm>
            <a:off x="8793478" y="4907278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96538275" name=""/>
          <p:cNvSpPr txBox="1"/>
          <p:nvPr/>
        </p:nvSpPr>
        <p:spPr bwMode="auto">
          <a:xfrm rot="0" flipH="0" flipV="0">
            <a:off x="4750623" y="3820948"/>
            <a:ext cx="43385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Анимация пинбольного автомата с отбойниками. Пусть произойдёт несколько выстрелов перед тем, как шар попадёт в цель</a:t>
            </a:r>
            <a:r>
              <a:rPr lang="ru-RU"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.</a:t>
            </a:r>
            <a:r>
              <a:rPr lang="ru-RU"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 </a:t>
            </a:r>
            <a:endParaRPr sz="1200">
              <a:highlight>
                <a:srgbClr val="FFFF00"/>
              </a:highlight>
              <a:latin typeface="Open Sans"/>
              <a:cs typeface="Open Sans"/>
            </a:endParaRPr>
          </a:p>
        </p:txBody>
      </p:sp>
      <p:pic>
        <p:nvPicPr>
          <p:cNvPr id="120002998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810822" y="1265866"/>
            <a:ext cx="4102402" cy="23671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0198147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603991207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/>
          </a:p>
        </p:txBody>
      </p:sp>
      <p:sp>
        <p:nvSpPr>
          <p:cNvPr id="2124473544" name="TextBox 4"/>
          <p:cNvSpPr txBox="1"/>
          <p:nvPr/>
        </p:nvSpPr>
        <p:spPr bwMode="auto">
          <a:xfrm flipH="0" flipV="0">
            <a:off x="322228" y="182880"/>
            <a:ext cx="7907368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800"/>
              <a:buFont typeface="Calibri"/>
              <a:buNone/>
              <a:defRPr/>
            </a:pPr>
            <a:r>
              <a:rPr lang="ru-RU" sz="20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Введение в хаотические бильярды </a:t>
            </a:r>
            <a:endParaRPr lang="ru-RU" sz="2000" b="1" i="0" u="none" strike="noStrike" cap="none" spc="0">
              <a:solidFill>
                <a:srgbClr val="C0272D"/>
              </a:solidFill>
              <a:latin typeface="Times New Roman"/>
              <a:cs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800"/>
              <a:buFont typeface="Calibri"/>
              <a:buNone/>
              <a:defRPr/>
            </a:pPr>
            <a:r>
              <a:rPr lang="ru-RU" sz="20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на примере пинбольного автомата.</a:t>
            </a:r>
            <a:endParaRPr sz="2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410676996" name="Rectangle 5"/>
          <p:cNvSpPr/>
          <p:nvPr/>
        </p:nvSpPr>
        <p:spPr bwMode="auto">
          <a:xfrm flipH="0" flipV="0">
            <a:off x="249077" y="137160"/>
            <a:ext cx="73152" cy="548639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78620904" name="Rectangle 6"/>
          <p:cNvSpPr/>
          <p:nvPr/>
        </p:nvSpPr>
        <p:spPr bwMode="auto">
          <a:xfrm flipH="0" flipV="0">
            <a:off x="249076" y="839556"/>
            <a:ext cx="4383164" cy="4189641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2952404" name=""/>
          <p:cNvSpPr txBox="1"/>
          <p:nvPr/>
        </p:nvSpPr>
        <p:spPr bwMode="auto">
          <a:xfrm rot="0" flipH="0" flipV="0">
            <a:off x="249076" y="839556"/>
            <a:ext cx="4383884" cy="414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2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Прямоугольный стол с установленными на нем круглыми отбойниками является классическим примером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хаотического бильярда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Движение бильярдной частицы на таком столе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сложно и непредсказуемо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что является характерной чертой хаотических бильярдов.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20">
              <a:defRPr/>
            </a:pP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Кроме того,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незначительные 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изменения начального положения и/или направления скорости частицы быстро приводят к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большим отклонениям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поэтому всего после нескольких столкновений с отбойниками две траектории, изначально находившиеся очень близко друг к другу, разойдутся, как если бы они были не связаны. Эта нестабильность (также известная как </a:t>
            </a:r>
            <a:r>
              <a:rPr lang="ru-RU" sz="14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чувствительность к начальным условиям</a:t>
            </a:r>
            <a:r>
              <a:rPr lang="ru-RU" sz="14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является еще одной характерной чертой хаотических бильярдов (и хаотической динамики в целом).</a:t>
            </a:r>
            <a:endParaRPr sz="1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</p:txBody>
      </p:sp>
      <p:sp>
        <p:nvSpPr>
          <p:cNvPr id="1990067053" name=""/>
          <p:cNvSpPr txBox="1"/>
          <p:nvPr/>
        </p:nvSpPr>
        <p:spPr bwMode="auto">
          <a:xfrm rot="0" flipH="0" flipV="0">
            <a:off x="4750623" y="873121"/>
            <a:ext cx="4222802" cy="3051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271068532" name=""/>
          <p:cNvSpPr txBox="1"/>
          <p:nvPr/>
        </p:nvSpPr>
        <p:spPr bwMode="auto">
          <a:xfrm rot="0" flipH="0" flipV="0">
            <a:off x="4571997" y="846666"/>
            <a:ext cx="456386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b="1">
                <a:solidFill>
                  <a:srgbClr val="C00000"/>
                </a:solidFill>
              </a:rPr>
              <a:t>Визуализация расхождения траекторий</a:t>
            </a:r>
            <a:r>
              <a:rPr b="1">
                <a:solidFill>
                  <a:srgbClr val="C00000"/>
                </a:solidFill>
              </a:rPr>
              <a:t>:</a:t>
            </a:r>
            <a:endParaRPr b="1">
              <a:solidFill>
                <a:srgbClr val="C00000"/>
              </a:solidFill>
            </a:endParaRPr>
          </a:p>
        </p:txBody>
      </p:sp>
      <p:sp>
        <p:nvSpPr>
          <p:cNvPr id="1493949735" name="Rectangle 2"/>
          <p:cNvSpPr/>
          <p:nvPr/>
        </p:nvSpPr>
        <p:spPr bwMode="auto">
          <a:xfrm>
            <a:off x="8839198" y="4952998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6767613" name="TextBox 3"/>
          <p:cNvSpPr txBox="1"/>
          <p:nvPr/>
        </p:nvSpPr>
        <p:spPr bwMode="auto">
          <a:xfrm>
            <a:off x="8793478" y="4907278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810244317" name=""/>
          <p:cNvSpPr txBox="1"/>
          <p:nvPr/>
        </p:nvSpPr>
        <p:spPr bwMode="auto">
          <a:xfrm rot="0" flipH="0" flipV="0">
            <a:off x="4763620" y="4061810"/>
            <a:ext cx="434396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Анимация расхождения траекторий</a:t>
            </a:r>
            <a:r>
              <a:rPr lang="ru-RU"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. В</a:t>
            </a:r>
            <a:r>
              <a:rPr sz="1200">
                <a:highlight>
                  <a:srgbClr val="FFFF00"/>
                </a:highlight>
                <a:latin typeface="Open Sans"/>
                <a:ea typeface="Open Sans"/>
                <a:cs typeface="Open Sans"/>
              </a:rPr>
              <a:t>роде похожие уже у есть, просто немного видоизменить надо</a:t>
            </a:r>
            <a:endParaRPr sz="1200">
              <a:highlight>
                <a:srgbClr val="FFFF00"/>
              </a:highlight>
              <a:latin typeface="Open Sans"/>
              <a:cs typeface="Open Sans"/>
            </a:endParaRPr>
          </a:p>
        </p:txBody>
      </p:sp>
      <p:pic>
        <p:nvPicPr>
          <p:cNvPr id="72709449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991146" y="1280693"/>
            <a:ext cx="3848052" cy="25821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8602811" name="Google Shape;48;p6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985913761" name="Google Shape;49;p6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27649163" name="Google Shape;50;p6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ru-RU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37079690" name="Google Shape;51;p6"/>
          <p:cNvSpPr/>
          <p:nvPr/>
        </p:nvSpPr>
        <p:spPr bwMode="auto">
          <a:xfrm flipH="0" flipV="0">
            <a:off x="530350" y="182880"/>
            <a:ext cx="6784848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800"/>
              <a:buFont typeface="Calibri"/>
              <a:buNone/>
              <a:defRPr/>
            </a:pPr>
            <a:r>
              <a:rPr lang="ru-RU" sz="26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Постановка задачи.</a:t>
            </a:r>
            <a:endParaRPr sz="2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892124783" name="Google Shape;52;p6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37851909" name="Google Shape;53;p6"/>
          <p:cNvSpPr/>
          <p:nvPr/>
        </p:nvSpPr>
        <p:spPr bwMode="auto">
          <a:xfrm flipH="0" flipV="0">
            <a:off x="476346" y="754759"/>
            <a:ext cx="8229600" cy="2731969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D8B8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2" tIns="91422" rIns="91422" bIns="91422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5193100" name="Google Shape;57;p6"/>
          <p:cNvSpPr/>
          <p:nvPr/>
        </p:nvSpPr>
        <p:spPr bwMode="auto">
          <a:xfrm>
            <a:off x="457200" y="3749040"/>
            <a:ext cx="8229600" cy="96012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4168606" name="Google Shape;58;p6"/>
          <p:cNvSpPr/>
          <p:nvPr/>
        </p:nvSpPr>
        <p:spPr bwMode="auto">
          <a:xfrm flipH="0" flipV="0">
            <a:off x="640080" y="3960393"/>
            <a:ext cx="7772400" cy="657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49171588" name=""/>
          <p:cNvSpPr txBox="1"/>
          <p:nvPr/>
        </p:nvSpPr>
        <p:spPr bwMode="auto">
          <a:xfrm rot="0" flipH="0" flipV="0">
            <a:off x="457197" y="977562"/>
            <a:ext cx="8267896" cy="3051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endParaRPr lang="ru-RU" sz="14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94061587" name="Google Shape;228;p14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295990428" name="Google Shape;229;p14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98036106" name="Google Shape;230;p14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49060884" name="Google Shape;231;p14"/>
          <p:cNvSpPr/>
          <p:nvPr/>
        </p:nvSpPr>
        <p:spPr bwMode="auto">
          <a:xfrm>
            <a:off x="594360" y="1828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en-US" sz="2600" b="1" i="0" u="none" strike="noStrike" cap="none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Обобщения и </a:t>
            </a:r>
            <a:r>
              <a:rPr lang="ru-RU" sz="2600" b="1" i="0" u="none" strike="noStrike" cap="none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области применения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7125360" name="Google Shape;232;p14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8393788" name="Google Shape;233;p14"/>
          <p:cNvSpPr/>
          <p:nvPr/>
        </p:nvSpPr>
        <p:spPr bwMode="auto">
          <a:xfrm>
            <a:off x="457200" y="804672"/>
            <a:ext cx="3977640" cy="132588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59929753" name="Google Shape;234;p14"/>
          <p:cNvSpPr/>
          <p:nvPr/>
        </p:nvSpPr>
        <p:spPr bwMode="auto">
          <a:xfrm>
            <a:off x="457200" y="804672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4124681" name="Google Shape;235;p14"/>
          <p:cNvSpPr/>
          <p:nvPr/>
        </p:nvSpPr>
        <p:spPr bwMode="auto">
          <a:xfrm>
            <a:off x="594360" y="877824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0438427" name="Google Shape;236;p14"/>
          <p:cNvSpPr/>
          <p:nvPr/>
        </p:nvSpPr>
        <p:spPr bwMode="auto">
          <a:xfrm>
            <a:off x="594360" y="1216151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46030692" name="Google Shape;237;p14"/>
          <p:cNvSpPr/>
          <p:nvPr/>
        </p:nvSpPr>
        <p:spPr bwMode="auto">
          <a:xfrm>
            <a:off x="4617720" y="804672"/>
            <a:ext cx="3977640" cy="132588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3714303" name="Google Shape;238;p14"/>
          <p:cNvSpPr/>
          <p:nvPr/>
        </p:nvSpPr>
        <p:spPr bwMode="auto">
          <a:xfrm>
            <a:off x="4617720" y="804672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4337346" name="Google Shape;239;p14"/>
          <p:cNvSpPr/>
          <p:nvPr/>
        </p:nvSpPr>
        <p:spPr bwMode="auto">
          <a:xfrm>
            <a:off x="4754880" y="877824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1977147" name="Google Shape;240;p14"/>
          <p:cNvSpPr/>
          <p:nvPr/>
        </p:nvSpPr>
        <p:spPr bwMode="auto">
          <a:xfrm>
            <a:off x="4754880" y="1216151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91467132" name="Google Shape;241;p14"/>
          <p:cNvSpPr/>
          <p:nvPr/>
        </p:nvSpPr>
        <p:spPr bwMode="auto">
          <a:xfrm>
            <a:off x="457200" y="2240280"/>
            <a:ext cx="3977640" cy="132588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3711207" name="Google Shape;242;p14"/>
          <p:cNvSpPr/>
          <p:nvPr/>
        </p:nvSpPr>
        <p:spPr bwMode="auto">
          <a:xfrm>
            <a:off x="457200" y="2240280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4253549" name="Google Shape;243;p14"/>
          <p:cNvSpPr/>
          <p:nvPr/>
        </p:nvSpPr>
        <p:spPr bwMode="auto">
          <a:xfrm>
            <a:off x="594360" y="231343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63757126" name="Google Shape;244;p14"/>
          <p:cNvSpPr/>
          <p:nvPr/>
        </p:nvSpPr>
        <p:spPr bwMode="auto">
          <a:xfrm>
            <a:off x="594360" y="2651760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44858504" name="Google Shape;245;p14"/>
          <p:cNvSpPr/>
          <p:nvPr/>
        </p:nvSpPr>
        <p:spPr bwMode="auto">
          <a:xfrm>
            <a:off x="4617720" y="2240280"/>
            <a:ext cx="3977640" cy="132588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6467360" name="Google Shape;246;p14"/>
          <p:cNvSpPr/>
          <p:nvPr/>
        </p:nvSpPr>
        <p:spPr bwMode="auto">
          <a:xfrm>
            <a:off x="4617720" y="2240280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6163480" name="Google Shape;247;p14"/>
          <p:cNvSpPr/>
          <p:nvPr/>
        </p:nvSpPr>
        <p:spPr bwMode="auto">
          <a:xfrm>
            <a:off x="4754880" y="231343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79277714" name="Google Shape;248;p14"/>
          <p:cNvSpPr/>
          <p:nvPr/>
        </p:nvSpPr>
        <p:spPr bwMode="auto">
          <a:xfrm>
            <a:off x="4754880" y="2651760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9920740" name="Google Shape;200;p13"/>
          <p:cNvSpPr/>
          <p:nvPr/>
        </p:nvSpPr>
        <p:spPr bwMode="auto">
          <a:xfrm flipH="0" flipV="0">
            <a:off x="411479" y="3844847"/>
            <a:ext cx="8229600" cy="1092912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>
              <a:defRPr/>
            </a:pPr>
            <a:endParaRPr lang="ru-RU" sz="1400" b="1" i="0" u="none" strike="noStrike" cap="none" spc="0">
              <a:solidFill>
                <a:srgbClr val="FFFF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4506623" name="Google Shape;280;p16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589775469" name="Google Shape;281;p16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289803866" name="Google Shape;282;p16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en-US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  <a:r>
              <a:rPr lang="ru-RU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  <a:endParaRPr sz="1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132647821" name="Google Shape;283;p16"/>
          <p:cNvSpPr/>
          <p:nvPr/>
        </p:nvSpPr>
        <p:spPr bwMode="auto">
          <a:xfrm>
            <a:off x="594360" y="1828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26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Выводы.</a:t>
            </a:r>
            <a:endParaRPr sz="2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298554476" name="Google Shape;284;p16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609276143" name="Google Shape;285;p16"/>
          <p:cNvSpPr/>
          <p:nvPr/>
        </p:nvSpPr>
        <p:spPr bwMode="auto">
          <a:xfrm>
            <a:off x="457200" y="822960"/>
            <a:ext cx="8229600" cy="768096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316365784" name="Google Shape;286;p16"/>
          <p:cNvSpPr/>
          <p:nvPr/>
        </p:nvSpPr>
        <p:spPr bwMode="auto">
          <a:xfrm>
            <a:off x="457200" y="822960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046438866" name="Google Shape;287;p16"/>
          <p:cNvSpPr/>
          <p:nvPr/>
        </p:nvSpPr>
        <p:spPr bwMode="auto">
          <a:xfrm>
            <a:off x="457200" y="822960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624715871" name="Google Shape;288;p16"/>
          <p:cNvSpPr/>
          <p:nvPr/>
        </p:nvSpPr>
        <p:spPr bwMode="auto">
          <a:xfrm>
            <a:off x="960120" y="914400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162121357" name="Google Shape;289;p16"/>
          <p:cNvSpPr/>
          <p:nvPr/>
        </p:nvSpPr>
        <p:spPr bwMode="auto">
          <a:xfrm>
            <a:off x="457200" y="1664208"/>
            <a:ext cx="8229600" cy="7680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803347447" name="Google Shape;290;p16"/>
          <p:cNvSpPr/>
          <p:nvPr/>
        </p:nvSpPr>
        <p:spPr bwMode="auto">
          <a:xfrm>
            <a:off x="457200" y="1664208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900993886" name="Google Shape;291;p16"/>
          <p:cNvSpPr/>
          <p:nvPr/>
        </p:nvSpPr>
        <p:spPr bwMode="auto">
          <a:xfrm>
            <a:off x="457200" y="1664208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890629779" name="Google Shape;292;p16"/>
          <p:cNvSpPr/>
          <p:nvPr/>
        </p:nvSpPr>
        <p:spPr bwMode="auto">
          <a:xfrm>
            <a:off x="960120" y="1755648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92254352" name="Google Shape;293;p16"/>
          <p:cNvSpPr/>
          <p:nvPr/>
        </p:nvSpPr>
        <p:spPr bwMode="auto">
          <a:xfrm>
            <a:off x="457200" y="2505456"/>
            <a:ext cx="8229600" cy="768096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84785162" name="Google Shape;294;p16"/>
          <p:cNvSpPr/>
          <p:nvPr/>
        </p:nvSpPr>
        <p:spPr bwMode="auto">
          <a:xfrm>
            <a:off x="457200" y="2505456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610983175" name="Google Shape;295;p16"/>
          <p:cNvSpPr/>
          <p:nvPr/>
        </p:nvSpPr>
        <p:spPr bwMode="auto">
          <a:xfrm>
            <a:off x="457200" y="2505456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357106490" name="Google Shape;296;p16"/>
          <p:cNvSpPr/>
          <p:nvPr/>
        </p:nvSpPr>
        <p:spPr bwMode="auto">
          <a:xfrm>
            <a:off x="960120" y="2596896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471247798" name="Google Shape;297;p16"/>
          <p:cNvSpPr/>
          <p:nvPr/>
        </p:nvSpPr>
        <p:spPr bwMode="auto">
          <a:xfrm>
            <a:off x="457200" y="3346704"/>
            <a:ext cx="8229600" cy="7680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772032582" name="Google Shape;298;p16"/>
          <p:cNvSpPr/>
          <p:nvPr/>
        </p:nvSpPr>
        <p:spPr bwMode="auto">
          <a:xfrm>
            <a:off x="457200" y="3346704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623820699" name="Google Shape;299;p16"/>
          <p:cNvSpPr/>
          <p:nvPr/>
        </p:nvSpPr>
        <p:spPr bwMode="auto">
          <a:xfrm>
            <a:off x="457200" y="3346704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49098351" name="Google Shape;300;p16"/>
          <p:cNvSpPr/>
          <p:nvPr/>
        </p:nvSpPr>
        <p:spPr bwMode="auto">
          <a:xfrm>
            <a:off x="960120" y="3438144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979937926" name="Google Shape;303;p16"/>
          <p:cNvSpPr/>
          <p:nvPr/>
        </p:nvSpPr>
        <p:spPr bwMode="auto">
          <a:xfrm>
            <a:off x="457200" y="4187952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61785" name="Google Shape;309;p17"/>
          <p:cNvSpPr txBox="1"/>
          <p:nvPr>
            <p:ph type="body" idx="1"/>
          </p:nvPr>
        </p:nvSpPr>
        <p:spPr bwMode="auto">
          <a:xfrm>
            <a:off x="494094" y="2157425"/>
            <a:ext cx="5330700" cy="1157400"/>
          </a:xfrm>
          <a:prstGeom prst="rect">
            <a:avLst/>
          </a:prstGeom>
          <a:noFill/>
          <a:ln>
            <a:noFill/>
          </a:ln>
        </p:spPr>
        <p:txBody>
          <a:bodyPr spcFirstLastPara="1" vertOverflow="overflow" horzOverflow="overflow" vert="horz" wrap="square" lIns="68574" tIns="34274" rIns="68574" bIns="34274" numCol="1" spcCol="0" rtlCol="0" fromWordArt="0" anchor="t" anchorCtr="0" forceAA="0" upright="0" compatLnSpc="0">
            <a:normAutofit fontScale="80000" lnSpcReduction="4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  <a:defRPr/>
            </a:pPr>
            <a:r>
              <a:rPr lang="ru-RU" sz="4200">
                <a:solidFill>
                  <a:schemeClr val="dk1"/>
                </a:solidFill>
                <a:latin typeface="Open Sans"/>
                <a:ea typeface="Open Sans"/>
                <a:cs typeface="Open Sans"/>
              </a:rPr>
              <a:t>Спасибо за внимание!</a:t>
            </a:r>
            <a:endParaRPr lang="ru-RU" sz="4200" b="0">
              <a:solidFill>
                <a:schemeClr val="dk1"/>
              </a:solidFill>
              <a:latin typeface="Open Sans"/>
              <a:cs typeface="Open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ct val="100000"/>
              <a:buNone/>
              <a:defRPr/>
            </a:pPr>
            <a:endParaRPr lang="ru-RU">
              <a:latin typeface="Open Sans"/>
              <a:cs typeface="Open Sans"/>
            </a:endParaRPr>
          </a:p>
        </p:txBody>
      </p:sp>
      <p:sp>
        <p:nvSpPr>
          <p:cNvPr id="609666926" name="Google Shape;310;p17"/>
          <p:cNvSpPr/>
          <p:nvPr/>
        </p:nvSpPr>
        <p:spPr bwMode="auto">
          <a:xfrm>
            <a:off x="371175" y="1585850"/>
            <a:ext cx="1878900" cy="657900"/>
          </a:xfrm>
          <a:prstGeom prst="rect">
            <a:avLst/>
          </a:prstGeom>
          <a:solidFill>
            <a:srgbClr val="EAE0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2948062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320891" y="4510203"/>
            <a:ext cx="1285875" cy="6007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13</cp:revision>
  <dcterms:modified xsi:type="dcterms:W3CDTF">2026-10-19T14:16:15Z</dcterms:modified>
</cp:coreProperties>
</file>