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3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9144000" cy="5143500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  <a:defRPr lang="ru-RU"/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478964560" y="0"/>
      </p:cViewPr>
      <p:guideLst>
        <p:guide pos="2880"/>
        <p:guide pos="162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 /><Relationship Id="rId25" Type="http://schemas.openxmlformats.org/officeDocument/2006/relationships/tableStyles" Target="tableStyles.xml" /><Relationship Id="rId26" Type="http://schemas.openxmlformats.org/officeDocument/2006/relationships/viewProps" Target="viewProps.xml" /><Relationship Id="rId27" Type="http://schemas.onlyoffice.com/jsaProject" Target="jsaProject.bin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221420" name="Google Shape;3;n"/>
          <p:cNvSpPr txBox="1"/>
          <p:nvPr>
            <p:ph type="hdr" idx="2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59864729" name="Google Shape;4;n"/>
          <p:cNvSpPr txBox="1"/>
          <p:nvPr>
            <p:ph type="dt" idx="10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938805075" name="Google Shape;5;n"/>
          <p:cNvSpPr/>
          <p:nvPr>
            <p:ph type="sldImg" idx="3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5223044" name="Google Shape;6;n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627271886" name="Google Shape;7;n"/>
          <p:cNvSpPr txBox="1"/>
          <p:nvPr>
            <p:ph type="ftr" idx="11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42714661" name="Google Shape;8;n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1081" name="Google Shape;37;g3d81e7673dc_0_0:notes"/>
          <p:cNvSpPr txBox="1"/>
          <p:nvPr>
            <p:ph type="body" idx="1"/>
          </p:nvPr>
        </p:nvSpPr>
        <p:spPr bwMode="auto">
          <a:xfrm>
            <a:off x="514350" y="4400550"/>
            <a:ext cx="41148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2321035" name="Google Shape;38;g3d81e7673dc_0_0:notes"/>
          <p:cNvSpPr/>
          <p:nvPr>
            <p:ph type="sldImg" idx="2"/>
          </p:nvPr>
        </p:nvSpPr>
        <p:spPr bwMode="auto">
          <a:xfrm>
            <a:off x="51435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538595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804096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Связи голономны, если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ограничения, накладываемые связями, могут быть выражены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виде равенств, 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связывающих координаты частиц (и время),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т. е. выражены в виде равенств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f(r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1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2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3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..., t) = 0.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Если силовое поле таково, что работа, совершаемая силой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на любом замкнутом контуре, равна нулю,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то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акая сила (система) называется консервативной.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Уравнения Лагранжа можно представить в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этой форме и тогда, когда система не является консерва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тивной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обычном смысле слова. Это удается сделать в том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случае, когда обобщенные силы Q</a:t>
            </a:r>
            <a:r>
              <a:rPr lang="en-US" sz="1200" b="0" i="0" u="none" strike="noStrike" cap="none" spc="0" baseline="-250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j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можно получить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из функ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ции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посредством равенства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U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</m:t>
                          </m:r>
                          <m:sSub>
                            <m:sSub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+ 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f>
                            <m:f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U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</m:t>
                              </m:r>
                              <m:sSub>
                                <m:sSubPr>
                                  <m:ctrl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В этом случае исходные уравнения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Получим при лагранжиане, равном </a:t>
            </a:r>
            <a:r>
              <a:rPr lang="en-US" sz="1200" b="0" i="1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L = T - U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.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Величину U можно назвать «обобщенным потенциалом» или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«потенциалом, зависящим от скорости».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</p:txBody>
      </p:sp>
      <p:sp>
        <p:nvSpPr>
          <p:cNvPr id="1027790382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000354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6346531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Связи голономны, если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ограничения, накладываемые связями, могут быть выражены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виде равенств, 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связывающих координаты частиц (и время),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т. е. выражены в виде равенств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f(r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1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2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3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..., t) = 0.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Если силовое поле таково, что работа, совершаемая силой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на любом замкнутом контуре, равна нулю,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то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акая сила (система) называется консервативной.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Уравнения Лагранжа можно представить в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этой форме и тогда, когда система не является консерва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тивной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обычном смысле слова. Это удается сделать в том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случае, когда обобщенные силы Q</a:t>
            </a:r>
            <a:r>
              <a:rPr lang="en-US" sz="1200" b="0" i="0" u="none" strike="noStrike" cap="none" spc="0" baseline="-250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j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можно получить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из функ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ции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посредством равенства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U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</m:t>
                          </m:r>
                          <m:sSub>
                            <m:sSub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+ 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f>
                            <m:f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U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</m:t>
                              </m:r>
                              <m:sSub>
                                <m:sSubPr>
                                  <m:ctrl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В этом случае исходные уравнения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Получим при лагранжиане, равном </a:t>
            </a:r>
            <a:r>
              <a:rPr lang="en-US" sz="1200" b="0" i="1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L = T - U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.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Величину U можно назвать «обобщенным потенциалом» или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«потенциалом, зависящим от скорости».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</p:txBody>
      </p:sp>
      <p:sp>
        <p:nvSpPr>
          <p:cNvPr id="2054207283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9300146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8555167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Связи голономны, если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ограничения, накладываемые связями, могут быть выражены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виде равенств, 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связывающих координаты частиц (и время),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т. е. выражены в виде равенств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f(r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1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2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3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..., t) = 0.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Если силовое поле таково, что работа, совершаемая силой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на любом замкнутом контуре, равна нулю,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то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акая сила (система) называется консервативной.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Уравнения Лагранжа можно представить в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этой форме и тогда, когда система не является консерва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тивной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обычном смысле слова. Это удается сделать в том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случае, когда обобщенные силы Q</a:t>
            </a:r>
            <a:r>
              <a:rPr lang="en-US" sz="1200" b="0" i="0" u="none" strike="noStrike" cap="none" spc="0" baseline="-250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j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можно получить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из функ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ции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посредством равенства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U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</m:t>
                          </m:r>
                          <m:sSub>
                            <m:sSub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+ 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f>
                            <m:f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U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</m:t>
                              </m:r>
                              <m:sSub>
                                <m:sSubPr>
                                  <m:ctrl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В этом случае исходные уравнения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Получим при лагранжиане, равном </a:t>
            </a:r>
            <a:r>
              <a:rPr lang="en-US" sz="1200" b="0" i="1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L = T - U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.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Величину U можно назвать «обобщенным потенциалом» или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«потенциалом, зависящим от скорости».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</p:txBody>
      </p:sp>
      <p:sp>
        <p:nvSpPr>
          <p:cNvPr id="632508829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253282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52144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Связи голономны, если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ограничения, накладываемые связями, могут быть выражены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виде равенств, 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связывающих координаты частиц (и время),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т. е. выражены в виде равенств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f(r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1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2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3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..., t) = 0.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Если силовое поле таково, что работа, совершаемая силой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на любом замкнутом контуре, равна нулю,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то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акая сила (система) называется консервативной.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Уравнения Лагранжа можно представить в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этой форме и тогда, когда система не является консерва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тивной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обычном смысле слова. Это удается сделать в том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случае, когда обобщенные силы Q</a:t>
            </a:r>
            <a:r>
              <a:rPr lang="en-US" sz="1200" b="0" i="0" u="none" strike="noStrike" cap="none" spc="0" baseline="-250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j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можно получить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из функ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ции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посредством равенства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U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</m:t>
                          </m:r>
                          <m:sSub>
                            <m:sSub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+ 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f>
                            <m:f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U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</m:t>
                              </m:r>
                              <m:sSub>
                                <m:sSubPr>
                                  <m:ctrl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В этом случае исходные уравнения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Получим при лагранжиане, равном </a:t>
            </a:r>
            <a:r>
              <a:rPr lang="en-US" sz="1200" b="0" i="1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L = T - U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.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Величину U можно назвать «обобщенным потенциалом» или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«потенциалом, зависящим от скорости».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</p:txBody>
      </p:sp>
      <p:sp>
        <p:nvSpPr>
          <p:cNvPr id="619320411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009582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8478980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Связи голономны, если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ограничения, накладываемые связями, могут быть выражены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виде равенств, 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связывающих координаты частиц (и время),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т. е. выражены в виде равенств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f(r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1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2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3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..., t) = 0.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Если силовое поле таково, что работа, совершаемая силой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на любом замкнутом контуре, равна нулю,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то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акая сила (система) называется консервативной.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Уравнения Лагранжа можно представить в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этой форме и тогда, когда система не является консерва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тивной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обычном смысле слова. Это удается сделать в том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случае, когда обобщенные силы Q</a:t>
            </a:r>
            <a:r>
              <a:rPr lang="en-US" sz="1200" b="0" i="0" u="none" strike="noStrike" cap="none" spc="0" baseline="-250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j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можно получить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из функ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ции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посредством равенства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U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</m:t>
                          </m:r>
                          <m:sSub>
                            <m:sSub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+ 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f>
                            <m:f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U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</m:t>
                              </m:r>
                              <m:sSub>
                                <m:sSubPr>
                                  <m:ctrl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В этом случае исходные уравнения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Получим при лагранжиане, равном </a:t>
            </a:r>
            <a:r>
              <a:rPr lang="en-US" sz="1200" b="0" i="1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L = T - U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.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Величину U можно назвать «обобщенным потенциалом» или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«потенциалом, зависящим от скорости».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</p:txBody>
      </p:sp>
      <p:sp>
        <p:nvSpPr>
          <p:cNvPr id="1778313264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0108458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4286137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Связи голономны, если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ограничения, накладываемые связями, могут быть выражены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виде равенств, 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связывающих координаты частиц (и время),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т. е. выражены в виде равенств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f(r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1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2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3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..., t) = 0.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Если силовое поле таково, что работа, совершаемая силой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на любом замкнутом контуре, равна нулю,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то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акая сила (система) называется консервативной.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Уравнения Лагранжа можно представить в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этой форме и тогда, когда система не является консерва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тивной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обычном смысле слова. Это удается сделать в том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случае, когда обобщенные силы Q</a:t>
            </a:r>
            <a:r>
              <a:rPr lang="en-US" sz="1200" b="0" i="0" u="none" strike="noStrike" cap="none" spc="0" baseline="-250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j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можно получить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из функ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ции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посредством равенства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U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</m:t>
                          </m:r>
                          <m:sSub>
                            <m:sSub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+ 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f>
                            <m:f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U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</m:t>
                              </m:r>
                              <m:sSub>
                                <m:sSubPr>
                                  <m:ctrl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В этом случае исходные уравнения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Получим при лагранжиане, равном </a:t>
            </a:r>
            <a:r>
              <a:rPr lang="en-US" sz="1200" b="0" i="1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L = T - U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.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Величину U можно назвать «обобщенным потенциалом» или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«потенциалом, зависящим от скорости».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</p:txBody>
      </p:sp>
      <p:sp>
        <p:nvSpPr>
          <p:cNvPr id="1869161410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615376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81474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Связи голономны, если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ограничения, накладываемые связями, могут быть выражены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виде равенств, 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связывающих координаты частиц (и время),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т. е. выражены в виде равенств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f(r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1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2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r</a:t>
            </a:r>
            <a:r>
              <a:rPr lang="ru-RU" sz="1200" b="0" i="0" u="none" strike="noStrike" cap="none" spc="0" baseline="-25000">
                <a:solidFill>
                  <a:schemeClr val="dk1"/>
                </a:solidFill>
                <a:latin typeface="Calibri"/>
                <a:cs typeface="Calibri"/>
              </a:rPr>
              <a:t>3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, ..., t) = 0.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Если силовое поле таково, что работа, совершаемая силой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на любом замкнутом контуре, равна нулю,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то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акая сила (система) называется консервативной.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Уравнения Лагранжа можно представить в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этой форме и тогда, когда система не является консерва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тивной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обычном смысле слова. Это удается сделать в том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случае, когда обобщенные силы Q</a:t>
            </a:r>
            <a:r>
              <a:rPr lang="en-US" sz="1200" b="0" i="0" u="none" strike="noStrike" cap="none" spc="0" baseline="-250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j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можно получить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из функ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ции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ru-RU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посредством равенства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U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 </m:t>
                          </m:r>
                          <m:sSub>
                            <m:sSub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+ </m:t>
                      </m:r>
                      <m:f>
                        <m:fPr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f>
                            <m:fPr>
                              <m:ctrl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U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200" u="none" strike="noStrike" cap="none" spc="0">
                                  <a:solidFill>
                                    <a:schemeClr val="dk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 </m:t>
                              </m:r>
                              <m:sSub>
                                <m:sSubPr>
                                  <m:ctrl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 u="none" strike="noStrike" cap="none" spc="0">
                                          <a:solidFill>
                                            <a:schemeClr val="dk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 u="none" strike="noStrike" cap="none" spc="0">
                                      <a:solidFill>
                                        <a:schemeClr val="dk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en-US" sz="1200" u="none" strike="noStrike" cap="none" spc="0">
                              <a:solidFill>
                                <a:schemeClr val="dk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200" u="none" strike="noStrike" cap="none" spc="0">
                          <a:solidFill>
                            <a:schemeClr val="dk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 В этом случае исходные уравнения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Получим при лагранжиане, равном </a:t>
            </a:r>
            <a:r>
              <a:rPr lang="en-US" sz="1200" b="0" i="1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L = T - U</a:t>
            </a:r>
            <a:r>
              <a:rPr lang="en-US" sz="1200" b="0" i="0" u="none" strike="noStrike" cap="none" spc="0">
                <a:solidFill>
                  <a:schemeClr val="dk1"/>
                </a:solidFill>
                <a:latin typeface="Calibri"/>
                <a:cs typeface="Calibri"/>
              </a:rPr>
              <a:t>. 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Величину U можно назвать «обобщенным потенциалом» или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«потенциалом, зависящим от скорости».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>
              <a:defRPr/>
            </a:pP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</p:txBody>
      </p:sp>
      <p:sp>
        <p:nvSpPr>
          <p:cNvPr id="2079936246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784560" name="Google Shape;44;p3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9215760" name="Google Shape;45;p3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28396503" name="Google Shape;46;p3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757096" name="Google Shape;143;p8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4519246" name="Google Shape;144;p8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444715" name="Google Shape;145;p8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753256" name="Google Shape;60;p4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1036019" name="Google Shape;61;p4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34607984" name="Google Shape;62;p4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341865" name="Google Shape;60;p4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0836700" name="Google Shape;61;p4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noAutofit/>
          </a:bodyPr>
          <a:lstStyle/>
          <a:p>
            <a:pPr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Выражая уравнения через удельный гамильтониан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получаем: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∂ℋ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>
                        <m:f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этой форме они являются несим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метричными (так как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не является функцией градиентов вели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чин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20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).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79303176" name="Google Shape;62;p4:notes"/>
          <p:cNvSpPr txBox="1"/>
          <p:nvPr>
            <p:ph type="sldNum" idx="12"/>
          </p:nvPr>
        </p:nvSpPr>
        <p:spPr bwMode="auto">
          <a:xfrm>
            <a:off x="3884612" y="8685212"/>
            <a:ext cx="2971800" cy="458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F773A373-D6F7-CD36-C2DF-7BF3D7106D1E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932046" name="Google Shape;60;p4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6957721" name="Google Shape;61;p4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noAutofit/>
          </a:bodyPr>
          <a:lstStyle/>
          <a:p>
            <a:pPr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Выражая уравнения через удельный гамильтониан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получаем: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∂ℋ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>
                        <m:f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этой форме они являются несим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метричными (так как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не является функцией градиентов вели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чин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20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).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42016086" name="Google Shape;62;p4:notes"/>
          <p:cNvSpPr txBox="1"/>
          <p:nvPr>
            <p:ph type="sldNum" idx="12"/>
          </p:nvPr>
        </p:nvSpPr>
        <p:spPr bwMode="auto">
          <a:xfrm>
            <a:off x="3884612" y="8685212"/>
            <a:ext cx="2971800" cy="458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E64B45-4C41-D525-4F46-3713EEECA13E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668003" name="Google Shape;60;p4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7510098" name="Google Shape;61;p4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noAutofit/>
          </a:bodyPr>
          <a:lstStyle/>
          <a:p>
            <a:pPr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Выражая уравнения через удельный гамильтониан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получаем: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∂ℋ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>
                        <m:f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этой форме они являются несим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метричными (так как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не является функцией градиентов вели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чин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20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).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0271149" name="Google Shape;62;p4:notes"/>
          <p:cNvSpPr txBox="1"/>
          <p:nvPr>
            <p:ph type="sldNum" idx="12"/>
          </p:nvPr>
        </p:nvSpPr>
        <p:spPr bwMode="auto">
          <a:xfrm>
            <a:off x="3884612" y="8685212"/>
            <a:ext cx="2971800" cy="458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5E87746-0BBB-C9C4-919D-B8DA94F943B8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922722" name="Google Shape;60;p4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7580387" name="Google Shape;61;p4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noAutofit/>
          </a:bodyPr>
          <a:lstStyle/>
          <a:p>
            <a:pPr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Выражая уравнения через удельный гамильтониан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получаем: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∂ℋ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ru-RU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>
                        <m:f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В этой форме они являются несим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метричными (так как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не является функцией градиентов вели</a:t>
            </a:r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чин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20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).</a:t>
            </a:r>
            <a:endParaRPr lang="ru-RU" sz="1200" b="0" i="0" u="none" strike="noStrike" cap="none" spc="0">
              <a:solidFill>
                <a:schemeClr val="dk1"/>
              </a:solidFill>
              <a:latin typeface="Calibri"/>
              <a:cs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5028557" name="Google Shape;62;p4:notes"/>
          <p:cNvSpPr txBox="1"/>
          <p:nvPr>
            <p:ph type="sldNum" idx="12"/>
          </p:nvPr>
        </p:nvSpPr>
        <p:spPr bwMode="auto">
          <a:xfrm>
            <a:off x="3884612" y="8685212"/>
            <a:ext cx="2971800" cy="458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3D512AB2-46A2-6D64-A075-953D45647979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301471" name="Google Shape;191;p10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0919809" name="Google Shape;192;p10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6718735" name="Google Shape;193;p10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428595" name="Google Shape;224;p11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8340499" name="Google Shape;225;p11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2868424" name="Google Shape;226;p11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5107099" name="Google Shape;276;p13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5516773" name="Google Shape;277;p13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02397049" name="Google Shape;278;p13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3820126" name="Google Shape;306;g3d81e7673dc_0_110:notes"/>
          <p:cNvSpPr txBox="1"/>
          <p:nvPr>
            <p:ph type="body" idx="1"/>
          </p:nvPr>
        </p:nvSpPr>
        <p:spPr bwMode="auto">
          <a:xfrm>
            <a:off x="514350" y="4400550"/>
            <a:ext cx="41148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3097646" name="Google Shape;307;g3d81e7673dc_0_110:notes"/>
          <p:cNvSpPr/>
          <p:nvPr>
            <p:ph type="sldImg" idx="2"/>
          </p:nvPr>
        </p:nvSpPr>
        <p:spPr bwMode="auto">
          <a:xfrm>
            <a:off x="51435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DEFAULT" preserve="0" showMasterPhAnim="0" showMasterSp="1" userDrawn="1">
  <p:cSld name="DEFAULT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_Титульный слайд" preserve="0" showMasterPhAnim="0" showMasterSp="0" userDrawn="1">
  <p:cSld name="2_Титульный слайд">
    <p:bg>
      <p:bgPr shadeToTitle="0">
        <a:blipFill rotWithShape="1">
          <a:blip r:embed="rId2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73320" name="Google Shape;12;p3"/>
          <p:cNvSpPr txBox="1"/>
          <p:nvPr>
            <p:ph type="ctrTitle"/>
          </p:nvPr>
        </p:nvSpPr>
        <p:spPr bwMode="auto">
          <a:xfrm>
            <a:off x="504645" y="1600200"/>
            <a:ext cx="8476200" cy="9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3600"/>
              <a:buFont typeface="Quattrocento Sans"/>
              <a:buChar char="●"/>
              <a:defRPr sz="3600">
                <a:solidFill>
                  <a:srgbClr val="5151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389857407" name="Google Shape;13;p3"/>
          <p:cNvSpPr txBox="1"/>
          <p:nvPr>
            <p:ph type="subTitle" idx="1"/>
          </p:nvPr>
        </p:nvSpPr>
        <p:spPr bwMode="auto">
          <a:xfrm>
            <a:off x="494110" y="2656131"/>
            <a:ext cx="8486700" cy="34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2100"/>
              <a:buNone/>
              <a:defRPr sz="2100">
                <a:solidFill>
                  <a:srgbClr val="51515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203510766" name="Google Shape;14;p3"/>
          <p:cNvSpPr txBox="1"/>
          <p:nvPr>
            <p:ph type="body" idx="2"/>
          </p:nvPr>
        </p:nvSpPr>
        <p:spPr bwMode="auto">
          <a:xfrm>
            <a:off x="498693" y="4075757"/>
            <a:ext cx="84822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 sz="1800" b="1">
                <a:solidFill>
                  <a:srgbClr val="51515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500">
                <a:solidFill>
                  <a:srgbClr val="51515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400">
                <a:solidFill>
                  <a:srgbClr val="51515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200"/>
              <a:buNone/>
              <a:defRPr sz="1200">
                <a:solidFill>
                  <a:srgbClr val="51515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200"/>
              <a:buNone/>
              <a:defRPr sz="1200">
                <a:solidFill>
                  <a:srgbClr val="51515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97977680" name="Google Shape;15;p3"/>
          <p:cNvSpPr txBox="1"/>
          <p:nvPr>
            <p:ph type="body" idx="3"/>
          </p:nvPr>
        </p:nvSpPr>
        <p:spPr bwMode="auto">
          <a:xfrm>
            <a:off x="494110" y="4476750"/>
            <a:ext cx="84867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500">
                <a:solidFill>
                  <a:srgbClr val="51515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○"/>
              <a:defRPr sz="1100"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■"/>
              <a:defRPr sz="1100"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●"/>
              <a:defRPr sz="1100"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○"/>
              <a:defRPr sz="1100"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pic>
        <p:nvPicPr>
          <p:cNvPr id="1042846482" name="Google Shape;16;p3" descr="\\ad.pu.ru\RECTORAT\УСО\ДИЗАЙНЕРЫ\300 лет СПбГУ\300 лет логотипы все варианты\Logo 300 let classic whit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1207280" y="327422"/>
            <a:ext cx="2829903" cy="8699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ертикальный заголовок и текст" preserve="0" showMasterPhAnim="0" showMasterSp="0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5958876" name="Google Shape;18;p4"/>
          <p:cNvPicPr/>
          <p:nvPr/>
        </p:nvPicPr>
        <p:blipFill rotWithShape="1">
          <a:blip r:embed="rId2">
            <a:alphaModFix/>
          </a:blip>
          <a:srcRect l="0" t="0" r="0" b="0"/>
          <a:stretch/>
        </p:blipFill>
        <p:spPr bwMode="auto">
          <a:xfrm>
            <a:off x="0" y="0"/>
            <a:ext cx="9144002" cy="5141597"/>
          </a:xfrm>
          <a:prstGeom prst="rect">
            <a:avLst/>
          </a:prstGeom>
          <a:noFill/>
          <a:ln>
            <a:noFill/>
          </a:ln>
        </p:spPr>
      </p:pic>
      <p:sp>
        <p:nvSpPr>
          <p:cNvPr id="936407551" name="Google Shape;19;p4"/>
          <p:cNvSpPr/>
          <p:nvPr/>
        </p:nvSpPr>
        <p:spPr bwMode="auto">
          <a:xfrm>
            <a:off x="0" y="1514476"/>
            <a:ext cx="9144000" cy="2586300"/>
          </a:xfrm>
          <a:prstGeom prst="rect">
            <a:avLst/>
          </a:prstGeom>
          <a:solidFill>
            <a:srgbClr val="EAE0D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grpSp>
        <p:nvGrpSpPr>
          <p:cNvPr id="1528354379" name="Google Shape;20;p4"/>
          <p:cNvGrpSpPr/>
          <p:nvPr/>
        </p:nvGrpSpPr>
        <p:grpSpPr bwMode="auto">
          <a:xfrm>
            <a:off x="9241246" y="2763409"/>
            <a:ext cx="827775" cy="1834463"/>
            <a:chOff x="12321661" y="3684546"/>
            <a:chExt cx="1103700" cy="2445951"/>
          </a:xfrm>
        </p:grpSpPr>
        <p:sp>
          <p:nvSpPr>
            <p:cNvPr id="21" name="Google Shape;21;p4"/>
            <p:cNvSpPr/>
            <p:nvPr/>
          </p:nvSpPr>
          <p:spPr bwMode="auto">
            <a:xfrm>
              <a:off x="12321661" y="3684546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2" name="Google Shape;22;p4"/>
            <p:cNvSpPr txBox="1"/>
            <p:nvPr/>
          </p:nvSpPr>
          <p:spPr bwMode="auto">
            <a:xfrm>
              <a:off x="12427169" y="3780118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175 / 44 / 34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3" name="Google Shape;23;p4"/>
            <p:cNvSpPr/>
            <p:nvPr/>
          </p:nvSpPr>
          <p:spPr bwMode="auto">
            <a:xfrm>
              <a:off x="12321661" y="4195929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4" name="Google Shape;24;p4"/>
            <p:cNvSpPr txBox="1"/>
            <p:nvPr/>
          </p:nvSpPr>
          <p:spPr bwMode="auto">
            <a:xfrm>
              <a:off x="12427169" y="4291501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200 / 160 / 110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5" name="Google Shape;25;p4"/>
            <p:cNvSpPr/>
            <p:nvPr/>
          </p:nvSpPr>
          <p:spPr bwMode="auto">
            <a:xfrm>
              <a:off x="12321661" y="4699985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6" name="Google Shape;26;p4"/>
            <p:cNvSpPr txBox="1"/>
            <p:nvPr/>
          </p:nvSpPr>
          <p:spPr bwMode="auto">
            <a:xfrm>
              <a:off x="12427169" y="4795557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201 / 188 / 171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" name="Google Shape;27;p4"/>
            <p:cNvSpPr/>
            <p:nvPr/>
          </p:nvSpPr>
          <p:spPr bwMode="auto">
            <a:xfrm>
              <a:off x="12321661" y="5204041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" name="Google Shape;28;p4"/>
            <p:cNvSpPr txBox="1"/>
            <p:nvPr/>
          </p:nvSpPr>
          <p:spPr bwMode="auto">
            <a:xfrm>
              <a:off x="12427169" y="5299613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135 / 135 / 135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" name="Google Shape;29;p4"/>
            <p:cNvSpPr/>
            <p:nvPr/>
          </p:nvSpPr>
          <p:spPr bwMode="auto">
            <a:xfrm>
              <a:off x="12321661" y="5708096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rgbClr val="8D3F3F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" name="Google Shape;30;p4"/>
            <p:cNvSpPr txBox="1"/>
            <p:nvPr/>
          </p:nvSpPr>
          <p:spPr bwMode="auto">
            <a:xfrm>
              <a:off x="12427169" y="5803669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141 / 63 / 63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608349983" name="Google Shape;31;p4"/>
          <p:cNvSpPr txBox="1"/>
          <p:nvPr>
            <p:ph type="body" idx="1"/>
          </p:nvPr>
        </p:nvSpPr>
        <p:spPr bwMode="auto">
          <a:xfrm>
            <a:off x="494110" y="2157413"/>
            <a:ext cx="3534900" cy="11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400" b="1">
                <a:solidFill>
                  <a:srgbClr val="51515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 sz="1100">
                <a:solidFill>
                  <a:srgbClr val="51515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100">
                <a:solidFill>
                  <a:srgbClr val="51515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386346897" name="Google Shape;32;p4"/>
          <p:cNvSpPr txBox="1"/>
          <p:nvPr/>
        </p:nvSpPr>
        <p:spPr bwMode="auto">
          <a:xfrm>
            <a:off x="7537847" y="4446985"/>
            <a:ext cx="12489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ttrocento Sans"/>
              <a:buNone/>
              <a:defRPr/>
            </a:pPr>
            <a:r>
              <a:rPr lang="en-US" sz="2400" b="1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</a:rPr>
              <a:t>spbu.ru</a:t>
            </a:r>
            <a:endParaRPr sz="2400" b="1">
              <a:solidFill>
                <a:schemeClr val="lt1"/>
              </a:solidFill>
              <a:latin typeface="Quattrocento Sans"/>
              <a:ea typeface="Quattrocento Sans"/>
              <a:cs typeface="Quattrocento Sans"/>
            </a:endParaRPr>
          </a:p>
        </p:txBody>
      </p:sp>
      <p:pic>
        <p:nvPicPr>
          <p:cNvPr id="1235163275" name="Google Shape;33;p4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457540" y="506429"/>
            <a:ext cx="1926484" cy="592104"/>
          </a:xfrm>
          <a:prstGeom prst="rect">
            <a:avLst/>
          </a:prstGeom>
          <a:noFill/>
          <a:ln>
            <a:noFill/>
          </a:ln>
        </p:spPr>
      </p:pic>
      <p:sp>
        <p:nvSpPr>
          <p:cNvPr id="962102997" name="Google Shape;34;p4"/>
          <p:cNvSpPr txBox="1"/>
          <p:nvPr>
            <p:ph type="body" idx="2"/>
          </p:nvPr>
        </p:nvSpPr>
        <p:spPr bwMode="auto">
          <a:xfrm>
            <a:off x="4139952" y="2157413"/>
            <a:ext cx="3534900" cy="11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400" b="1">
                <a:solidFill>
                  <a:srgbClr val="51515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 sz="1100">
                <a:solidFill>
                  <a:srgbClr val="51515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100">
                <a:solidFill>
                  <a:srgbClr val="51515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241610577" name="Google Shape;35;p4"/>
          <p:cNvSpPr/>
          <p:nvPr/>
        </p:nvSpPr>
        <p:spPr bwMode="auto">
          <a:xfrm>
            <a:off x="498532" y="1615567"/>
            <a:ext cx="1400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</a:rPr>
              <a:t>Контакты</a:t>
            </a:r>
            <a:endParaRPr sz="1100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0226531" name="Google Shape;40;p5"/>
          <p:cNvSpPr txBox="1"/>
          <p:nvPr>
            <p:ph type="ctrTitle"/>
          </p:nvPr>
        </p:nvSpPr>
        <p:spPr bwMode="auto">
          <a:xfrm>
            <a:off x="504645" y="2215937"/>
            <a:ext cx="8476200" cy="14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-RU" sz="2400" b="1">
                <a:solidFill>
                  <a:srgbClr val="141414"/>
                </a:solidFill>
                <a:latin typeface="Open Sans"/>
                <a:ea typeface="Open Sans"/>
                <a:cs typeface="Open Sans"/>
              </a:rPr>
              <a:t>Биллиард Синая как модель динамического хаоса.</a:t>
            </a:r>
            <a:endParaRPr sz="2700" b="1">
              <a:solidFill>
                <a:srgbClr val="141414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3300"/>
              <a:buFont typeface="Quattrocento Sans"/>
              <a:buNone/>
              <a:defRPr/>
            </a:pPr>
            <a:endParaRPr sz="3300"/>
          </a:p>
        </p:txBody>
      </p:sp>
      <p:sp>
        <p:nvSpPr>
          <p:cNvPr id="1794749676" name="Google Shape;41;p5"/>
          <p:cNvSpPr txBox="1"/>
          <p:nvPr>
            <p:ph type="body" idx="2"/>
          </p:nvPr>
        </p:nvSpPr>
        <p:spPr bwMode="auto">
          <a:xfrm flipH="0" flipV="0">
            <a:off x="501642" y="3240657"/>
            <a:ext cx="8482199" cy="114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4" tIns="34274" rIns="68574" bIns="34274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/>
            </a:pPr>
            <a:r>
              <a:rPr lang="ru-RU">
                <a:latin typeface="Open Sans"/>
                <a:ea typeface="Open Sans"/>
                <a:cs typeface="Open Sans"/>
              </a:rPr>
              <a:t>Гончаров Иван</a:t>
            </a:r>
            <a:endParaRPr lang="ru-RU">
              <a:latin typeface="Open Sans"/>
              <a:ea typeface="Open Sans"/>
              <a:cs typeface="Open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/>
            </a:pPr>
            <a:r>
              <a:rPr lang="ru-RU">
                <a:latin typeface="Open Sans"/>
                <a:ea typeface="Open Sans"/>
                <a:cs typeface="Open Sans"/>
              </a:rPr>
              <a:t>Музиров Борис</a:t>
            </a:r>
            <a:endParaRPr lang="ru-RU">
              <a:latin typeface="Open Sans"/>
              <a:ea typeface="Open Sans"/>
              <a:cs typeface="Open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/>
            </a:pPr>
            <a:r>
              <a:rPr lang="ru-RU">
                <a:latin typeface="Open Sans"/>
                <a:ea typeface="Open Sans"/>
                <a:cs typeface="Open Sans"/>
              </a:rPr>
              <a:t>Телицин Андрей</a:t>
            </a:r>
            <a:endParaRPr>
              <a:latin typeface="Open Sans"/>
              <a:cs typeface="Open Sans"/>
            </a:endParaRPr>
          </a:p>
        </p:txBody>
      </p:sp>
      <p:sp>
        <p:nvSpPr>
          <p:cNvPr id="733440071" name="Google Shape;42;p5"/>
          <p:cNvSpPr txBox="1"/>
          <p:nvPr>
            <p:ph type="body" idx="3"/>
          </p:nvPr>
        </p:nvSpPr>
        <p:spPr bwMode="auto">
          <a:xfrm>
            <a:off x="494110" y="4383881"/>
            <a:ext cx="84867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/>
            </a:pPr>
            <a:r>
              <a:rPr lang="en-US"/>
              <a:t>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655038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994931890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78518319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3" tIns="45699" rIns="91423" bIns="45699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/>
          </a:p>
        </p:txBody>
      </p:sp>
      <p:sp>
        <p:nvSpPr>
          <p:cNvPr id="1642121817" name="TextBox 4"/>
          <p:cNvSpPr txBox="1"/>
          <p:nvPr/>
        </p:nvSpPr>
        <p:spPr bwMode="auto">
          <a:xfrm flipH="0" flipV="0">
            <a:off x="322229" y="182880"/>
            <a:ext cx="7907369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4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Вступление. О математических бильярдах.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430916267" name="Rectangle 5"/>
          <p:cNvSpPr/>
          <p:nvPr/>
        </p:nvSpPr>
        <p:spPr bwMode="auto">
          <a:xfrm>
            <a:off x="249078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93385706" name="Rectangle 6"/>
          <p:cNvSpPr/>
          <p:nvPr/>
        </p:nvSpPr>
        <p:spPr bwMode="auto">
          <a:xfrm flipH="0" flipV="0">
            <a:off x="249077" y="839556"/>
            <a:ext cx="4210123" cy="4189642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9058904" name=""/>
          <p:cNvSpPr txBox="1"/>
          <p:nvPr/>
        </p:nvSpPr>
        <p:spPr bwMode="auto">
          <a:xfrm rot="0" flipH="0" flipV="0">
            <a:off x="249077" y="862416"/>
            <a:ext cx="4268401" cy="414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Бильярды 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это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математические модели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описывающие множество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физических явлений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в которых одна или несколько частиц движутся внутри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некоторой области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сталкиваются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с её стенками и/или друг с другом.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Динамические свойства таких моделей определяются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формой стенок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этой области и могут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варьироваться 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 полностью регулярного (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интегрируемого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движения до полностью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хаотического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4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Наибольший интерес представляют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хаотические бильярды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К ним относятся классические модели абсолютно упругих шаров, изучавшиеся </a:t>
            </a:r>
            <a:r>
              <a:rPr sz="14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Л. Больцманом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в XIX веке, газ </a:t>
            </a:r>
            <a:r>
              <a:rPr sz="14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Лоренца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введённый в 1905 году для описания электрических явлений, а также современные бильярды с рассеивающими границами, предложенные </a:t>
            </a:r>
            <a:r>
              <a:rPr sz="14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Я. Синаем.</a:t>
            </a:r>
            <a:endParaRPr sz="1600" u="sng">
              <a:latin typeface="Open Sans"/>
              <a:cs typeface="Open Sans"/>
            </a:endParaRPr>
          </a:p>
        </p:txBody>
      </p:sp>
      <p:sp>
        <p:nvSpPr>
          <p:cNvPr id="534097293" name=""/>
          <p:cNvSpPr txBox="1"/>
          <p:nvPr/>
        </p:nvSpPr>
        <p:spPr bwMode="auto">
          <a:xfrm rot="0" flipH="0" flipV="0">
            <a:off x="4750623" y="873122"/>
            <a:ext cx="422280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862385025" name=""/>
          <p:cNvSpPr txBox="1"/>
          <p:nvPr/>
        </p:nvSpPr>
        <p:spPr bwMode="auto">
          <a:xfrm rot="0" flipH="0" flipV="0">
            <a:off x="4571999" y="846666"/>
            <a:ext cx="454334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b="1">
                <a:solidFill>
                  <a:srgbClr val="C00000"/>
                </a:solidFill>
              </a:rPr>
              <a:t>Простые примеры бильярда с круглым столом</a:t>
            </a:r>
            <a:r>
              <a:rPr b="1">
                <a:solidFill>
                  <a:srgbClr val="C00000"/>
                </a:solidFill>
              </a:rPr>
              <a:t>:</a:t>
            </a:r>
            <a:endParaRPr b="1">
              <a:solidFill>
                <a:srgbClr val="C00000"/>
              </a:solidFill>
            </a:endParaRPr>
          </a:p>
        </p:txBody>
      </p:sp>
      <p:sp>
        <p:nvSpPr>
          <p:cNvPr id="831977201" name=""/>
          <p:cNvSpPr txBox="1"/>
          <p:nvPr/>
        </p:nvSpPr>
        <p:spPr bwMode="auto">
          <a:xfrm rot="0" flipH="0" flipV="0">
            <a:off x="5104721" y="3092685"/>
            <a:ext cx="3806042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highlight>
                  <a:srgbClr val="FFFF00"/>
                </a:highlight>
              </a:rPr>
              <a:t>Анимация бильярда с окружностью</a:t>
            </a:r>
            <a:endParaRPr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90142414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2030598897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3578651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806730348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4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Периодичность и эргодичность на круге.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825503079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7075892" name="Rectangle 6"/>
          <p:cNvSpPr/>
          <p:nvPr/>
        </p:nvSpPr>
        <p:spPr bwMode="auto">
          <a:xfrm flipH="0" flipV="0">
            <a:off x="459356" y="848356"/>
            <a:ext cx="8503920" cy="2459950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9837341" name=""/>
          <p:cNvSpPr txBox="1"/>
          <p:nvPr/>
        </p:nvSpPr>
        <p:spPr bwMode="auto">
          <a:xfrm rot="0" flipH="0" flipV="0">
            <a:off x="422816" y="848356"/>
            <a:ext cx="8541180" cy="24599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основе анализа бильярдных систем лежит изучение движения частицы, которое можно описать через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отображения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(например, отображение столкновений, где угол падения равен углу отражения, а скорость частицы постоянна и не важна).</a:t>
            </a:r>
            <a:endParaRPr sz="12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Простейший пример — вращение окружности с постоянным шагом. Здесь ключевую роль играет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природа угла поворота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или, в контексте бильярда, отношения угла отражения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к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400">
                          <a:latin typeface="Cambria Math"/>
                          <a:ea typeface="Cambria Math"/>
                          <a:cs typeface="Cambria Math"/>
                        </a:rPr>
                        <m:t>𝜋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(полагаем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&lt; </m:t>
                      </m:r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</a:t>
            </a:r>
            <a:endParaRPr sz="12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39821" indent="-239821">
              <a:buAutoNum type="arabicPeriod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</m:oMath>
                  </m:oMathPara>
                </a14:m>
              </mc:Choice>
              <mc:Fallback/>
            </mc:AlternateContent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— </a:t>
            </a:r>
            <a:r>
              <a:rPr lang="ru-RU"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рациональный </a:t>
            </a:r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множитель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есть</a:t>
            </a:r>
            <a:r>
              <a:rPr lang="ru-RU"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600" b="0" i="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600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f>
                        <m:fPr>
                          <m:ctrlPr>
                            <a:rPr lang="ru-RU" sz="1600" b="0" i="1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ru-RU" sz="160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ru-RU" sz="160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en-US"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</a:t>
            </a:r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несократимая дробь)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вращение называется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периодическим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и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любая точка вернется в исходное положение ровно через n шагов. Траектория замыкается, образуя правильный многоугольник.</a:t>
            </a:r>
            <a:endParaRPr sz="12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39821" indent="-239821">
              <a:buAutoNum type="arabicPeriod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отношение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600" b="0" i="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иррационально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тогда вращение является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эргодическим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относительно меры Лебега.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Траектория с течением времени становится плотной и равномерно распределенной по всей окружности. Более подробно о понятии эргодичности будет сказано позже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0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775781115" name=""/>
          <p:cNvSpPr txBox="1"/>
          <p:nvPr/>
        </p:nvSpPr>
        <p:spPr bwMode="auto">
          <a:xfrm rot="0" flipH="0" flipV="0">
            <a:off x="823336" y="3762962"/>
            <a:ext cx="8000622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highlight>
                  <a:srgbClr val="FFFF00"/>
                </a:highlight>
              </a:rPr>
              <a:t>Анимация периодического и эргодического вращения (частица сталкивается о окружностью, места столкновения помечаются; в первом случае это конкретное конечное число точек, во втором окружность со временем заполняется плотно)</a:t>
            </a:r>
            <a:endParaRPr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45573361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391063792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7857124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836295569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Законы квадратного бильярда. Метод развертки.</a:t>
            </a:r>
            <a:endParaRPr sz="900">
              <a:latin typeface="Open Sans"/>
              <a:cs typeface="Open Sans"/>
            </a:endParaRPr>
          </a:p>
        </p:txBody>
      </p:sp>
      <p:sp>
        <p:nvSpPr>
          <p:cNvPr id="709349303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39398855" name="Rectangle 6"/>
          <p:cNvSpPr/>
          <p:nvPr/>
        </p:nvSpPr>
        <p:spPr bwMode="auto">
          <a:xfrm flipH="0" flipV="0">
            <a:off x="459356" y="848356"/>
            <a:ext cx="8503920" cy="3855346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5266741" name=""/>
          <p:cNvSpPr txBox="1"/>
          <p:nvPr/>
        </p:nvSpPr>
        <p:spPr bwMode="auto">
          <a:xfrm rot="0" flipH="0" flipV="0">
            <a:off x="422816" y="848356"/>
            <a:ext cx="8633340" cy="374542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Пусть</a:t>
            </a:r>
            <a:r>
              <a:rPr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𝑤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обозначает вектор скорости частицы в момент времени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В квадратном бильярде изменение компонент скорости подчиняется строгим правилам, зависящим от типа столкновения со стенкой:</a:t>
            </a:r>
            <a:endParaRPr sz="1200"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ударе о вертикальную стенку горизонтальная компонента меняет знак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вертикальная остается неизменной.</a:t>
            </a:r>
            <a:endParaRPr sz="1200"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ударе о горизонтальную стенку вертикальная компонента меняет знак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горизонтальная остается неизменной.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Следовательно, текущий вектор скорости выражается через начальный вектор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𝑤</m:t>
                          </m:r>
                        </m:e>
                        <m:sub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с помощью формулы:</a:t>
            </a:r>
            <a:endParaRPr sz="1200"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endParaRPr sz="800">
              <a:latin typeface="Open Sans"/>
              <a:cs typeface="Open Sans"/>
            </a:endParaRPr>
          </a:p>
          <a:p>
            <a:pPr indent="274319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sz="16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4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p>
                      </m:sSup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 </m:t>
                      </m:r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и</m:t>
                      </m:r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 </m:t>
                      </m:r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sz="16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4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600"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endParaRPr sz="6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где </a:t>
            </a:r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m </a:t>
            </a:r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</a:t>
            </a:r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n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количество столкновений с вертикальными и горизонтальными стенками соответственно за интервал времени </a:t>
            </a:r>
            <a:r>
              <a:rPr lang="en-US" sz="1200">
                <a:latin typeface="Open Sans"/>
                <a:ea typeface="Open Sans"/>
                <a:cs typeface="Open Sans"/>
              </a:rPr>
              <a:t>(0, t)</a:t>
            </a:r>
            <a:r>
              <a:rPr sz="1200">
                <a:latin typeface="Open Sans"/>
                <a:ea typeface="Open Sans"/>
                <a:cs typeface="Open Sans"/>
              </a:rPr>
              <a:t>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</a:t>
            </a:r>
            <a:r>
              <a:rPr lang="en-US" sz="12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≠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0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v</a:t>
            </a:r>
            <a:r>
              <a:rPr lang="en-US" sz="12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≠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0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частица бесконечно много раз перебирает все возможные комбинации знаков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что демонстрирует активное перемешивание направлений в системе.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Воспользуемся следующим приемом: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вместо того чтобы отражать траекторию частицы от стороны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∂D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мы отражаем сам квадрат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относительно этой стороны и позволяем частице двигаться прямолинейно в зеркальное отображение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Если продолжать делать это при каждом столкновении, наша частица будет двигаться вдоль прямой линии сквозь множество копий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полученных последовательными отражениями. Эта конструкция называется разверткой (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unfolding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бильярдной траектории. Чтобы восстановить исходную траекторию в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нужно «сложить» полученную цепочку соседних копий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обратно в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200"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6412221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478518280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9100694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993798387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метода развертки.</a:t>
            </a:r>
            <a:endParaRPr sz="1800">
              <a:latin typeface="Open Sans"/>
              <a:cs typeface="Open Sans"/>
            </a:endParaRPr>
          </a:p>
        </p:txBody>
      </p:sp>
      <p:sp>
        <p:nvSpPr>
          <p:cNvPr id="2074575164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1241766" name=""/>
          <p:cNvSpPr txBox="1"/>
          <p:nvPr/>
        </p:nvSpPr>
        <p:spPr bwMode="auto">
          <a:xfrm rot="0" flipH="0" flipV="0">
            <a:off x="824351" y="2611778"/>
            <a:ext cx="3011450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>
                <a:highlight>
                  <a:srgbClr val="FFFF00"/>
                </a:highlight>
              </a:rPr>
              <a:t>Анимация квадратного бильярда (рациональный угол наклона</a:t>
            </a:r>
            <a:endParaRPr>
              <a:highlight>
                <a:srgbClr val="FFFF00"/>
              </a:highlight>
            </a:endParaRPr>
          </a:p>
        </p:txBody>
      </p:sp>
      <p:sp>
        <p:nvSpPr>
          <p:cNvPr id="1966861564" name=""/>
          <p:cNvSpPr txBox="1"/>
          <p:nvPr/>
        </p:nvSpPr>
        <p:spPr bwMode="auto">
          <a:xfrm rot="0" flipH="0" flipV="0">
            <a:off x="5280639" y="2398418"/>
            <a:ext cx="3030169" cy="9452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>
                <a:highlight>
                  <a:srgbClr val="FFFF00"/>
                </a:highlight>
              </a:rPr>
              <a:t>Анимация развертки квадратного бильярда (тот же рациональный угол наклона</a:t>
            </a:r>
            <a:r>
              <a:rPr>
                <a:highlight>
                  <a:srgbClr val="FFFF00"/>
                </a:highlight>
              </a:rPr>
              <a:t>, что и слева) и свёртки обратно</a:t>
            </a:r>
            <a:endParaRPr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15855337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974929161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6353776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309675396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метода развертки.</a:t>
            </a:r>
            <a:endParaRPr sz="900">
              <a:latin typeface="Open Sans"/>
              <a:cs typeface="Open Sans"/>
            </a:endParaRPr>
          </a:p>
        </p:txBody>
      </p:sp>
      <p:sp>
        <p:nvSpPr>
          <p:cNvPr id="257096233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088152" name="Rectangle 6"/>
          <p:cNvSpPr/>
          <p:nvPr/>
        </p:nvSpPr>
        <p:spPr bwMode="auto">
          <a:xfrm flipH="0" flipV="0">
            <a:off x="459356" y="848356"/>
            <a:ext cx="8503920" cy="3855346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7146337" name=""/>
          <p:cNvSpPr txBox="1"/>
          <p:nvPr/>
        </p:nvSpPr>
        <p:spPr bwMode="auto">
          <a:xfrm rot="0" flipH="0" flipV="0">
            <a:off x="422816" y="848356"/>
            <a:ext cx="8630820" cy="374542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Пусть</a:t>
            </a:r>
            <a:r>
              <a:rPr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𝑤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обозначает вектор скорости частицы в момент времени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В квадратном бильярде изменение компонент скорости подчиняется строгим правилам, зависящим от типа столкновения со стенкой:</a:t>
            </a:r>
            <a:endParaRPr sz="1200"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ударе о вертикальную стенку горизонтальная компонента меняет знак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вертикальная остается неизменной.</a:t>
            </a:r>
            <a:endParaRPr sz="1200"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ударе о горизонтальную стенку вертикальная компонента меняет знак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горизонтальная остается неизменной.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Следовательно, текущий вектор скорости выражается через начальный вектор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𝑤</m:t>
                          </m:r>
                        </m:e>
                        <m:sub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с помощью формулы:</a:t>
            </a:r>
            <a:endParaRPr sz="1200"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endParaRPr sz="800">
              <a:latin typeface="Open Sans"/>
              <a:cs typeface="Open Sans"/>
            </a:endParaRPr>
          </a:p>
          <a:p>
            <a:pPr indent="274319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sz="16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4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p>
                      </m:sSup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 </m:t>
                      </m:r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и</m:t>
                      </m:r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 </m:t>
                      </m:r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sz="16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4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600"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endParaRPr sz="6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где </a:t>
            </a:r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m </a:t>
            </a:r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</a:t>
            </a:r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n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количество столкновений с вертикальными и горизонтальными стенками соответственно за интервал времени </a:t>
            </a:r>
            <a:r>
              <a:rPr lang="en-US" sz="1200">
                <a:latin typeface="Open Sans"/>
                <a:ea typeface="Open Sans"/>
                <a:cs typeface="Open Sans"/>
              </a:rPr>
              <a:t>(0, t)</a:t>
            </a:r>
            <a:r>
              <a:rPr sz="1200">
                <a:latin typeface="Open Sans"/>
                <a:ea typeface="Open Sans"/>
                <a:cs typeface="Open Sans"/>
              </a:rPr>
              <a:t>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</a:t>
            </a:r>
            <a:r>
              <a:rPr lang="en-US" sz="12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≠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0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v</a:t>
            </a:r>
            <a:r>
              <a:rPr lang="en-US" sz="12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≠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0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частица бесконечно много раз перебирает все возможные комбинации знаков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что демонстрирует активное перемешивание направлений в системе.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Воспользуемся следующим приемом: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вместо того чтобы отражать траекторию частицы от стороны ∂D, мы отражаем сам квадрат D относительно этой стороны и позволяем частице двигаться прямолинейно в зеркальное отображение D. Если продолжать делать это при каждом столкновении, наша частица будет двигаться вдоль прямой линии сквозь множество копий D, полученных последовательными отражениями. Эта конструкция называется разверткой (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unfolding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бильярдной траектории. Чтобы восстановить исходную траекторию в D, нужно «сложить» полученную цепочку соседних копий D обратно в D.</a:t>
            </a:r>
            <a:endParaRPr sz="1200"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6934285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953392277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6485924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511678255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4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Обобщение на эллипс.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800248294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0724462" name="Rectangle 6"/>
          <p:cNvSpPr/>
          <p:nvPr/>
        </p:nvSpPr>
        <p:spPr bwMode="auto">
          <a:xfrm flipH="0" flipV="0">
            <a:off x="459356" y="848356"/>
            <a:ext cx="8503920" cy="2326642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08486575" name=""/>
          <p:cNvSpPr txBox="1"/>
          <p:nvPr/>
        </p:nvSpPr>
        <p:spPr bwMode="auto">
          <a:xfrm rot="0" flipH="0" flipV="0">
            <a:off x="422816" y="848356"/>
            <a:ext cx="8542620" cy="2277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основе анализа бильярдных систем лежит изучение движения частицы, которое можно описать через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отображения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(например, отображение столкновений).</a:t>
            </a:r>
            <a:endParaRPr sz="12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Простейший пример — вращение окружности с постоянным шагом. Здесь ключевую роль играет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природа угла поворота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или, в контексте бильярда, отношения угла отражения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к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400">
                          <a:latin typeface="Cambria Math"/>
                          <a:ea typeface="Cambria Math"/>
                          <a:cs typeface="Cambria Math"/>
                        </a:rPr>
                        <m:t>𝜋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(полагаем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&lt; </m:t>
                      </m:r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</a:t>
            </a:r>
            <a:endParaRPr sz="12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39821" indent="-239821">
              <a:buAutoNum type="arabicPeriod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</m:oMath>
                  </m:oMathPara>
                </a14:m>
              </mc:Choice>
              <mc:Fallback/>
            </mc:AlternateContent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— </a:t>
            </a:r>
            <a:r>
              <a:rPr lang="ru-RU"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рациональный </a:t>
            </a:r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множитель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есть</a:t>
            </a:r>
            <a:r>
              <a:rPr lang="ru-RU"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600" b="0" i="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600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f>
                        <m:fPr>
                          <m:ctrlPr>
                            <a:rPr lang="ru-RU" sz="1600" b="0" i="1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ru-RU" sz="160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ru-RU" sz="160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en-US"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</a:t>
            </a:r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несократимая дробь)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вращение называется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периодическим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и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любая точка вернется в исходное положение ровно через n шагов. Траектория замыкается, образуя правильный многоугольник.</a:t>
            </a:r>
            <a:endParaRPr sz="12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39821" indent="-239821">
              <a:buAutoNum type="arabicPeriod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отношение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600" b="0" i="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иррационально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тогда вращение является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эргодическим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относительно меры Лебега.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Траектория с течением времени становится плотной и равномерно распределенной по всей окружности. Более подробно о понятии эргодичности будет сказано позже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0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1583867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433689700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8165716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/>
          </a:p>
        </p:txBody>
      </p:sp>
      <p:sp>
        <p:nvSpPr>
          <p:cNvPr id="1002882760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6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Вступительная справка.</a:t>
            </a:r>
            <a:endParaRPr>
              <a:latin typeface="Open Sans"/>
              <a:cs typeface="Open Sans"/>
            </a:endParaRPr>
          </a:p>
        </p:txBody>
      </p:sp>
      <p:sp>
        <p:nvSpPr>
          <p:cNvPr id="258900117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93712028" name="Rectangle 6"/>
          <p:cNvSpPr/>
          <p:nvPr/>
        </p:nvSpPr>
        <p:spPr bwMode="auto">
          <a:xfrm flipH="0" flipV="0">
            <a:off x="457197" y="848357"/>
            <a:ext cx="8503921" cy="3856060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3592220" name=""/>
          <p:cNvSpPr txBox="1"/>
          <p:nvPr/>
        </p:nvSpPr>
        <p:spPr bwMode="auto">
          <a:xfrm rot="0" flipH="0" flipV="0">
            <a:off x="422817" y="848357"/>
            <a:ext cx="8676541" cy="38365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b="1">
                <a:latin typeface="Open Sans"/>
                <a:ea typeface="Open Sans"/>
                <a:cs typeface="Open Sans"/>
              </a:rPr>
              <a:t>Скобки</a:t>
            </a:r>
            <a:r>
              <a:rPr b="1">
                <a:latin typeface="Open Sans"/>
                <a:ea typeface="Open Sans"/>
                <a:cs typeface="Open Sans"/>
              </a:rPr>
              <a:t> Пуассона</a:t>
            </a:r>
            <a:r>
              <a:rPr>
                <a:latin typeface="Open Sans"/>
                <a:ea typeface="Open Sans"/>
                <a:cs typeface="Open Sans"/>
              </a:rPr>
              <a:t> определяются следующим образом:</a:t>
            </a:r>
            <a:endParaRPr>
              <a:latin typeface="Open Sans"/>
              <a:ea typeface="Open Sans"/>
              <a:cs typeface="Open Sans"/>
            </a:endParaRPr>
          </a:p>
          <a:p>
            <a:pPr>
              <a:defRPr/>
            </a:pPr>
            <a:endParaRPr sz="800"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u,v</m:t>
                          </m:r>
                        </m:e>
                      </m:d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k=1</m:t>
                          </m:r>
                        </m:sub>
                        <m:sup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∂u</m:t>
                                  </m:r>
                                </m:num>
                                <m:den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</m:t>
                                  </m:r>
                                  <m:sSub>
                                    <m:sSubPr>
                                      <m:ctrlPr>
                                        <a:rPr lang="ru-RU" sz="14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den>
                              </m:f>
                              <m:f>
                                <m:fPr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∂v</m:t>
                                  </m:r>
                                </m:num>
                                <m:den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</m:t>
                                  </m:r>
                                  <m:sSub>
                                    <m:sSubPr>
                                      <m:ctrlPr>
                                        <a:rPr lang="ru-RU" sz="14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p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f>
                                <m:fPr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∂u</m:t>
                                  </m:r>
                                </m:num>
                                <m:den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</m:t>
                                  </m:r>
                                  <m:sSub>
                                    <m:sSubPr>
                                      <m:ctrlPr>
                                        <a:rPr lang="ru-RU" sz="14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p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den>
                              </m:f>
                              <m:f>
                                <m:fPr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∂v</m:t>
                                  </m:r>
                                </m:num>
                                <m:den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</m:t>
                                  </m:r>
                                  <m:sSub>
                                    <m:sSubPr>
                                      <m:ctrlPr>
                                        <a:rPr lang="ru-RU" sz="14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</m:oMath>
                  </m:oMathPara>
                </a14:m>
              </mc:Choice>
              <mc:Fallback/>
            </mc:AlternateContent>
            <a:endParaRPr>
              <a:latin typeface="Open Sans"/>
              <a:ea typeface="Open Sans"/>
              <a:cs typeface="Open Sans"/>
            </a:endParaRPr>
          </a:p>
          <a:p>
            <a:pPr>
              <a:defRPr/>
            </a:pPr>
            <a:endParaRPr sz="800">
              <a:latin typeface="Open Sans"/>
              <a:cs typeface="Open Sans"/>
            </a:endParaRPr>
          </a:p>
          <a:p>
            <a:pPr>
              <a:defRPr/>
            </a:pP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где </a:t>
            </a:r>
            <a:r>
              <a:rPr sz="1400" b="1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</a:t>
            </a:r>
            <a:r>
              <a:rPr sz="1400" b="1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</a:t>
            </a:r>
            <a:r>
              <a:rPr sz="1400" b="1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v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— функции канонических переменных </a:t>
            </a:r>
            <a:r>
              <a:rPr sz="1400" b="1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q</a:t>
            </a:r>
            <a:r>
              <a:rPr sz="1400" b="1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</a:t>
            </a:r>
            <a:r>
              <a:rPr sz="1400" b="1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p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600"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Основные свойства:</a:t>
            </a:r>
            <a:endParaRPr sz="1400"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 lang="en-US" sz="1400" b="1" i="1">
                <a:latin typeface="Open Sans"/>
                <a:ea typeface="Open Sans"/>
                <a:cs typeface="Open Sans"/>
              </a:rPr>
              <a:t>[u, v] = - [v, u], [u, u] = 0</a:t>
            </a:r>
            <a:endParaRPr lang="en-US" sz="1400"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endParaRPr sz="800">
              <a:latin typeface="Open Sans"/>
              <a:cs typeface="Open Sans"/>
            </a:endParaRPr>
          </a:p>
          <a:p>
            <a:pPr indent="91440" algn="l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Скобки Пуассона </a:t>
            </a:r>
            <a:r>
              <a:rPr lang="ru-RU" sz="14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инвариантны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относительно канонических преобразований. Они позволяют записать уравнения движения:</a:t>
            </a:r>
            <a:endParaRPr lang="ru-RU" sz="1400">
              <a:latin typeface="Open Sans"/>
              <a:ea typeface="Open Sans"/>
              <a:cs typeface="Open Sans"/>
            </a:endParaRPr>
          </a:p>
          <a:p>
            <a:pPr algn="l">
              <a:defRPr/>
            </a:pPr>
            <a:endParaRPr sz="800">
              <a:latin typeface="Open Sans"/>
              <a:cs typeface="Open Sans"/>
            </a:endParaRPr>
          </a:p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acc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</m:d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acc>
                        <m:accPr>
                          <m:chr m:val="̇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p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acc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>
              <a:latin typeface="Open Sans"/>
              <a:ea typeface="Open Sans"/>
              <a:cs typeface="Open Sans"/>
            </a:endParaRPr>
          </a:p>
          <a:p>
            <a:pPr algn="l">
              <a:defRPr/>
            </a:pPr>
            <a:endParaRPr sz="800">
              <a:latin typeface="Open Sans"/>
              <a:cs typeface="Open Sans"/>
            </a:endParaRPr>
          </a:p>
          <a:p>
            <a:pPr algn="l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а также полную производную функции 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(q,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p,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t)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</a:t>
            </a:r>
            <a:endParaRPr>
              <a:latin typeface="Open Sans"/>
              <a:ea typeface="Open Sans"/>
              <a:cs typeface="Open Sans"/>
            </a:endParaRPr>
          </a:p>
          <a:p>
            <a:pPr algn="l">
              <a:defRPr/>
            </a:pPr>
            <a:endParaRPr sz="800">
              <a:latin typeface="Open Sans"/>
              <a:cs typeface="Open Sans"/>
            </a:endParaRPr>
          </a:p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du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u,H</m:t>
                          </m:r>
                        </m:e>
                      </m:d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∂u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∂t</m:t>
                          </m:r>
                        </m:den>
                      </m:f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 b="1"/>
          </a:p>
          <a:p>
            <a:pPr algn="l">
              <a:defRPr/>
            </a:pPr>
            <a:endParaRPr sz="80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 algn="l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Кроме того, если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[u, H] = 0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</a:t>
            </a:r>
            <a:r>
              <a:rPr lang="ru-RU" sz="14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первый интеграл движения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6512037" name="Google Shape;48;p6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848805113" name="Google Shape;49;p6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2696280" name="Google Shape;50;p6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ru-RU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8160904" name="Google Shape;51;p6"/>
          <p:cNvSpPr/>
          <p:nvPr/>
        </p:nvSpPr>
        <p:spPr bwMode="auto">
          <a:xfrm flipH="0" flipV="0">
            <a:off x="530351" y="182880"/>
            <a:ext cx="6784848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800"/>
              <a:buFont typeface="Calibri"/>
              <a:buNone/>
              <a:defRPr/>
            </a:pPr>
            <a:r>
              <a:rPr lang="ru-RU" sz="28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Постановка задачи.</a:t>
            </a:r>
            <a:endParaRPr sz="28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123065655" name="Google Shape;52;p6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94062419" name="Google Shape;53;p6"/>
          <p:cNvSpPr/>
          <p:nvPr/>
        </p:nvSpPr>
        <p:spPr bwMode="auto">
          <a:xfrm flipH="0" flipV="0">
            <a:off x="457200" y="754760"/>
            <a:ext cx="8229600" cy="273197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D8B8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57897606" name="Google Shape;57;p6"/>
          <p:cNvSpPr/>
          <p:nvPr/>
        </p:nvSpPr>
        <p:spPr bwMode="auto">
          <a:xfrm>
            <a:off x="457200" y="3749040"/>
            <a:ext cx="8229600" cy="96012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50754" name="Google Shape;58;p6"/>
          <p:cNvSpPr/>
          <p:nvPr/>
        </p:nvSpPr>
        <p:spPr bwMode="auto">
          <a:xfrm flipH="0" flipV="0">
            <a:off x="640080" y="3960394"/>
            <a:ext cx="7772400" cy="65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91440" algn="l" rtl="0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300"/>
              <a:buFont typeface="Calibri"/>
              <a:buNone/>
              <a:defRPr/>
            </a:pPr>
            <a:r>
              <a:rPr lang="ru-RU" sz="1600" b="0" i="0" u="none" strike="noStrike" cap="none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Задача: </a:t>
            </a:r>
            <a:r>
              <a:rPr lang="ru-RU" sz="1600" b="0" i="0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модифицировать </a:t>
            </a:r>
            <a:r>
              <a:rPr lang="ru-RU" sz="1600" b="0" i="0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Г</a:t>
            </a:r>
            <a:r>
              <a:rPr lang="ru-RU" sz="1600" b="0" i="0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амильтонов формализм </a:t>
            </a:r>
            <a:r>
              <a:rPr lang="ru-RU" sz="1600" b="0" i="0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и распространить его </a:t>
            </a:r>
            <a:r>
              <a:rPr lang="ru-RU" sz="1600" b="0" i="0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на непрерывные системы</a:t>
            </a:r>
            <a:r>
              <a:rPr lang="ru-RU" sz="1600" b="0" i="0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600" b="0" i="0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так, чтобы вместо дискретного набора координат </a:t>
            </a:r>
            <a:r>
              <a:rPr lang="ru-RU" sz="1600" b="0" i="1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q</a:t>
            </a:r>
            <a:r>
              <a:rPr lang="ru-RU" sz="1600" b="0" i="1" u="none" strike="noStrike" cap="none" spc="0" baseline="-2500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ᵢ</a:t>
            </a:r>
            <a:r>
              <a:rPr lang="ru-RU" sz="1600" b="0" i="1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(t)</a:t>
            </a:r>
            <a:r>
              <a:rPr lang="ru-RU" sz="1600" b="0" i="0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 работать с полем </a:t>
            </a:r>
            <a:r>
              <a:rPr lang="ru-RU" sz="1600" b="0" i="1" u="none" strike="noStrike" cap="none" spc="0">
                <a:solidFill>
                  <a:srgbClr val="8B1A1A"/>
                </a:solidFill>
                <a:latin typeface="Open Sans"/>
                <a:ea typeface="Open Sans"/>
                <a:cs typeface="Open Sans"/>
              </a:rPr>
              <a:t>η(x, t).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300"/>
              <a:buFont typeface="Calibri"/>
              <a:buNone/>
              <a:defRPr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8231558" name=""/>
          <p:cNvSpPr txBox="1"/>
          <p:nvPr/>
        </p:nvSpPr>
        <p:spPr bwMode="auto">
          <a:xfrm rot="0" flipH="0" flipV="0">
            <a:off x="457199" y="977565"/>
            <a:ext cx="8267538" cy="2286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8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Рассмотренные методы механики справедливы лишь для </a:t>
            </a:r>
            <a:r>
              <a:rPr lang="ru-RU" sz="18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систем с конечным или счетным числом степеней свободы. Од</a:t>
            </a:r>
            <a:r>
              <a:rPr lang="ru-RU" sz="18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нако известны механические задачи, связанные с исследованием </a:t>
            </a:r>
            <a:r>
              <a:rPr lang="ru-RU" sz="18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непрерывных систем, например задача о колебании упругого </a:t>
            </a:r>
            <a:r>
              <a:rPr lang="ru-RU" sz="18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тела. Здесь мы имеем дело с непрерывной системой, каждая </a:t>
            </a:r>
            <a:r>
              <a:rPr lang="ru-RU" sz="18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точка которой принимает участие в колебаниях. Поэтому дви</a:t>
            </a:r>
            <a:r>
              <a:rPr lang="ru-RU" sz="18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жение этого тела может быть описано только посредством за</a:t>
            </a:r>
            <a:r>
              <a:rPr lang="ru-RU" sz="18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дания координат всех его точек как функций времени. </a:t>
            </a:r>
            <a:endParaRPr lang="ru-RU" sz="14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30089969" name="Google Shape;147;p11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2089398282" name="Google Shape;148;p11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74077821" name="Google Shape;149;p11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ru-RU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37888000" name="Google Shape;150;p11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63863081" name="Google Shape;151;p11"/>
          <p:cNvSpPr/>
          <p:nvPr/>
        </p:nvSpPr>
        <p:spPr bwMode="auto">
          <a:xfrm>
            <a:off x="594360" y="1828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20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Переход от дискретной системы к непрерывной.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94662979" name="Google Shape;157;p11"/>
          <p:cNvSpPr/>
          <p:nvPr/>
        </p:nvSpPr>
        <p:spPr bwMode="auto">
          <a:xfrm>
            <a:off x="1993392" y="226771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700"/>
              <a:buFont typeface="Calibri"/>
              <a:buNone/>
              <a:defRPr/>
            </a:pP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93743962" name="Google Shape;167;p11"/>
          <p:cNvSpPr/>
          <p:nvPr/>
        </p:nvSpPr>
        <p:spPr bwMode="auto">
          <a:xfrm flipH="0" flipV="0">
            <a:off x="292256" y="771465"/>
            <a:ext cx="8559486" cy="1185231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8649630" name=""/>
          <p:cNvSpPr txBox="1"/>
          <p:nvPr/>
        </p:nvSpPr>
        <p:spPr bwMode="auto">
          <a:xfrm rot="0" flipH="0" flipV="0">
            <a:off x="290096" y="771465"/>
            <a:ext cx="8567046" cy="1158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Рассмотрим за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дачу о продольных колебаниях бесконечно длинного упругого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стержня.</a:t>
            </a:r>
            <a:r>
              <a:rPr>
                <a:latin typeface="Open Sans"/>
                <a:ea typeface="Open Sans"/>
                <a:cs typeface="Open Sans"/>
              </a:rPr>
              <a:t> Д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искретная система, аппроксимирующая этот стер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жень, состоит из бесконечного числа точек равной массы </a:t>
            </a:r>
            <a:r>
              <a:rPr lang="en-US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m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от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стоящих друг от друга на расстоянии </a:t>
            </a:r>
            <a:r>
              <a:rPr lang="en-US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a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связанных между со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бой невесомыми пружинами с жесткостью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k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Мы бу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дем предполагать, что эти точки могут двигаться только вдоль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прямой, на которой они лежат.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  <p:pic>
        <p:nvPicPr>
          <p:cNvPr id="67279876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444770" y="2089144"/>
            <a:ext cx="6247618" cy="29400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63938005" name="Google Shape;64;p7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905594521" name="Google Shape;65;p7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75576331" name="Google Shape;66;p7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ru-RU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07761801" name="Google Shape;67;p7"/>
          <p:cNvSpPr/>
          <p:nvPr/>
        </p:nvSpPr>
        <p:spPr bwMode="auto">
          <a:xfrm>
            <a:off x="594360" y="18288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20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Гамильтониан непрерывной системы.</a:t>
            </a:r>
            <a:endParaRPr sz="2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971457485" name="Google Shape;68;p7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7542682" name="Google Shape;69;p7"/>
          <p:cNvSpPr/>
          <p:nvPr/>
        </p:nvSpPr>
        <p:spPr bwMode="auto">
          <a:xfrm>
            <a:off x="457200" y="822960"/>
            <a:ext cx="3931920" cy="40233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52932775" name="Google Shape;73;p7"/>
          <p:cNvSpPr/>
          <p:nvPr/>
        </p:nvSpPr>
        <p:spPr bwMode="auto">
          <a:xfrm>
            <a:off x="4663440" y="777039"/>
            <a:ext cx="4023360" cy="402336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D0B0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56260682" name=""/>
          <p:cNvSpPr txBox="1"/>
          <p:nvPr/>
        </p:nvSpPr>
        <p:spPr bwMode="auto">
          <a:xfrm rot="0" flipH="0" flipV="0">
            <a:off x="464998" y="802104"/>
            <a:ext cx="3933838" cy="3561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Обознач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им отклонение 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i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-й точки от положения равновесия че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рез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η</a:t>
            </a:r>
            <a:r>
              <a:rPr lang="en-US" b="1" i="1" baseline="-25000">
                <a:latin typeface="Open Sans"/>
                <a:ea typeface="Open Sans"/>
                <a:cs typeface="Open Sans"/>
              </a:rPr>
              <a:t>i</a:t>
            </a:r>
            <a:r>
              <a:rPr lang="en-US" i="1">
                <a:latin typeface="Open Sans"/>
                <a:ea typeface="Open Sans"/>
                <a:cs typeface="Open Sans"/>
              </a:rPr>
              <a:t>. </a:t>
            </a:r>
            <a:r>
              <a:rPr lang="ru-RU" i="0">
                <a:latin typeface="Open Sans"/>
                <a:ea typeface="Open Sans"/>
                <a:cs typeface="Open Sans"/>
              </a:rPr>
              <a:t>Каждой такой </a:t>
            </a:r>
            <a:r>
              <a:rPr lang="ru-RU" i="0" u="sng">
                <a:latin typeface="Open Sans"/>
                <a:ea typeface="Open Sans"/>
                <a:cs typeface="Open Sans"/>
              </a:rPr>
              <a:t>обобщенной координате</a:t>
            </a:r>
            <a:r>
              <a:rPr lang="ru-RU" i="0"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бу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дет соответствовать канонический импульс</a:t>
            </a:r>
            <a:endParaRPr lang="ru-RU"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sz="8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∂L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=a</m:t>
                      </m:r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endParaRPr lang="ru-RU" sz="1400" b="1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sz="800" b="1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cs typeface="Open Sans"/>
              </a:rPr>
              <a:t>Легко видеть,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что когда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а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стремится к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нулю,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каждый импульс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p</a:t>
            </a:r>
            <a:r>
              <a:rPr lang="ru-RU" sz="14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i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тоже стремится к нулю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*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r>
              <a:rPr>
                <a:latin typeface="Open Sans"/>
                <a:ea typeface="Open Sans"/>
                <a:cs typeface="Open Sans"/>
              </a:rPr>
              <a:t> 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Введем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удельный импульс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π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определив его равенством</a:t>
            </a:r>
            <a:r>
              <a:rPr>
                <a:latin typeface="Open Sans"/>
                <a:ea typeface="Open Sans"/>
                <a:cs typeface="Open Sans"/>
              </a:rPr>
              <a:t>:</a:t>
            </a:r>
            <a:endParaRPr lang="ru-RU" sz="14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  <a:p>
            <a:pPr indent="91440">
              <a:defRPr/>
            </a:pPr>
            <a:endParaRPr>
              <a:latin typeface="Open Sans"/>
              <a:ea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π=</m:t>
                      </m:r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r>
                            <m:rPr>
                              <m:sty m:val="b"/>
                            </m:rPr>
                            <a:rPr sz="12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ℒ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acc>
                            <m:accPr>
                              <m:chr m:val="̇"/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den>
                      </m:f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 b="1">
              <a:latin typeface="Open Sans"/>
              <a:ea typeface="Open Sans"/>
              <a:cs typeface="Open Sans"/>
            </a:endParaRPr>
          </a:p>
          <a:p>
            <a:pPr indent="91440">
              <a:defRPr/>
            </a:pPr>
            <a:endParaRPr sz="14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383220919" name=""/>
          <p:cNvSpPr txBox="1"/>
          <p:nvPr/>
        </p:nvSpPr>
        <p:spPr bwMode="auto">
          <a:xfrm rot="0" flipH="0" flipV="0">
            <a:off x="4676051" y="777038"/>
            <a:ext cx="4112766" cy="397431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Кроме того, введем понятие у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дельного гамильтониана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понимая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под ним величину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sz="800" b="0"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sz="14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=π</m:t>
                      </m:r>
                      <m:acc>
                        <m:accPr>
                          <m:chr m:val="̇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η</m:t>
                          </m:r>
                        </m:e>
                      </m:acc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r>
                        <m:rPr>
                          <m:sty m:val="b"/>
                        </m:rPr>
                        <a:rPr sz="12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ℒ</m:t>
                      </m:r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>
              <a:latin typeface="Open Sans"/>
              <a:cs typeface="Open Sans"/>
            </a:endParaRPr>
          </a:p>
          <a:p>
            <a:pPr>
              <a:defRPr/>
            </a:pPr>
            <a:endParaRPr sz="800">
              <a:latin typeface="Open Sans"/>
              <a:cs typeface="Open Sans"/>
            </a:endParaRPr>
          </a:p>
          <a:p>
            <a:pPr>
              <a:defRPr/>
            </a:pPr>
            <a:r>
              <a:rPr>
                <a:latin typeface="Open Sans"/>
                <a:ea typeface="Open Sans"/>
                <a:cs typeface="Open Sans"/>
              </a:rPr>
              <a:t>Гамильтониан этой системы будет равен</a:t>
            </a:r>
            <a:endParaRPr>
              <a:latin typeface="Open Sans"/>
              <a:cs typeface="Open Sans"/>
            </a:endParaRPr>
          </a:p>
          <a:p>
            <a:pPr>
              <a:defRPr/>
            </a:pPr>
            <a:endParaRPr sz="800"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H≡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-L=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nary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-L</m:t>
                      </m:r>
                    </m:oMath>
                  </m:oMathPara>
                </a14:m>
              </mc:Choice>
              <mc:Fallback/>
            </mc:AlternateContent>
            <a:endParaRPr sz="1400" b="1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endParaRPr sz="80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или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ru-RU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ru-RU" sz="16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ctrlPr>
                            <a:rPr lang="ru-RU" sz="16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6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sSub>
                                <m:sSubPr>
                                  <m:ctrlPr>
                                    <a:rPr lang="ru-RU" sz="16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</m:t>
                                  </m:r>
                                </m:e>
                                <m:sub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sSub>
                                <m:sSubPr>
                                  <m:ctrlPr>
                                    <a:rPr lang="ru-RU" sz="16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ru-RU" sz="16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η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sSub>
                            <m:sSubPr>
                              <m:ctrlPr>
                                <a:rPr lang="ru-RU" sz="16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6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ru-RU" sz="16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sz="1600" b="1">
              <a:latin typeface="Open Sans"/>
              <a:cs typeface="Open Sans"/>
            </a:endParaRPr>
          </a:p>
          <a:p>
            <a:pPr algn="ctr">
              <a:defRPr/>
            </a:pPr>
            <a:endParaRPr sz="700" b="1">
              <a:latin typeface="Open Sans"/>
              <a:cs typeface="Open Sans"/>
            </a:endParaRPr>
          </a:p>
          <a:p>
            <a:pPr algn="l">
              <a:defRPr/>
            </a:pPr>
            <a:r>
              <a:rPr b="0">
                <a:latin typeface="Open Sans"/>
                <a:ea typeface="Open Sans"/>
                <a:cs typeface="Open Sans"/>
              </a:rPr>
              <a:t>В пределе же, когда </a:t>
            </a:r>
            <a:r>
              <a:rPr lang="en-US" b="0">
                <a:latin typeface="Open Sans"/>
                <a:ea typeface="Open Sans"/>
                <a:cs typeface="Open Sans"/>
              </a:rPr>
              <a:t>a </a:t>
            </a:r>
            <a:r>
              <a:rPr lang="en-US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→</a:t>
            </a:r>
            <a:r>
              <a:rPr lang="ru-RU" b="0">
                <a:latin typeface="Open Sans"/>
                <a:ea typeface="Open Sans"/>
                <a:cs typeface="Open Sans"/>
              </a:rPr>
              <a:t> 0</a:t>
            </a:r>
            <a:r>
              <a:rPr lang="en-US" b="0">
                <a:latin typeface="Open Sans"/>
                <a:ea typeface="Open Sans"/>
                <a:cs typeface="Open Sans"/>
              </a:rPr>
              <a:t>, </a:t>
            </a:r>
            <a:r>
              <a:rPr lang="ru-RU" b="0">
                <a:latin typeface="Open Sans"/>
                <a:ea typeface="Open Sans"/>
                <a:cs typeface="Open Sans"/>
              </a:rPr>
              <a:t>и </a:t>
            </a:r>
            <a:r>
              <a:rPr lang="en-US" b="0">
                <a:latin typeface="Open Sans"/>
                <a:ea typeface="Open Sans"/>
                <a:cs typeface="Open Sans"/>
              </a:rPr>
              <a:t>L</a:t>
            </a:r>
            <a:r>
              <a:rPr lang="en-US" b="0" baseline="-25000">
                <a:latin typeface="Open Sans"/>
                <a:ea typeface="Open Sans"/>
                <a:cs typeface="Open Sans"/>
              </a:rPr>
              <a:t>i</a:t>
            </a:r>
            <a:r>
              <a:rPr lang="en-US" b="0">
                <a:latin typeface="Open Sans"/>
                <a:ea typeface="Open Sans"/>
                <a:cs typeface="Open Sans"/>
              </a:rPr>
              <a:t> </a:t>
            </a:r>
            <a:r>
              <a:rPr lang="en-US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→</a:t>
            </a:r>
            <a:r>
              <a:rPr lang="en-US" b="0"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ℒ</m:t>
                      </m:r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учитывая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*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эта сумма переходит в интеграл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algn="l">
              <a:defRPr/>
            </a:pPr>
            <a:endParaRPr sz="8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r>
                                <m:rPr>
                                  <m:sty m:val="b"/>
                                </m:rPr>
                                <a:rPr sz="12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ℒ</m:t>
                              </m:r>
                            </m:num>
                            <m:den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acc>
                                <m:accPr>
                                  <m:chr m:val="̇"/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den>
                          </m:f>
                          <m:acc>
                            <m:accPr>
                              <m:chr m:val="̇"/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r>
                            <m:rPr>
                              <m:sty m:val="b"/>
                            </m:rPr>
                            <a:rPr sz="12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ℒ</m:t>
                          </m:r>
                        </m:e>
                      </m:d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b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ℋ</m:t>
                          </m:r>
                        </m:e>
                      </m:nary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dx</m:t>
                      </m:r>
                    </m:oMath>
                  </m:oMathPara>
                </a14:m>
              </mc:Choice>
              <mc:Fallback/>
            </mc:AlternateContent>
            <a:endParaRPr sz="1400" b="1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60752699" name="Google Shape;64;p7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759079910" name="Google Shape;65;p7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903305" name="Google Shape;66;p7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ru-RU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4332759" name="Google Shape;67;p7"/>
          <p:cNvSpPr/>
          <p:nvPr/>
        </p:nvSpPr>
        <p:spPr bwMode="auto">
          <a:xfrm>
            <a:off x="594360" y="18288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17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Аналоги уравнений Гамильтона в непрерывной системе.</a:t>
            </a:r>
            <a:endParaRPr sz="2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461931954" name="Google Shape;68;p7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30753331" name="Google Shape;69;p7"/>
          <p:cNvSpPr/>
          <p:nvPr/>
        </p:nvSpPr>
        <p:spPr bwMode="auto">
          <a:xfrm flipH="0" flipV="0">
            <a:off x="457200" y="799999"/>
            <a:ext cx="3931920" cy="404632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9956459" name="Google Shape;73;p7"/>
          <p:cNvSpPr/>
          <p:nvPr/>
        </p:nvSpPr>
        <p:spPr bwMode="auto">
          <a:xfrm>
            <a:off x="4663440" y="764506"/>
            <a:ext cx="4023360" cy="402336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D0B0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6569338" name=""/>
          <p:cNvSpPr txBox="1"/>
          <p:nvPr/>
        </p:nvSpPr>
        <p:spPr bwMode="auto">
          <a:xfrm rot="0" flipH="0" flipV="0">
            <a:off x="436919" y="799031"/>
            <a:ext cx="3958679" cy="400161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случае трехмерной системы с несколькими обобщенными коор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динатами мы будем иметь аналогичную формул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у:</a:t>
            </a:r>
            <a:endParaRPr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∭"/>
                          <m:grow m:val="off"/>
                          <m:subHide m:val="on"/>
                          <m:supHide m:val="on"/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/>
                            <a:rPr sz="1400">
                              <a:latin typeface="Cambria Math"/>
                              <a:ea typeface="Cambria Math"/>
                              <a:cs typeface="Cambria Math"/>
                            </a:rPr>
                            <m:t>ℋ</m:t>
                          </m:r>
                        </m:e>
                      </m:nary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∭"/>
                          <m:grow m:val="off"/>
                          <m:subHide m:val="on"/>
                          <m:supHide m:val="on"/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grow m:val="off"/>
                                  <m:limLoc m:val="undOvr"/>
                                  <m:supHide m:val="on"/>
                                  <m:ctrl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π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sSubPr>
                                  <m:ctrl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η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-ℒ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где: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∂ℒ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δL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endParaRPr sz="140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>
                <a:latin typeface="Open Sans"/>
                <a:ea typeface="Open Sans"/>
                <a:cs typeface="Open Sans"/>
              </a:rPr>
              <a:t>а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δL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—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функциональная (вариационная)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производная лагранжиана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L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по</a:t>
            </a:r>
            <a:r>
              <a:rPr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определяемая как: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δL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  <m:sSub>
                            <m:sSubPr>
                              <m:ctrl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∂ℒ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  <m:e>
                          <m:f>
                            <m:fPr>
                              <m:ctrl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d>
                        <m:dPr>
                          <m:begChr m:val="("/>
                          <m:endChr m:val=")"/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∂ℒ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sSubPr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</m:oMath>
                  </m:oMathPara>
                </a14:m>
              </mc:Choice>
              <mc:Fallback/>
            </mc:AlternateContent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  <p:sp>
        <p:nvSpPr>
          <p:cNvPr id="1914641945" name=""/>
          <p:cNvSpPr txBox="1"/>
          <p:nvPr/>
        </p:nvSpPr>
        <p:spPr bwMode="auto">
          <a:xfrm rot="0" flipH="0" flipV="0">
            <a:off x="4676052" y="764506"/>
            <a:ext cx="4093326" cy="390604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Мы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будем считать, что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sz="14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есть функция обобщённых координат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η</a:t>
            </a:r>
            <a:r>
              <a:rPr lang="en-US" sz="14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k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(x</a:t>
            </a:r>
            <a:r>
              <a:rPr lang="en-US" sz="14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j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t)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удельных канонических импульсов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en-US" sz="14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k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(x</a:t>
            </a:r>
            <a:r>
              <a:rPr lang="en-US" sz="14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j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t)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производ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cs typeface="Open Sans"/>
              </a:rPr>
              <a:t>ны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 и, возможно, времени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cs typeface="Open Sans"/>
              </a:rPr>
              <a:t>Тогда имеем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cs typeface="Open Sans"/>
              </a:rPr>
              <a:t>канонические уравнения движения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cs typeface="Open Sans"/>
              </a:rPr>
              <a:t> в виде системы уравнений</a:t>
            </a:r>
            <a:endParaRPr lang="ru-RU"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lang="ru-RU"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δH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  <m:sSub>
                            <m:sSubPr>
                              <m:ctrlPr>
                                <a:rPr lang="ru-RU" sz="16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6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f>
                        <m:fPr>
                          <m:ctrl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δH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  <m:sSub>
                            <m:sSubPr>
                              <m:ctrlPr>
                                <a:rPr lang="ru-RU" sz="16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6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ru-RU" sz="16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lang="ru-RU" sz="16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cs typeface="Open Sans"/>
              </a:rPr>
              <a:t>и тождества</a:t>
            </a:r>
            <a:endParaRPr lang="ru-RU"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∂t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f>
                        <m:fPr>
                          <m:ctrlPr>
                            <a:rPr lang="ru-RU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∂ℒ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∂t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 lang="ru-RU"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lang="ru-RU" sz="16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Уравнения являются аналогами обычных уравнений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Гамильтона и справедливы для произвольной непрерывной си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стемы. </a:t>
            </a:r>
            <a:endParaRPr lang="ru-RU" sz="16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43006601" name="Google Shape;64;p7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19952104" name="Google Shape;65;p7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3201545" name="Google Shape;66;p7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ru-RU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985696" name="Google Shape;67;p7"/>
          <p:cNvSpPr/>
          <p:nvPr/>
        </p:nvSpPr>
        <p:spPr bwMode="auto">
          <a:xfrm>
            <a:off x="594360" y="18288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17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Звуковые колебания в газах.</a:t>
            </a:r>
            <a:endParaRPr sz="2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877187289" name="Google Shape;68;p7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6524864" name="Google Shape;69;p7"/>
          <p:cNvSpPr/>
          <p:nvPr/>
        </p:nvSpPr>
        <p:spPr bwMode="auto">
          <a:xfrm flipH="0" flipV="0">
            <a:off x="457200" y="799999"/>
            <a:ext cx="3931920" cy="404632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33272826" name="Google Shape;73;p7"/>
          <p:cNvSpPr/>
          <p:nvPr/>
        </p:nvSpPr>
        <p:spPr bwMode="auto">
          <a:xfrm>
            <a:off x="4663440" y="764506"/>
            <a:ext cx="4023360" cy="402336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D0B0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76033788" name=""/>
          <p:cNvSpPr txBox="1"/>
          <p:nvPr/>
        </p:nvSpPr>
        <p:spPr bwMode="auto">
          <a:xfrm rot="0" flipH="0" flipV="0">
            <a:off x="436919" y="799031"/>
            <a:ext cx="3992159" cy="374080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качестве простого примера применения этих уравнений рас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смотрим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задачу о </a:t>
            </a:r>
            <a:r>
              <a:rPr lang="ru-RU" sz="14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про</a:t>
            </a:r>
            <a:r>
              <a:rPr lang="ru-RU" sz="14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дольных колебаниях газа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Эти колебания образуют так назы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ваемое звуковое поле, и уравнение, которое мы получим, будет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волновым уравнением распространения звуковой волны. Пере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мещение частиц газа будем характеризовать векторо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η</m:t>
                      </m:r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с составляющими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η</m:t>
                      </m:r>
                    </m:oMath>
                  </m:oMathPara>
                </a14:m>
              </mc:Choice>
              <mc:Fallback/>
            </mc:AlternateContent>
            <a:r>
              <a:rPr lang="en-US" sz="1400" b="1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i</a:t>
            </a:r>
            <a:r>
              <a:rPr lang="en-US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(i = 1, 2, 3)</a:t>
            </a:r>
            <a:r>
              <a:rPr lang="en-US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Следовательно, каждая точка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х,</a:t>
            </a:r>
            <a:r>
              <a:rPr lang="en-US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у, z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будет характеризоваться тремя относящимися к ней обоб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щенными координатами. Колебания газа мы будем считать ма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лыми и поэтому давление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плотность </a:t>
            </a:r>
            <a:r>
              <a:rPr sz="1400" b="1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μ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будем считать мало</a:t>
            </a:r>
            <a:r>
              <a:rPr lang="en-US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отличающимися от их равновесных значений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</a:t>
            </a:r>
            <a:r>
              <a:rPr lang="ru-RU" sz="1400" b="1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</a:t>
            </a:r>
            <a:r>
              <a:rPr sz="1400" b="1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μ</a:t>
            </a:r>
            <a:r>
              <a:rPr lang="en-US" sz="1400" b="1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en-US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  <p:sp>
        <p:nvSpPr>
          <p:cNvPr id="1866656571" name=""/>
          <p:cNvSpPr txBox="1"/>
          <p:nvPr/>
        </p:nvSpPr>
        <p:spPr bwMode="auto">
          <a:xfrm rot="0" flipH="0" flipV="0">
            <a:off x="4676052" y="764506"/>
            <a:ext cx="4161726" cy="343125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Величины</a:t>
            </a:r>
            <a:r>
              <a:rPr lang="en-US"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будут</a:t>
            </a:r>
            <a:r>
              <a:rPr lang="en-US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здесь равны</a:t>
            </a:r>
            <a:r>
              <a:rPr lang="en-US"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en-US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i"/>
                                </m:rPr>
                                <a:rPr lang="en-US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en-US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</m:oMath>
                  </m:oMathPara>
                </a14:m>
              </mc:Choice>
              <mc:Fallback/>
            </mc:AlternateContent>
            <a:endParaRPr b="1" i="1"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что можно записать в виде векторного равенства</a:t>
            </a:r>
            <a:r>
              <a:rPr lang="en-US" b="0" i="0"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lang="en-US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π=</m:t>
                      </m:r>
                      <m:sSub>
                        <m:sSubPr>
                          <m:ctrlPr>
                            <a:rPr lang="en-US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η</m:t>
                          </m:r>
                        </m:e>
                      </m:acc>
                      <m:r>
                        <m:rPr>
                          <m:sty m:val="bi"/>
                        </m:rPr>
                        <a:rPr lang="en-US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 b="1" i="1"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b="0" i="0">
                <a:latin typeface="Open Sans"/>
                <a:ea typeface="Open Sans"/>
                <a:cs typeface="Open Sans"/>
              </a:rPr>
              <a:t>Чтобы получить удельный лагранжиан</a:t>
            </a:r>
            <a:endParaRPr b="0" i="0"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b="0" i="0"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ℒ</m:t>
                      </m:r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=𝒯-𝒱,</m:t>
                      </m:r>
                    </m:oMath>
                  </m:oMathPara>
                </a14:m>
              </mc:Choice>
              <mc:Fallback/>
            </mc:AlternateContent>
            <a:r>
              <a:rPr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найдём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удельную кинетическую энергию и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удельную потенциальную энергию.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Кинетическая энергия единицы объёма газа с плотностью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en-US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скоростью частиц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η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𝒯</m:t>
                      </m:r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p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сжатии газа его объём меняется. Рассмотрим малый объём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V</a:t>
            </a:r>
            <a:r>
              <a:rPr lang="ru-RU" sz="1400" b="1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​. Относительное изменение объёма связано с дивергенцией смещения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α=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ΔV</m:t>
                          </m:r>
                        </m:num>
                        <m:den>
                          <m:sSub>
                            <m:sSub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=-∇⋅η.</m:t>
                      </m:r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04873185" name="Google Shape;64;p7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248090537" name="Google Shape;65;p7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58470306" name="Google Shape;66;p7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ru-RU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98538084" name="Google Shape;67;p7"/>
          <p:cNvSpPr/>
          <p:nvPr/>
        </p:nvSpPr>
        <p:spPr bwMode="auto">
          <a:xfrm>
            <a:off x="594360" y="18288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17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Звуковые колебания в газах.</a:t>
            </a:r>
            <a:endParaRPr sz="2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969927415" name="Google Shape;68;p7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86420606" name="Google Shape;69;p7"/>
          <p:cNvSpPr/>
          <p:nvPr/>
        </p:nvSpPr>
        <p:spPr bwMode="auto">
          <a:xfrm flipH="0" flipV="0">
            <a:off x="457200" y="799999"/>
            <a:ext cx="3931920" cy="404632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5336061" name="Google Shape;73;p7"/>
          <p:cNvSpPr/>
          <p:nvPr/>
        </p:nvSpPr>
        <p:spPr bwMode="auto">
          <a:xfrm>
            <a:off x="4663440" y="764506"/>
            <a:ext cx="4023360" cy="402336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D0B0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88191458" name=""/>
          <p:cNvSpPr txBox="1"/>
          <p:nvPr/>
        </p:nvSpPr>
        <p:spPr bwMode="auto">
          <a:xfrm rot="0" flipH="0" flipV="0">
            <a:off x="436919" y="799031"/>
            <a:ext cx="4043279" cy="397323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Давление при адиабатическом сжатии меняется по закону: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P=</m:t>
                      </m:r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400" b="1" i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i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∂P</m:t>
                                  </m:r>
                                </m:num>
                                <m:den>
                                  <m:r>
                                    <m:rPr>
                                      <m:sty m:val="bi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ΔV.</m:t>
                      </m:r>
                    </m:oMath>
                  </m:oMathPara>
                </a14:m>
              </mc:Choice>
              <mc:Fallback/>
            </mc:AlternateContent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Из того, что PV</a:t>
            </a:r>
            <a:r>
              <a:rPr lang="ru-RU" sz="1400" b="0" i="0" u="none" strike="noStrike" cap="none" spc="0" baseline="30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γ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= const следует: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400" b="1" i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i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∂P</m:t>
                                  </m:r>
                                </m:num>
                                <m:den>
                                  <m:r>
                                    <m:rPr>
                                      <m:sty m:val="bi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  <m:sSub>
                            <m:sSub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Тогда работа, совершаемая над единицей объёма при сжатии (то есть потенциальная энергия):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𝒱</m:t>
                      </m:r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γ</m:t>
                      </m:r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e>
                        <m:sup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γ</m:t>
                      </m:r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∇⋅η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этом выражении опускается слагаемое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∇⋅η</m:t>
                      </m:r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так как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газ не выходит за пределы поверхности, охватывающей весь объём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Наконец, имеем удельный лагранжиан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ℒ</m:t>
                      </m:r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=𝒯-𝒱=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p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γ</m:t>
                      </m:r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∇⋅η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  <p:sp>
        <p:nvSpPr>
          <p:cNvPr id="908638854" name=""/>
          <p:cNvSpPr txBox="1"/>
          <p:nvPr/>
        </p:nvSpPr>
        <p:spPr bwMode="auto">
          <a:xfrm rot="0" flipH="0" flipV="0">
            <a:off x="4676052" y="764506"/>
            <a:ext cx="4011467" cy="36087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Удельный гамильтониан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4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будет в этом случае равен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=π⋅</m:t>
                      </m:r>
                      <m:acc>
                        <m:accPr>
                          <m:chr m:val="̇"/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η</m:t>
                          </m:r>
                        </m:e>
                      </m:acc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-ℒ=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  <m:sup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sSub>
                            <m:sSub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∇⋅η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 sz="1400" b="1" i="1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sz="1400" b="1" i="1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Отсюда видно, что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=𝒯+𝒱,</m:t>
                      </m:r>
                    </m:oMath>
                  </m:oMathPara>
                </a14:m>
              </mc:Choice>
              <mc:Fallback/>
            </mc:AlternateContent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т. е. равно сумме удельной кинетической и удельной потенциаль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ной энергий. Поэтому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sz="1400">
                          <a:latin typeface="Cambria Math"/>
                          <a:ea typeface="Cambria Math"/>
                          <a:cs typeface="Cambria Math"/>
                        </a:rPr>
                        <m:t>ℋ</m:t>
                      </m:r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в данном случае есть просто удельная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энергия. Таким образом, канонические уравнения данной си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стемы будут иметь вид: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   -</m:t>
                      </m:r>
                      <m:sSub>
                        <m:sSub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sSub>
                            <m:sSub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dx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d>
                        <m:dPr>
                          <m:begChr m:val="("/>
                          <m:endChr m:val=")"/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400" b="1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γ∇⋅η</m:t>
                          </m:r>
                        </m:e>
                      </m:d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</mc:Choice>
              <mc:Fallback/>
            </mc:AlternateContent>
            <a:endParaRPr lang="ru-RU" sz="14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9879159" name="Google Shape;64;p7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212163823" name="Google Shape;65;p7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4149928" name="Google Shape;66;p7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ru-RU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88126270" name="Google Shape;67;p7"/>
          <p:cNvSpPr/>
          <p:nvPr/>
        </p:nvSpPr>
        <p:spPr bwMode="auto">
          <a:xfrm>
            <a:off x="594360" y="18288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18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Аналог скобок Пуассона.</a:t>
            </a:r>
            <a:endParaRPr sz="2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691563453" name="Google Shape;68;p7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46853324" name="Google Shape;69;p7"/>
          <p:cNvSpPr/>
          <p:nvPr/>
        </p:nvSpPr>
        <p:spPr bwMode="auto">
          <a:xfrm flipH="0" flipV="0">
            <a:off x="457200" y="799031"/>
            <a:ext cx="3931920" cy="404632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57805927" name="Google Shape;73;p7"/>
          <p:cNvSpPr/>
          <p:nvPr/>
        </p:nvSpPr>
        <p:spPr bwMode="auto">
          <a:xfrm>
            <a:off x="4663440" y="764506"/>
            <a:ext cx="4023360" cy="402336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D0B0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2678172" name=""/>
          <p:cNvSpPr txBox="1"/>
          <p:nvPr/>
        </p:nvSpPr>
        <p:spPr bwMode="auto">
          <a:xfrm rot="0" flipH="0" flipV="0">
            <a:off x="436919" y="799031"/>
            <a:ext cx="3888606" cy="375810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Рассмотрим теперь какую-либо функцию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G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не зависящую явно от t и имеющую вид интеграла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G=</m:t>
                      </m:r>
                      <m:nary>
                        <m:naryPr>
                          <m:chr m:val="∭"/>
                          <m:grow m:val="off"/>
                          <m:subHide m:val="on"/>
                          <m:supHide m:val="on"/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𝔊</m:t>
                          </m:r>
                        </m:e>
                      </m:nary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cs typeface="Open Sans"/>
              </a:rPr>
              <a:t>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Полная производная ее по времени будет равна</a:t>
            </a:r>
            <a:endParaRPr lang="ru-RU"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sz="8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∭"/>
                          <m:grow m:val="off"/>
                          <m:subHide m:val="on"/>
                          <m:supHide m:val="on"/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/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δG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δG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π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</m:oMath>
                  </m:oMathPara>
                </a14:m>
              </mc:Choice>
              <mc:Fallback/>
            </mc:AlternateContent>
            <a:endParaRPr lang="ru-RU"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sz="8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что с помощью уравнений движения можно записать в виде</a:t>
            </a:r>
            <a:endParaRPr lang="ru-RU"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sz="8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∭"/>
                          <m:grow m:val="off"/>
                          <m:subHide m:val="on"/>
                          <m:supHide m:val="on"/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/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δG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  <m:f>
                                    <m:f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δH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π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f>
                                    <m:f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δG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π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  <m:f>
                                    <m:fPr>
                                      <m:ctrl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δH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40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ru-RU"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endParaRPr sz="8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Но правая часть этого равенства является очевидным аналогом </a:t>
            </a:r>
            <a:r>
              <a:rPr lang="ru-RU" sz="14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скобок Пуассона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[G,H]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</a:t>
            </a:r>
            <a:endParaRPr lang="ru-RU"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  <p:sp>
        <p:nvSpPr>
          <p:cNvPr id="654414194" name=""/>
          <p:cNvSpPr txBox="1"/>
          <p:nvPr/>
        </p:nvSpPr>
        <p:spPr bwMode="auto">
          <a:xfrm rot="0" flipH="0" flipV="0">
            <a:off x="4676052" y="764506"/>
            <a:ext cx="4055026" cy="36595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Суммирование по обобщенным координатам заменяется здесь интегрированием по «непрерывным номерам»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x</a:t>
            </a:r>
            <a:r>
              <a:rPr lang="ru-RU" sz="1400" b="1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1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,x</a:t>
            </a:r>
            <a:r>
              <a:rPr lang="ru-RU" sz="1400" b="1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2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,x</a:t>
            </a:r>
            <a:r>
              <a:rPr lang="ru-RU" sz="1400" b="1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3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дискретному индексу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k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Поэтому можем написать</a:t>
            </a:r>
            <a:endParaRPr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dG</m:t>
                          </m:r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G,H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а в случае, когда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G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будет явной функцией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мы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получим</a:t>
            </a:r>
            <a:endParaRPr>
              <a:latin typeface="Open Sans"/>
              <a:cs typeface="Open Sans"/>
            </a:endParaRPr>
          </a:p>
          <a:p>
            <a:pPr indent="9144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dG</m:t>
                          </m:r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den>
                      </m:f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G,H</m:t>
                          </m:r>
                        </m:e>
                      </m:d>
                      <m:r>
                        <m:rPr>
                          <m:sty m:val="bi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ru-RU" sz="140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∂G</m:t>
                          </m:r>
                        </m:num>
                        <m:den>
                          <m:r>
                            <m:rPr>
                              <m:sty m:val="b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∂t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sz="140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9144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Следовательно, если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G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не является явной функцией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скобки Пуассона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[G,H]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обращаются в нуль, то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G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будет сохраняться постоянным. Заметим, что этот результат справедлив и тогда, когда </a:t>
            </a: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G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есть функция пространственных производных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η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или </a:t>
            </a:r>
            <a:r>
              <a:rPr lang="ru-RU" sz="14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π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lang="ru-RU" sz="14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9062600" name="Google Shape;195;p13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759897667" name="Google Shape;196;p13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2008141740" name="Google Shape;197;p13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en-US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  <a:r>
              <a:rPr lang="ru-RU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  <a:endParaRPr sz="1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2051025574" name="Google Shape;198;p13"/>
          <p:cNvSpPr/>
          <p:nvPr/>
        </p:nvSpPr>
        <p:spPr bwMode="auto">
          <a:xfrm>
            <a:off x="594360" y="1828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24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Аналогии с дискретной системой.</a:t>
            </a:r>
            <a:endParaRPr sz="2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066903614" name="Google Shape;199;p13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521959392" name="Google Shape;200;p13"/>
          <p:cNvSpPr/>
          <p:nvPr/>
        </p:nvSpPr>
        <p:spPr bwMode="auto">
          <a:xfrm flipH="0" flipV="0">
            <a:off x="457200" y="804672"/>
            <a:ext cx="8229599" cy="4114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202156019" name="Google Shape;201;p13"/>
          <p:cNvSpPr/>
          <p:nvPr/>
        </p:nvSpPr>
        <p:spPr bwMode="auto">
          <a:xfrm flipH="0" flipV="0">
            <a:off x="2404872" y="841247"/>
            <a:ext cx="267971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  <a:defRPr/>
            </a:pPr>
            <a:r>
              <a:rPr lang="ru-RU" sz="13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Дискретная система</a:t>
            </a:r>
            <a:endParaRPr sz="13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278313932" name="Google Shape;202;p13"/>
          <p:cNvSpPr/>
          <p:nvPr/>
        </p:nvSpPr>
        <p:spPr bwMode="auto">
          <a:xfrm flipH="0" flipV="0">
            <a:off x="5084584" y="841248"/>
            <a:ext cx="341933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  <a:defRPr/>
            </a:pPr>
            <a:r>
              <a:rPr lang="ru-RU" sz="13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Непрерывная система</a:t>
            </a:r>
            <a:endParaRPr sz="13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307934079" name="Google Shape;204;p13"/>
          <p:cNvSpPr/>
          <p:nvPr/>
        </p:nvSpPr>
        <p:spPr bwMode="auto">
          <a:xfrm>
            <a:off x="457200" y="1216151"/>
            <a:ext cx="8229600" cy="521208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814662824" name="Google Shape;205;p13"/>
          <p:cNvSpPr/>
          <p:nvPr/>
        </p:nvSpPr>
        <p:spPr bwMode="auto">
          <a:xfrm flipH="0" flipV="0">
            <a:off x="548639" y="1280160"/>
            <a:ext cx="1787335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250" b="0" i="0" u="none" strike="noStrike" cap="none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Обобщенные координаты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540676803" name="Google Shape;206;p13"/>
          <p:cNvSpPr/>
          <p:nvPr/>
        </p:nvSpPr>
        <p:spPr bwMode="auto">
          <a:xfrm flipH="0" flipV="0">
            <a:off x="5202173" y="1280160"/>
            <a:ext cx="330174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4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η</a:t>
            </a:r>
            <a:r>
              <a:rPr lang="en-US" sz="14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i</a:t>
            </a:r>
            <a:r>
              <a:rPr lang="en-US" sz="1400" b="0" i="1" u="none" strike="noStrike" cap="none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(x, t)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033010735" name="Google Shape;207;p13"/>
          <p:cNvSpPr/>
          <p:nvPr/>
        </p:nvSpPr>
        <p:spPr bwMode="auto">
          <a:xfrm>
            <a:off x="457200" y="1764792"/>
            <a:ext cx="8229600" cy="52120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212453860" name="Google Shape;208;p13"/>
          <p:cNvSpPr/>
          <p:nvPr/>
        </p:nvSpPr>
        <p:spPr bwMode="auto">
          <a:xfrm flipH="0" flipV="0">
            <a:off x="530352" y="1828800"/>
            <a:ext cx="1759159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250" b="0" i="0" u="none" strike="noStrike" cap="none" spc="0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Обобщённый импульс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740826415" name="Google Shape;209;p13"/>
          <p:cNvSpPr/>
          <p:nvPr/>
        </p:nvSpPr>
        <p:spPr bwMode="auto">
          <a:xfrm flipH="0" flipV="0">
            <a:off x="5202173" y="1828800"/>
            <a:ext cx="330174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∂ℒ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δL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endParaRPr sz="1400" b="1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265905576" name="Google Shape;210;p13"/>
          <p:cNvSpPr/>
          <p:nvPr/>
        </p:nvSpPr>
        <p:spPr bwMode="auto">
          <a:xfrm>
            <a:off x="457200" y="2313432"/>
            <a:ext cx="8229600" cy="521208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491737206" name="Google Shape;211;p13"/>
          <p:cNvSpPr/>
          <p:nvPr/>
        </p:nvSpPr>
        <p:spPr bwMode="auto">
          <a:xfrm flipH="0" flipV="0">
            <a:off x="548639" y="2377439"/>
            <a:ext cx="174087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962494019" name="Google Shape;212;p13"/>
          <p:cNvSpPr/>
          <p:nvPr/>
        </p:nvSpPr>
        <p:spPr bwMode="auto">
          <a:xfrm flipH="0" flipV="0">
            <a:off x="5202173" y="2377440"/>
            <a:ext cx="330174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en-US" sz="1250" u="none" strike="noStrike" cap="none" spc="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L=</m:t>
                      </m:r>
                      <m:nary>
                        <m:naryPr>
                          <m:chr m:val="∭"/>
                          <m:grow m:val="off"/>
                          <m:subHide m:val="on"/>
                          <m:supHide m:val="on"/>
                          <m:ctrlPr>
                            <a:rPr lang="en-US" sz="1250" b="1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b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ℒ</m:t>
                          </m:r>
                        </m:e>
                      </m:nary>
                      <m:r>
                        <m:rPr>
                          <m:sty m:val="b"/>
                        </m:rPr>
                        <a:rPr lang="en-US" sz="1250" u="none" strike="noStrike" cap="none" spc="0">
                          <a:solidFill>
                            <a:srgbClr val="1A1A1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en-US" sz="1250" b="1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en-US" sz="1250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en-US" sz="1250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250" b="1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en-US" sz="1250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en-US" sz="1250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250" b="1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en-US" sz="1250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en-US" sz="1250" u="none" strike="noStrike" cap="none" spc="0">
                              <a:solidFill>
                                <a:srgbClr val="1A1A1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588094139" name="Google Shape;213;p13"/>
          <p:cNvSpPr/>
          <p:nvPr/>
        </p:nvSpPr>
        <p:spPr bwMode="auto">
          <a:xfrm>
            <a:off x="457200" y="2857500"/>
            <a:ext cx="8229600" cy="52120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34759966" name="Google Shape;214;p13"/>
          <p:cNvSpPr/>
          <p:nvPr/>
        </p:nvSpPr>
        <p:spPr bwMode="auto">
          <a:xfrm flipH="0" flipV="0">
            <a:off x="548639" y="2926080"/>
            <a:ext cx="1787335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250" b="0" i="0" u="none" strike="noStrike" cap="none" spc="0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Гамильтониан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2129466243" name="Google Shape;215;p13"/>
          <p:cNvSpPr/>
          <p:nvPr/>
        </p:nvSpPr>
        <p:spPr bwMode="auto">
          <a:xfrm flipH="0" flipV="0">
            <a:off x="5202173" y="2926080"/>
            <a:ext cx="330174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ru-RU" sz="125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ctrlPr>
                            <a:rPr lang="ru-RU" sz="125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5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∂ℒ</m:t>
                              </m:r>
                            </m:num>
                            <m:den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∂</m:t>
                              </m:r>
                              <m:acc>
                                <m:accPr>
                                  <m:chr m:val="̇"/>
                                  <m:ctrlPr>
                                    <a:rPr lang="ru-RU" sz="125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25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η</m:t>
                                  </m:r>
                                </m:e>
                              </m:acc>
                            </m:den>
                          </m:f>
                          <m:acc>
                            <m:accPr>
                              <m:chr m:val="̇"/>
                              <m:ctrlPr>
                                <a:rPr lang="ru-RU" sz="125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-ℒ</m:t>
                          </m:r>
                        </m:e>
                      </m:d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ru-RU" sz="125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bi"/>
                            </m:rPr>
                            <a:rPr sz="1250">
                              <a:latin typeface="Cambria Math"/>
                              <a:ea typeface="Cambria Math"/>
                              <a:cs typeface="Cambria Math"/>
                            </a:rPr>
                            <m:t>ℋ</m:t>
                          </m:r>
                        </m:e>
                      </m:nary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dx</m:t>
                      </m:r>
                    </m:oMath>
                  </m:oMathPara>
                </a14:m>
              </mc:Choice>
              <mc:Fallback/>
            </mc:AlternateContent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617287611" name="Google Shape;216;p13"/>
          <p:cNvSpPr/>
          <p:nvPr/>
        </p:nvSpPr>
        <p:spPr bwMode="auto">
          <a:xfrm>
            <a:off x="457200" y="3410712"/>
            <a:ext cx="8229600" cy="521208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705187896" name="Google Shape;217;p13"/>
          <p:cNvSpPr/>
          <p:nvPr/>
        </p:nvSpPr>
        <p:spPr bwMode="auto">
          <a:xfrm flipH="0" flipV="0">
            <a:off x="548639" y="3474719"/>
            <a:ext cx="174087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>
              <a:defRPr/>
            </a:pPr>
            <a:r>
              <a:rPr lang="ru-RU" sz="1250" b="0" i="0" u="none" strike="noStrike" cap="none" spc="0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Уравнения движения</a:t>
            </a:r>
            <a:endParaRPr>
              <a:latin typeface="Open Sans"/>
              <a:cs typeface="Open Sans"/>
            </a:endParaRPr>
          </a:p>
        </p:txBody>
      </p:sp>
      <p:sp>
        <p:nvSpPr>
          <p:cNvPr id="1076740955" name="Google Shape;218;p13"/>
          <p:cNvSpPr/>
          <p:nvPr/>
        </p:nvSpPr>
        <p:spPr bwMode="auto">
          <a:xfrm flipH="0" flipV="0">
            <a:off x="5202173" y="3474720"/>
            <a:ext cx="330174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25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δH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  <m:sSub>
                            <m:sSubPr>
                              <m:ctrlPr>
                                <a:rPr lang="ru-RU" sz="125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ru-RU" sz="125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5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f>
                        <m:fPr>
                          <m:ctrlPr>
                            <a:rPr lang="ru-RU" sz="125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δH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  <m:sSub>
                            <m:sSubPr>
                              <m:ctrlPr>
                                <a:rPr lang="ru-RU" sz="125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ru-RU" sz="125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5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250" b="1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693582223" name="Google Shape;219;p13"/>
          <p:cNvSpPr/>
          <p:nvPr/>
        </p:nvSpPr>
        <p:spPr bwMode="auto">
          <a:xfrm>
            <a:off x="457200" y="3959352"/>
            <a:ext cx="8229600" cy="52120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868148308" name="Google Shape;220;p13"/>
          <p:cNvSpPr/>
          <p:nvPr/>
        </p:nvSpPr>
        <p:spPr bwMode="auto">
          <a:xfrm flipH="0" flipV="0">
            <a:off x="548639" y="4023360"/>
            <a:ext cx="174087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250" b="0" i="0" u="none" strike="noStrike" cap="none" spc="0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Скобки Пуассона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450110503" name="Google Shape;221;p13"/>
          <p:cNvSpPr/>
          <p:nvPr/>
        </p:nvSpPr>
        <p:spPr bwMode="auto">
          <a:xfrm flipH="0" flipV="0">
            <a:off x="5202173" y="4023360"/>
            <a:ext cx="330174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en-US" sz="1250" b="0" i="0" u="none" strike="noStrike" cap="none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ru-RU" sz="1250" b="1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i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G,H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250" b="0" i="0" u="none" strike="noStrike" cap="none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 =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chr m:val="∭"/>
                          <m:grow m:val="off"/>
                          <m:subHide m:val="on"/>
                          <m:supHide m:val="on"/>
                          <m:ctrl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/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ru-RU" sz="125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δG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  <m:f>
                                    <m:fPr>
                                      <m:ctrl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δH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π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ru-RU" sz="125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f>
                                    <m:fPr>
                                      <m:ctrl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δG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π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  <m:f>
                                    <m:fPr>
                                      <m:ctrl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δH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ru-RU" sz="125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η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ru-RU" sz="1250" u="none" strike="noStrike" cap="none" spc="0">
                                              <a:solidFill>
                                                <a:srgbClr val="000000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  <m:sSub>
                        <m:sSubPr>
                          <m:ctrl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cxnSp>
        <p:nvCxnSpPr>
          <p:cNvPr id="1973547379" name="Google Shape;203;p13"/>
          <p:cNvCxnSpPr/>
          <p:nvPr/>
        </p:nvCxnSpPr>
        <p:spPr bwMode="auto">
          <a:xfrm rot="5400000" flipH="0" flipV="1">
            <a:off x="545975" y="2625182"/>
            <a:ext cx="3717073" cy="0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34331210" name="Google Shape;203;p13"/>
          <p:cNvCxnSpPr/>
          <p:nvPr/>
        </p:nvCxnSpPr>
        <p:spPr bwMode="auto">
          <a:xfrm flipH="0" flipV="0">
            <a:off x="5084584" y="804672"/>
            <a:ext cx="0" cy="3675888"/>
          </a:xfrm>
          <a:prstGeom prst="straightConnector1">
            <a:avLst/>
          </a:prstGeom>
          <a:noFill/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0505391" name=""/>
          <p:cNvSpPr txBox="1"/>
          <p:nvPr/>
        </p:nvSpPr>
        <p:spPr bwMode="auto">
          <a:xfrm rot="0" flipH="0" flipV="0">
            <a:off x="548639" y="2456687"/>
            <a:ext cx="1549162" cy="2822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250" b="0" i="0" u="none" strike="noStrike" cap="none" spc="0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Лагранжиан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338533279" name=""/>
          <p:cNvSpPr txBox="1"/>
          <p:nvPr/>
        </p:nvSpPr>
        <p:spPr bwMode="auto">
          <a:xfrm rot="0" flipH="0" flipV="0">
            <a:off x="477438" y="836341"/>
            <a:ext cx="1859880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  <a:defRPr/>
            </a:pPr>
            <a:r>
              <a:rPr lang="ru-RU" sz="1400" b="1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Понятие</a:t>
            </a:r>
            <a:endParaRPr sz="14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077790498" name=""/>
          <p:cNvSpPr txBox="1"/>
          <p:nvPr/>
        </p:nvSpPr>
        <p:spPr bwMode="auto">
          <a:xfrm rot="0" flipH="0" flipV="0">
            <a:off x="2463749" y="1300975"/>
            <a:ext cx="2526400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i="1">
                <a:latin typeface="Open Sans"/>
                <a:ea typeface="Open Sans"/>
                <a:cs typeface="Open Sans"/>
              </a:rPr>
              <a:t>q</a:t>
            </a:r>
            <a:r>
              <a:rPr lang="en-US" i="1" baseline="-25000">
                <a:latin typeface="Open Sans"/>
                <a:ea typeface="Open Sans"/>
                <a:cs typeface="Open Sans"/>
              </a:rPr>
              <a:t>i</a:t>
            </a:r>
            <a:r>
              <a:rPr lang="en-US" i="1">
                <a:latin typeface="Open Sans"/>
                <a:ea typeface="Open Sans"/>
                <a:cs typeface="Open Sans"/>
              </a:rPr>
              <a:t>(t)</a:t>
            </a:r>
            <a:endParaRPr>
              <a:latin typeface="Open Sans"/>
              <a:cs typeface="Open Sans"/>
            </a:endParaRPr>
          </a:p>
        </p:txBody>
      </p:sp>
      <p:sp>
        <p:nvSpPr>
          <p:cNvPr id="547221824" name=""/>
          <p:cNvSpPr txBox="1"/>
          <p:nvPr/>
        </p:nvSpPr>
        <p:spPr bwMode="auto">
          <a:xfrm rot="0" flipH="0" flipV="0">
            <a:off x="2440517" y="1764792"/>
            <a:ext cx="2545311" cy="54231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4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∂L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  <m:sub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ru-RU" sz="14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4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,t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b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4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4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4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endParaRPr>
              <a:latin typeface="Open Sans"/>
              <a:cs typeface="Open Sans"/>
            </a:endParaRPr>
          </a:p>
        </p:txBody>
      </p:sp>
      <p:sp>
        <p:nvSpPr>
          <p:cNvPr id="1425795946" name=""/>
          <p:cNvSpPr txBox="1"/>
          <p:nvPr/>
        </p:nvSpPr>
        <p:spPr bwMode="auto">
          <a:xfrm rot="0" flipH="0" flipV="0">
            <a:off x="2498596" y="2307107"/>
            <a:ext cx="2455264" cy="50786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ru-RU" sz="12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ru-RU" sz="12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4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1250">
              <a:latin typeface="Open Sans"/>
              <a:cs typeface="Open Sans"/>
            </a:endParaRPr>
          </a:p>
        </p:txBody>
      </p:sp>
      <p:sp>
        <p:nvSpPr>
          <p:cNvPr id="1920045066" name=""/>
          <p:cNvSpPr txBox="1"/>
          <p:nvPr/>
        </p:nvSpPr>
        <p:spPr bwMode="auto">
          <a:xfrm rot="0" flipH="0" flipV="0">
            <a:off x="2486981" y="2857499"/>
            <a:ext cx="2466520" cy="50786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ru-RU" sz="12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p,q,t</m:t>
                          </m:r>
                        </m:e>
                      </m:d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ru-RU" sz="12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ru-RU" sz="12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ru-RU" sz="12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a:rPr lang="ru-RU" sz="125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ru-RU" sz="12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-L</m:t>
                      </m:r>
                      <m:d>
                        <m:dPr>
                          <m:begChr m:val="("/>
                          <m:endChr m:val=")"/>
                          <m:ctrlPr>
                            <a:rPr lang="ru-RU" sz="12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q,</m:t>
                          </m:r>
                          <m:acc>
                            <m:accPr>
                              <m:chr m:val="̇"/>
                              <m:ctrlPr>
                                <a:rPr lang="ru-RU" sz="12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</m:acc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1250">
              <a:latin typeface="Open Sans"/>
              <a:cs typeface="Open Sans"/>
            </a:endParaRPr>
          </a:p>
        </p:txBody>
      </p:sp>
      <p:sp>
        <p:nvSpPr>
          <p:cNvPr id="1545071663" name=""/>
          <p:cNvSpPr txBox="1"/>
          <p:nvPr/>
        </p:nvSpPr>
        <p:spPr bwMode="auto">
          <a:xfrm rot="0" flipH="0" flipV="0">
            <a:off x="2521829" y="3410712"/>
            <a:ext cx="2454544" cy="4915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2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∂H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, -</m:t>
                      </m:r>
                      <m:sSub>
                        <m:sSubPr>
                          <m:ctrlPr>
                            <a:rPr lang="ru-RU" sz="12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ru-RU" sz="12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ru-RU" sz="125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∂H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ru-RU" sz="125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  <m:sSub>
                            <m:sSubPr>
                              <m:ctrlPr>
                                <a:rPr lang="ru-RU" sz="12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ru-RU" sz="125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endParaRPr sz="1250">
              <a:latin typeface="Open Sans"/>
              <a:cs typeface="Open Sans"/>
            </a:endParaRPr>
          </a:p>
        </p:txBody>
      </p:sp>
      <p:sp>
        <p:nvSpPr>
          <p:cNvPr id="1772117321" name=""/>
          <p:cNvSpPr txBox="1"/>
          <p:nvPr/>
        </p:nvSpPr>
        <p:spPr bwMode="auto">
          <a:xfrm rot="0" flipH="0" flipV="0">
            <a:off x="2467350" y="3959352"/>
            <a:ext cx="2524959" cy="51742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ru-RU" sz="10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"/>
                            </m:rPr>
                            <a:rPr lang="ru-RU" sz="10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u,v</m:t>
                          </m:r>
                        </m:e>
                      </m:d>
                      <m:r>
                        <m:rPr>
                          <m:sty m:val="b"/>
                        </m:rPr>
                        <a:rPr lang="ru-RU" sz="10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 lang="ru-RU" sz="1000" b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b"/>
                            </m:rPr>
                            <a:rPr lang="ru-RU" sz="10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k=1</m:t>
                          </m:r>
                        </m:sub>
                        <m:sup>
                          <m:r>
                            <m:rPr>
                              <m:sty m:val="b"/>
                            </m:rPr>
                            <a:rPr lang="ru-RU" sz="10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000" b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0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"/>
                                    </m:rPr>
                                    <a:rPr lang="ru-RU" sz="10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∂u</m:t>
                                  </m:r>
                                </m:num>
                                <m:den>
                                  <m:r>
                                    <m:rPr>
                                      <m:sty m:val="b"/>
                                    </m:rPr>
                                    <a:rPr lang="ru-RU" sz="10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</m:t>
                                  </m:r>
                                  <m:sSub>
                                    <m:sSubPr>
                                      <m:ctrlPr>
                                        <a:rPr lang="ru-RU" sz="10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0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b"/>
                                        </m:rPr>
                                        <a:rPr lang="ru-RU" sz="10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den>
                              </m:f>
                              <m:f>
                                <m:fPr>
                                  <m:ctrlPr>
                                    <a:rPr lang="ru-RU" sz="10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"/>
                                    </m:rPr>
                                    <a:rPr lang="ru-RU" sz="10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∂v</m:t>
                                  </m:r>
                                </m:num>
                                <m:den>
                                  <m:r>
                                    <m:rPr>
                                      <m:sty m:val="b"/>
                                    </m:rPr>
                                    <a:rPr lang="ru-RU" sz="10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</m:t>
                                  </m:r>
                                  <m:sSub>
                                    <m:sSubPr>
                                      <m:ctrlPr>
                                        <a:rPr lang="ru-RU" sz="10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0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p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b"/>
                                        </m:rPr>
                                        <a:rPr lang="ru-RU" sz="10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b"/>
                                </m:rPr>
                                <a:rPr lang="ru-RU" sz="10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f>
                                <m:fPr>
                                  <m:ctrlPr>
                                    <a:rPr lang="ru-RU" sz="10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"/>
                                    </m:rPr>
                                    <a:rPr lang="ru-RU" sz="10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∂u</m:t>
                                  </m:r>
                                </m:num>
                                <m:den>
                                  <m:r>
                                    <m:rPr>
                                      <m:sty m:val="b"/>
                                    </m:rPr>
                                    <a:rPr lang="ru-RU" sz="10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</m:t>
                                  </m:r>
                                  <m:sSub>
                                    <m:sSubPr>
                                      <m:ctrlPr>
                                        <a:rPr lang="ru-RU" sz="10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0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p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b"/>
                                        </m:rPr>
                                        <a:rPr lang="ru-RU" sz="10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den>
                              </m:f>
                              <m:f>
                                <m:fPr>
                                  <m:ctrlPr>
                                    <a:rPr lang="ru-RU" sz="1000" b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b"/>
                                    </m:rPr>
                                    <a:rPr lang="ru-RU" sz="10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∂v</m:t>
                                  </m:r>
                                </m:num>
                                <m:den>
                                  <m:r>
                                    <m:rPr>
                                      <m:sty m:val="b"/>
                                    </m:rPr>
                                    <a:rPr lang="ru-RU" sz="10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∂</m:t>
                                  </m:r>
                                  <m:sSub>
                                    <m:sSubPr>
                                      <m:ctrlPr>
                                        <a:rPr lang="ru-RU" sz="1000" b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ru-RU" sz="10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b"/>
                                        </m:rPr>
                                        <a:rPr lang="ru-RU" sz="10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</mc:Choice>
              <mc:Fallback/>
            </mc:AlternateContent>
            <a:endParaRPr sz="1000"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700421" name="Google Shape;228;p14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557080367" name="Google Shape;229;p14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1401756" name="Google Shape;230;p14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354800" name="Google Shape;231;p14"/>
          <p:cNvSpPr/>
          <p:nvPr/>
        </p:nvSpPr>
        <p:spPr bwMode="auto">
          <a:xfrm>
            <a:off x="594360" y="1828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en-US" sz="2600" b="1" i="0" u="none" strike="noStrike" cap="none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Обобщения и </a:t>
            </a:r>
            <a:r>
              <a:rPr lang="ru-RU" sz="2600" b="1" i="0" u="none" strike="noStrike" cap="none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области применения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79387528" name="Google Shape;232;p14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70168511" name="Google Shape;233;p14"/>
          <p:cNvSpPr/>
          <p:nvPr/>
        </p:nvSpPr>
        <p:spPr bwMode="auto">
          <a:xfrm>
            <a:off x="457200" y="804672"/>
            <a:ext cx="3977640" cy="132588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3153749" name="Google Shape;234;p14"/>
          <p:cNvSpPr/>
          <p:nvPr/>
        </p:nvSpPr>
        <p:spPr bwMode="auto">
          <a:xfrm>
            <a:off x="457200" y="804672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386674" name="Google Shape;235;p14"/>
          <p:cNvSpPr/>
          <p:nvPr/>
        </p:nvSpPr>
        <p:spPr bwMode="auto">
          <a:xfrm>
            <a:off x="594360" y="877824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r>
              <a:rPr lang="en-US" sz="1300" b="1" i="0" u="none" strike="noStrike" cap="none" spc="0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Теория поля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99915329" name="Google Shape;236;p14"/>
          <p:cNvSpPr/>
          <p:nvPr/>
        </p:nvSpPr>
        <p:spPr bwMode="auto">
          <a:xfrm>
            <a:off x="594360" y="1216151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r>
              <a:rPr lang="en-US" sz="1200" b="0" i="0" u="none" strike="noStrike" cap="none" spc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Скалярные, векторные, спинорные поля; релятивистская форма — основа классической и квантовой теории поля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95610094" name="Google Shape;237;p14"/>
          <p:cNvSpPr/>
          <p:nvPr/>
        </p:nvSpPr>
        <p:spPr bwMode="auto">
          <a:xfrm>
            <a:off x="4617720" y="804672"/>
            <a:ext cx="3977640" cy="132588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9779305" name="Google Shape;238;p14"/>
          <p:cNvSpPr/>
          <p:nvPr/>
        </p:nvSpPr>
        <p:spPr bwMode="auto">
          <a:xfrm>
            <a:off x="4617720" y="804672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6973665" name="Google Shape;239;p14"/>
          <p:cNvSpPr/>
          <p:nvPr/>
        </p:nvSpPr>
        <p:spPr bwMode="auto">
          <a:xfrm>
            <a:off x="4754880" y="877824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r>
              <a:rPr lang="en-US" sz="1300" b="1" i="0" u="none" strike="noStrike" cap="none" spc="0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Механика сплошных сред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8409285" name="Google Shape;240;p14"/>
          <p:cNvSpPr/>
          <p:nvPr/>
        </p:nvSpPr>
        <p:spPr bwMode="auto">
          <a:xfrm>
            <a:off x="4754880" y="1216151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r>
              <a:rPr lang="en-US" sz="1200" b="0" i="0" u="none" strike="noStrike" cap="none" spc="0">
                <a:solidFill>
                  <a:srgbClr val="23324A"/>
                </a:solidFill>
                <a:latin typeface="Calibri"/>
                <a:ea typeface="Calibri"/>
                <a:cs typeface="Calibri"/>
              </a:rPr>
              <a:t>Упругость, гидродинамика: тот же аппарат для уравнений Навье — Стокса и теории упругости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3571871" name="Google Shape;241;p14"/>
          <p:cNvSpPr/>
          <p:nvPr/>
        </p:nvSpPr>
        <p:spPr bwMode="auto">
          <a:xfrm>
            <a:off x="457200" y="2240280"/>
            <a:ext cx="3977640" cy="132588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9138370" name="Google Shape;242;p14"/>
          <p:cNvSpPr/>
          <p:nvPr/>
        </p:nvSpPr>
        <p:spPr bwMode="auto">
          <a:xfrm>
            <a:off x="457200" y="2240280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16832645" name="Google Shape;243;p14"/>
          <p:cNvSpPr/>
          <p:nvPr/>
        </p:nvSpPr>
        <p:spPr bwMode="auto">
          <a:xfrm>
            <a:off x="594360" y="231343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r>
              <a:rPr lang="en-US" sz="1300" b="1" i="0" u="none" strike="noStrike" cap="none" spc="0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Электродинамика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59814941" name="Google Shape;244;p14"/>
          <p:cNvSpPr/>
          <p:nvPr/>
        </p:nvSpPr>
        <p:spPr bwMode="auto">
          <a:xfrm>
            <a:off x="594360" y="2651760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r>
              <a:rPr lang="en-US" sz="1200" b="0" i="0" u="none" strike="noStrike" cap="none" spc="0">
                <a:solidFill>
                  <a:srgbClr val="23324A"/>
                </a:solidFill>
                <a:latin typeface="Calibri"/>
                <a:ea typeface="Calibri"/>
                <a:cs typeface="Calibri"/>
              </a:rPr>
              <a:t>Уравнения Максвелла и энергия поля выводятся из единого вариационного принципа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41453013" name="Google Shape;245;p14"/>
          <p:cNvSpPr/>
          <p:nvPr/>
        </p:nvSpPr>
        <p:spPr bwMode="auto">
          <a:xfrm>
            <a:off x="4617720" y="2240280"/>
            <a:ext cx="3977640" cy="132588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32826793" name="Google Shape;246;p14"/>
          <p:cNvSpPr/>
          <p:nvPr/>
        </p:nvSpPr>
        <p:spPr bwMode="auto">
          <a:xfrm>
            <a:off x="4617720" y="2240280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298402" name="Google Shape;247;p14"/>
          <p:cNvSpPr/>
          <p:nvPr/>
        </p:nvSpPr>
        <p:spPr bwMode="auto">
          <a:xfrm>
            <a:off x="4754880" y="231343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r>
              <a:rPr lang="en-US" sz="1300" b="1" i="0" u="none" strike="noStrike" cap="none" spc="0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Квантование полей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3819830" name="Google Shape;248;p14"/>
          <p:cNvSpPr/>
          <p:nvPr/>
        </p:nvSpPr>
        <p:spPr bwMode="auto">
          <a:xfrm>
            <a:off x="4754880" y="2651760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r>
              <a:rPr lang="en-US" sz="1200" b="0" i="0" u="none" strike="noStrike" cap="none" spc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Замена скобок Пуассона на коммутаторы — стандартный путь к квантовой теории поля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7794028" name="Google Shape;200;p13"/>
          <p:cNvSpPr/>
          <p:nvPr/>
        </p:nvSpPr>
        <p:spPr bwMode="auto">
          <a:xfrm flipH="0" flipV="0">
            <a:off x="411479" y="3844847"/>
            <a:ext cx="8229600" cy="1092912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>
              <a:defRPr/>
            </a:pP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Большую часть формальных результатов, полученных </a:t>
            </a: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для дискретных систем в связи с уравнениями Гамильтона (теоремы о сохране</a:t>
            </a: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нии, скобки Пуассона и т. д.), можно распространить и </a:t>
            </a: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на случай непрерывных систем.</a:t>
            </a:r>
            <a:r>
              <a:rPr lang="ru-RU" b="0">
                <a:latin typeface="Open Sans"/>
                <a:ea typeface="Open Sans"/>
                <a:cs typeface="Open Sans"/>
              </a:rPr>
              <a:t> </a:t>
            </a: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</a:t>
            </a: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дин и тот же вариационный принцип </a:t>
            </a: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применим</a:t>
            </a: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от струны до электромагнитного и квантовых поле</a:t>
            </a:r>
            <a:r>
              <a:rPr lang="ru-RU" sz="1400" b="0" i="0" u="none" strike="noStrike" cap="none" spc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й.</a:t>
            </a:r>
            <a:endParaRPr lang="ru-RU" sz="1400" b="1" i="0" u="none" strike="noStrike" cap="none" spc="0">
              <a:solidFill>
                <a:srgbClr val="FFFF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7588643" name="Google Shape;280;p16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125643726" name="Google Shape;281;p16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683716148" name="Google Shape;282;p16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en-US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  <a:r>
              <a:rPr lang="ru-RU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  <a:endParaRPr sz="1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542529773" name="Google Shape;283;p16"/>
          <p:cNvSpPr/>
          <p:nvPr/>
        </p:nvSpPr>
        <p:spPr bwMode="auto">
          <a:xfrm>
            <a:off x="594360" y="1828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26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Выводы.</a:t>
            </a:r>
            <a:endParaRPr sz="2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800958290" name="Google Shape;284;p16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992179273" name="Google Shape;285;p16"/>
          <p:cNvSpPr/>
          <p:nvPr/>
        </p:nvSpPr>
        <p:spPr bwMode="auto">
          <a:xfrm>
            <a:off x="457200" y="822960"/>
            <a:ext cx="8229600" cy="768096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2081787201" name="Google Shape;286;p16"/>
          <p:cNvSpPr/>
          <p:nvPr/>
        </p:nvSpPr>
        <p:spPr bwMode="auto">
          <a:xfrm>
            <a:off x="457200" y="822960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568371884" name="Google Shape;287;p16"/>
          <p:cNvSpPr/>
          <p:nvPr/>
        </p:nvSpPr>
        <p:spPr bwMode="auto">
          <a:xfrm>
            <a:off x="457200" y="822960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599723954" name="Google Shape;288;p16"/>
          <p:cNvSpPr/>
          <p:nvPr/>
        </p:nvSpPr>
        <p:spPr bwMode="auto">
          <a:xfrm>
            <a:off x="960120" y="914400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250" b="0" i="0" u="none" strike="noStrike" cap="none" spc="0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Предельный переход a → 0</a:t>
            </a:r>
            <a:r>
              <a:rPr lang="ru-RU" sz="1250" b="0" i="0" u="none" strike="noStrike" cap="none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50" b="0" i="0" u="none" strike="noStrike" cap="none" spc="0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переводит дискретную систему частиц в непрерывное поле η(x,t); сумма по i становится интегралом по x</a:t>
            </a:r>
            <a:r>
              <a:rPr lang="ru-RU" sz="1250" b="0" i="0" u="none" strike="noStrike" cap="none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.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583893757" name="Google Shape;289;p16"/>
          <p:cNvSpPr/>
          <p:nvPr/>
        </p:nvSpPr>
        <p:spPr bwMode="auto">
          <a:xfrm>
            <a:off x="457200" y="1664208"/>
            <a:ext cx="8229600" cy="7680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164241647" name="Google Shape;290;p16"/>
          <p:cNvSpPr/>
          <p:nvPr/>
        </p:nvSpPr>
        <p:spPr bwMode="auto">
          <a:xfrm>
            <a:off x="457200" y="1664208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202303267" name="Google Shape;291;p16"/>
          <p:cNvSpPr/>
          <p:nvPr/>
        </p:nvSpPr>
        <p:spPr bwMode="auto">
          <a:xfrm>
            <a:off x="457200" y="1664208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164593501" name="Google Shape;292;p16"/>
          <p:cNvSpPr/>
          <p:nvPr/>
        </p:nvSpPr>
        <p:spPr bwMode="auto">
          <a:xfrm>
            <a:off x="960120" y="1755648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250" b="0" i="0" u="none" strike="noStrike" cap="none" spc="0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Канонические уравнения сохраняют структуру</a:t>
            </a:r>
            <a:r>
              <a:rPr lang="ru-RU" sz="1250" b="0" i="0" u="none" strike="noStrike" cap="none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 и </a:t>
            </a:r>
            <a:r>
              <a:rPr lang="ru-RU" sz="1250" b="0" i="0" u="none" strike="noStrike" cap="none" spc="0">
                <a:solidFill>
                  <a:srgbClr val="23324A"/>
                </a:solidFill>
                <a:latin typeface="Open Sans"/>
                <a:ea typeface="Open Sans"/>
                <a:cs typeface="Open Sans"/>
              </a:rPr>
              <a:t>являются </a:t>
            </a:r>
            <a:r>
              <a:rPr lang="ru-RU" sz="1250" b="0" i="0" u="none" strike="noStrike" cap="none" spc="0">
                <a:solidFill>
                  <a:srgbClr val="23324A"/>
                </a:solidFill>
                <a:latin typeface="Open Sans"/>
                <a:ea typeface="Open Sans"/>
                <a:cs typeface="Open Sans"/>
              </a:rPr>
              <a:t>прям</a:t>
            </a:r>
            <a:r>
              <a:rPr lang="ru-RU" sz="1250" b="0" i="0" u="none" strike="noStrike" cap="none" spc="0">
                <a:solidFill>
                  <a:srgbClr val="23324A"/>
                </a:solidFill>
                <a:latin typeface="Open Sans"/>
                <a:ea typeface="Open Sans"/>
                <a:cs typeface="Open Sans"/>
              </a:rPr>
              <a:t>ым</a:t>
            </a:r>
            <a:r>
              <a:rPr lang="ru-RU" sz="1250" b="0" i="0" u="none" strike="noStrike" cap="none" spc="0">
                <a:solidFill>
                  <a:srgbClr val="23324A"/>
                </a:solidFill>
                <a:latin typeface="Open Sans"/>
                <a:ea typeface="Open Sans"/>
                <a:cs typeface="Open Sans"/>
              </a:rPr>
              <a:t> аналог</a:t>
            </a:r>
            <a:r>
              <a:rPr lang="ru-RU" sz="1250" b="0" i="0" u="none" strike="noStrike" cap="none" spc="0">
                <a:solidFill>
                  <a:srgbClr val="23324A"/>
                </a:solidFill>
                <a:latin typeface="Open Sans"/>
                <a:ea typeface="Open Sans"/>
                <a:cs typeface="Open Sans"/>
              </a:rPr>
              <a:t>ом</a:t>
            </a:r>
            <a:r>
              <a:rPr lang="ru-RU" sz="1250" b="0" i="0" u="none" strike="noStrike" cap="none" spc="0">
                <a:solidFill>
                  <a:srgbClr val="23324A"/>
                </a:solidFill>
                <a:latin typeface="Open Sans"/>
                <a:ea typeface="Open Sans"/>
                <a:cs typeface="Open Sans"/>
              </a:rPr>
              <a:t> уравнений Гамильтона, только с функциональными производными</a:t>
            </a:r>
            <a:r>
              <a:rPr lang="ru-RU" sz="1250" b="0" i="0" u="none" strike="noStrike" cap="none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.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517617299" name="Google Shape;293;p16"/>
          <p:cNvSpPr/>
          <p:nvPr/>
        </p:nvSpPr>
        <p:spPr bwMode="auto">
          <a:xfrm>
            <a:off x="457200" y="2505456"/>
            <a:ext cx="8229600" cy="768096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019948572" name="Google Shape;294;p16"/>
          <p:cNvSpPr/>
          <p:nvPr/>
        </p:nvSpPr>
        <p:spPr bwMode="auto">
          <a:xfrm>
            <a:off x="457200" y="2505456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252258347" name="Google Shape;295;p16"/>
          <p:cNvSpPr/>
          <p:nvPr/>
        </p:nvSpPr>
        <p:spPr bwMode="auto">
          <a:xfrm>
            <a:off x="457200" y="2505456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354669413" name="Google Shape;296;p16"/>
          <p:cNvSpPr/>
          <p:nvPr/>
        </p:nvSpPr>
        <p:spPr bwMode="auto">
          <a:xfrm>
            <a:off x="960120" y="2596896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250" b="0" i="0" u="none" strike="noStrike" cap="none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Теоремы о сохранении обобщаются на непрерывные системы.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830009415" name="Google Shape;297;p16"/>
          <p:cNvSpPr/>
          <p:nvPr/>
        </p:nvSpPr>
        <p:spPr bwMode="auto">
          <a:xfrm>
            <a:off x="457200" y="3346704"/>
            <a:ext cx="8229600" cy="7680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596650892" name="Google Shape;298;p16"/>
          <p:cNvSpPr/>
          <p:nvPr/>
        </p:nvSpPr>
        <p:spPr bwMode="auto">
          <a:xfrm>
            <a:off x="457200" y="3346704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2101299836" name="Google Shape;299;p16"/>
          <p:cNvSpPr/>
          <p:nvPr/>
        </p:nvSpPr>
        <p:spPr bwMode="auto">
          <a:xfrm>
            <a:off x="457200" y="3346704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785592282" name="Google Shape;300;p16"/>
          <p:cNvSpPr/>
          <p:nvPr/>
        </p:nvSpPr>
        <p:spPr bwMode="auto">
          <a:xfrm>
            <a:off x="960120" y="3438144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r>
              <a:rPr lang="ru-RU" sz="1250" b="0" i="0" u="none" strike="noStrike" cap="none" spc="0">
                <a:solidFill>
                  <a:srgbClr val="1A1A1A"/>
                </a:solidFill>
                <a:latin typeface="Open Sans"/>
                <a:ea typeface="Open Sans"/>
                <a:cs typeface="Open Sans"/>
              </a:rPr>
              <a:t>Метод Гамильтона позволяет описывать механические непрерывные среды (упругий стержень, газ), физические поля (электромагнитное, скалярное, поле Шредингера). Удельный лагранжиан подбирается так, чтобы вариационный принцип давал нужные уравнения поля.</a:t>
            </a: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783926126" name="Google Shape;303;p16"/>
          <p:cNvSpPr/>
          <p:nvPr/>
        </p:nvSpPr>
        <p:spPr bwMode="auto">
          <a:xfrm>
            <a:off x="457200" y="4187952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8286949" name="Google Shape;309;p17"/>
          <p:cNvSpPr txBox="1"/>
          <p:nvPr>
            <p:ph type="body" idx="1"/>
          </p:nvPr>
        </p:nvSpPr>
        <p:spPr bwMode="auto">
          <a:xfrm>
            <a:off x="494094" y="2157425"/>
            <a:ext cx="5330700" cy="1157400"/>
          </a:xfrm>
          <a:prstGeom prst="rect">
            <a:avLst/>
          </a:prstGeom>
          <a:noFill/>
          <a:ln>
            <a:noFill/>
          </a:ln>
        </p:spPr>
        <p:txBody>
          <a:bodyPr spcFirstLastPara="1" vertOverflow="overflow" horzOverflow="overflow" vert="horz" wrap="square" lIns="68574" tIns="34274" rIns="68574" bIns="34274" numCol="1" spcCol="0" rtlCol="0" fromWordArt="0" anchor="t" anchorCtr="0" forceAA="0" upright="0" compatLnSpc="0">
            <a:normAutofit fontScale="80000" lnSpcReduction="4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  <a:defRPr/>
            </a:pPr>
            <a:r>
              <a:rPr lang="ru-RU" sz="4200">
                <a:solidFill>
                  <a:schemeClr val="dk1"/>
                </a:solidFill>
                <a:latin typeface="Open Sans"/>
                <a:ea typeface="Open Sans"/>
                <a:cs typeface="Open Sans"/>
              </a:rPr>
              <a:t>Спасибо за внимание!</a:t>
            </a:r>
            <a:endParaRPr lang="ru-RU" sz="4200" b="0">
              <a:solidFill>
                <a:schemeClr val="dk1"/>
              </a:solidFill>
              <a:latin typeface="Open Sans"/>
              <a:cs typeface="Open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ct val="100000"/>
              <a:buNone/>
              <a:defRPr/>
            </a:pPr>
            <a:endParaRPr lang="ru-RU">
              <a:latin typeface="Open Sans"/>
              <a:cs typeface="Open Sans"/>
            </a:endParaRPr>
          </a:p>
        </p:txBody>
      </p:sp>
      <p:sp>
        <p:nvSpPr>
          <p:cNvPr id="147597127" name="Google Shape;310;p17"/>
          <p:cNvSpPr/>
          <p:nvPr/>
        </p:nvSpPr>
        <p:spPr bwMode="auto">
          <a:xfrm>
            <a:off x="371175" y="1585850"/>
            <a:ext cx="1878900" cy="657900"/>
          </a:xfrm>
          <a:prstGeom prst="rect">
            <a:avLst/>
          </a:prstGeom>
          <a:solidFill>
            <a:srgbClr val="EAE0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10031856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320891" y="4510203"/>
            <a:ext cx="1285875" cy="6007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19</Slides>
  <Notes>19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9</cp:revision>
  <dcterms:modified xsi:type="dcterms:W3CDTF">2026-10-18T11:53:09Z</dcterms:modified>
</cp:coreProperties>
</file>