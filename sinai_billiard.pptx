
<file path=[Content_Types].xml><?xml version="1.0" encoding="utf-8"?>
<Types xmlns="http://schemas.openxmlformats.org/package/2006/content-types">
  <Default Extension="xml" ContentType="application/xml"/>
  <Default Extension="mp4" ContentType="video/unknown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18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  <a:defRPr lang="ru-RU"/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478964560" y="0"/>
      </p:cViewPr>
      <p:guideLst>
        <p:guide pos="2880"/>
        <p:guide pos="162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 /><Relationship Id="rId20" Type="http://schemas.openxmlformats.org/officeDocument/2006/relationships/tableStyles" Target="tableStyles.xml" /><Relationship Id="rId21" Type="http://schemas.openxmlformats.org/officeDocument/2006/relationships/viewProps" Target="viewProps.xml" /><Relationship Id="rId22" Type="http://schemas.onlyoffice.com/jsaProject" Target="jsaProject.bin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7533653" name="Google Shape;3;n"/>
          <p:cNvSpPr txBox="1"/>
          <p:nvPr>
            <p:ph type="hdr" idx="2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1646854" name="Google Shape;4;n"/>
          <p:cNvSpPr txBox="1"/>
          <p:nvPr>
            <p:ph type="dt" idx="10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212463376" name="Google Shape;5;n"/>
          <p:cNvSpPr/>
          <p:nvPr>
            <p:ph type="sldImg" idx="3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21270359" name="Google Shape;6;n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2239593" name="Google Shape;7;n"/>
          <p:cNvSpPr txBox="1"/>
          <p:nvPr>
            <p:ph type="ftr" idx="11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996432432" name="Google Shape;8;n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553153" name="Google Shape;37;g3d81e7673dc_0_0:notes"/>
          <p:cNvSpPr txBox="1"/>
          <p:nvPr>
            <p:ph type="body" idx="1"/>
          </p:nvPr>
        </p:nvSpPr>
        <p:spPr bwMode="auto">
          <a:xfrm>
            <a:off x="514350" y="4400550"/>
            <a:ext cx="41148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51826521" name="Google Shape;38;g3d81e7673dc_0_0:notes"/>
          <p:cNvSpPr/>
          <p:nvPr>
            <p:ph type="sldImg" idx="2"/>
          </p:nvPr>
        </p:nvSpPr>
        <p:spPr bwMode="auto">
          <a:xfrm>
            <a:off x="51435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949636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3456467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451870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01114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8559698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93713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5195243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233415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037632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0365857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785640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784862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1476833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9195084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4667540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102449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1163606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8570506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4393223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485599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544607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081419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19817568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5239241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9946341" name="Slide Image Placeholder 1"/>
          <p:cNvSpPr>
            <a:spLocks noGrp="1"/>
          </p:cNvSpPr>
          <p:nvPr>
            <p:ph type="sldImg" idx="3"/>
          </p:nvPr>
        </p:nvSpPr>
        <p:spPr bwMode="auto"/>
      </p:sp>
      <p:sp>
        <p:nvSpPr>
          <p:cNvPr id="6924556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1514939" name="Slide Number Placeholder 3"/>
          <p:cNvSpPr>
            <a:spLocks noGrp="1"/>
          </p:cNvSpPr>
          <p:nvPr>
            <p:ph type="sldNum" idx="12"/>
          </p:nvPr>
        </p:nvSpPr>
        <p:spPr bwMode="auto"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788071" name="Google Shape;44;p3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88835" name="Google Shape;45;p3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14509671" name="Google Shape;46;p3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718923" name="Google Shape;224;p11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2358961" name="Google Shape;225;p11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77779213" name="Google Shape;226;p11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2840682" name="Google Shape;276;p13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2463284" name="Google Shape;277;p13:notes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216389466" name="Google Shape;278;p13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2875427" name="Google Shape;306;g3d81e7673dc_0_110:notes"/>
          <p:cNvSpPr txBox="1"/>
          <p:nvPr>
            <p:ph type="body" idx="1"/>
          </p:nvPr>
        </p:nvSpPr>
        <p:spPr bwMode="auto">
          <a:xfrm>
            <a:off x="514350" y="4400550"/>
            <a:ext cx="41148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521468991" name="Google Shape;307;g3d81e7673dc_0_110:notes"/>
          <p:cNvSpPr/>
          <p:nvPr>
            <p:ph type="sldImg" idx="2"/>
          </p:nvPr>
        </p:nvSpPr>
        <p:spPr bwMode="auto">
          <a:xfrm>
            <a:off x="51435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DEFAULT" preserve="0" showMasterPhAnim="0" showMasterSp="1" userDrawn="1">
  <p:cSld name="DEFAULT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2_Титульный слайд" preserve="0" showMasterPhAnim="0" showMasterSp="0" userDrawn="1">
  <p:cSld name="2_Титульный слайд">
    <p:bg>
      <p:bgPr shadeToTitle="0">
        <a:blipFill rotWithShape="1">
          <a:blip r:embed="rId2">
            <a:alphaModFix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2290106" name="Google Shape;12;p3"/>
          <p:cNvSpPr txBox="1"/>
          <p:nvPr>
            <p:ph type="ctrTitle"/>
          </p:nvPr>
        </p:nvSpPr>
        <p:spPr bwMode="auto">
          <a:xfrm>
            <a:off x="504645" y="1600200"/>
            <a:ext cx="8476200" cy="9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3600"/>
              <a:buFont typeface="Quattrocento Sans"/>
              <a:buChar char="●"/>
              <a:defRPr sz="3600">
                <a:solidFill>
                  <a:srgbClr val="5151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1885294531" name="Google Shape;13;p3"/>
          <p:cNvSpPr txBox="1"/>
          <p:nvPr>
            <p:ph type="subTitle" idx="1"/>
          </p:nvPr>
        </p:nvSpPr>
        <p:spPr bwMode="auto">
          <a:xfrm>
            <a:off x="494110" y="2656131"/>
            <a:ext cx="8486700" cy="34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2100"/>
              <a:buNone/>
              <a:defRPr sz="2100">
                <a:solidFill>
                  <a:srgbClr val="515151"/>
                </a:solidFill>
              </a:defRPr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900233619" name="Google Shape;14;p3"/>
          <p:cNvSpPr txBox="1"/>
          <p:nvPr>
            <p:ph type="body" idx="2"/>
          </p:nvPr>
        </p:nvSpPr>
        <p:spPr bwMode="auto">
          <a:xfrm>
            <a:off x="498693" y="4075757"/>
            <a:ext cx="84822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 sz="1800" b="1">
                <a:solidFill>
                  <a:srgbClr val="51515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500">
                <a:solidFill>
                  <a:srgbClr val="51515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400">
                <a:solidFill>
                  <a:srgbClr val="51515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200"/>
              <a:buNone/>
              <a:defRPr sz="1200">
                <a:solidFill>
                  <a:srgbClr val="51515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200"/>
              <a:buNone/>
              <a:defRPr sz="1200">
                <a:solidFill>
                  <a:srgbClr val="51515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67584568" name="Google Shape;15;p3"/>
          <p:cNvSpPr txBox="1"/>
          <p:nvPr>
            <p:ph type="body" idx="3"/>
          </p:nvPr>
        </p:nvSpPr>
        <p:spPr bwMode="auto">
          <a:xfrm>
            <a:off x="494110" y="4476750"/>
            <a:ext cx="84867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500">
                <a:solidFill>
                  <a:srgbClr val="51515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○"/>
              <a:defRPr sz="1100"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■"/>
              <a:defRPr sz="1100"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●"/>
              <a:defRPr sz="1100"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21212"/>
              </a:buClr>
              <a:buSzPts val="1400"/>
              <a:buChar char="○"/>
              <a:defRPr sz="1100"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pic>
        <p:nvPicPr>
          <p:cNvPr id="1877694212" name="Google Shape;16;p3" descr="\\ad.pu.ru\RECTORAT\УСО\ДИЗАЙНЕРЫ\300 лет СПбГУ\300 лет логотипы все варианты\Logo 300 let classic white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1207280" y="327422"/>
            <a:ext cx="2829903" cy="8699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Вертикальный заголовок и текст" preserve="0" showMasterPhAnim="0" showMasterSp="0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22323614" name="Google Shape;18;p4"/>
          <p:cNvPicPr/>
          <p:nvPr/>
        </p:nvPicPr>
        <p:blipFill rotWithShape="1">
          <a:blip r:embed="rId2">
            <a:alphaModFix/>
          </a:blip>
          <a:srcRect l="0" t="0" r="0" b="0"/>
          <a:stretch/>
        </p:blipFill>
        <p:spPr bwMode="auto">
          <a:xfrm>
            <a:off x="0" y="0"/>
            <a:ext cx="9144002" cy="5141597"/>
          </a:xfrm>
          <a:prstGeom prst="rect">
            <a:avLst/>
          </a:prstGeom>
          <a:noFill/>
          <a:ln>
            <a:noFill/>
          </a:ln>
        </p:spPr>
      </p:pic>
      <p:sp>
        <p:nvSpPr>
          <p:cNvPr id="945458401" name="Google Shape;19;p4"/>
          <p:cNvSpPr/>
          <p:nvPr/>
        </p:nvSpPr>
        <p:spPr bwMode="auto">
          <a:xfrm>
            <a:off x="0" y="1514476"/>
            <a:ext cx="9144000" cy="2586300"/>
          </a:xfrm>
          <a:prstGeom prst="rect">
            <a:avLst/>
          </a:prstGeom>
          <a:solidFill>
            <a:srgbClr val="EAE0D5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grpSp>
        <p:nvGrpSpPr>
          <p:cNvPr id="926545948" name="Google Shape;20;p4"/>
          <p:cNvGrpSpPr/>
          <p:nvPr/>
        </p:nvGrpSpPr>
        <p:grpSpPr bwMode="auto">
          <a:xfrm>
            <a:off x="9241246" y="2763409"/>
            <a:ext cx="827775" cy="1834463"/>
            <a:chOff x="12321661" y="3684546"/>
            <a:chExt cx="1103700" cy="2445951"/>
          </a:xfrm>
        </p:grpSpPr>
        <p:sp>
          <p:nvSpPr>
            <p:cNvPr id="21" name="Google Shape;21;p4"/>
            <p:cNvSpPr/>
            <p:nvPr/>
          </p:nvSpPr>
          <p:spPr bwMode="auto">
            <a:xfrm>
              <a:off x="12321661" y="3684546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2" name="Google Shape;22;p4"/>
            <p:cNvSpPr txBox="1"/>
            <p:nvPr/>
          </p:nvSpPr>
          <p:spPr bwMode="auto">
            <a:xfrm>
              <a:off x="12427169" y="3780118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175 / 44 / 34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3" name="Google Shape;23;p4"/>
            <p:cNvSpPr/>
            <p:nvPr/>
          </p:nvSpPr>
          <p:spPr bwMode="auto">
            <a:xfrm>
              <a:off x="12321661" y="4195929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4" name="Google Shape;24;p4"/>
            <p:cNvSpPr txBox="1"/>
            <p:nvPr/>
          </p:nvSpPr>
          <p:spPr bwMode="auto">
            <a:xfrm>
              <a:off x="12427169" y="4291501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200 / 160 / 110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5" name="Google Shape;25;p4"/>
            <p:cNvSpPr/>
            <p:nvPr/>
          </p:nvSpPr>
          <p:spPr bwMode="auto">
            <a:xfrm>
              <a:off x="12321661" y="4699985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6" name="Google Shape;26;p4"/>
            <p:cNvSpPr txBox="1"/>
            <p:nvPr/>
          </p:nvSpPr>
          <p:spPr bwMode="auto">
            <a:xfrm>
              <a:off x="12427169" y="4795557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201 / 188 / 171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" name="Google Shape;27;p4"/>
            <p:cNvSpPr/>
            <p:nvPr/>
          </p:nvSpPr>
          <p:spPr bwMode="auto">
            <a:xfrm>
              <a:off x="12321661" y="5204041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" name="Google Shape;28;p4"/>
            <p:cNvSpPr txBox="1"/>
            <p:nvPr/>
          </p:nvSpPr>
          <p:spPr bwMode="auto">
            <a:xfrm>
              <a:off x="12427169" y="5299613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135 / 135 / 135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" name="Google Shape;29;p4"/>
            <p:cNvSpPr/>
            <p:nvPr/>
          </p:nvSpPr>
          <p:spPr bwMode="auto">
            <a:xfrm>
              <a:off x="12321661" y="5708096"/>
              <a:ext cx="1103700" cy="422399"/>
            </a:xfrm>
            <a:prstGeom prst="round2DiagRect">
              <a:avLst>
                <a:gd name="adj1" fmla="val 16667"/>
                <a:gd name="adj2" fmla="val 0"/>
              </a:avLst>
            </a:prstGeom>
            <a:solidFill>
              <a:srgbClr val="8D3F3F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" name="Google Shape;30;p4"/>
            <p:cNvSpPr txBox="1"/>
            <p:nvPr/>
          </p:nvSpPr>
          <p:spPr bwMode="auto">
            <a:xfrm>
              <a:off x="12427169" y="5803669"/>
              <a:ext cx="8931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en-US" sz="600">
                  <a:solidFill>
                    <a:schemeClr val="lt1"/>
                  </a:solidFill>
                  <a:latin typeface="Calibri"/>
                  <a:ea typeface="Calibri"/>
                  <a:cs typeface="Calibri"/>
                </a:rPr>
                <a:t>141 / 63 / 63</a:t>
              </a:r>
              <a:endParaRPr sz="600" b="1">
                <a:solidFill>
                  <a:schemeClr val="lt1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567940037" name="Google Shape;31;p4"/>
          <p:cNvSpPr txBox="1"/>
          <p:nvPr>
            <p:ph type="body" idx="1"/>
          </p:nvPr>
        </p:nvSpPr>
        <p:spPr bwMode="auto">
          <a:xfrm>
            <a:off x="494110" y="2157413"/>
            <a:ext cx="3534900" cy="11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400" b="1">
                <a:solidFill>
                  <a:srgbClr val="51515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 sz="1100">
                <a:solidFill>
                  <a:srgbClr val="51515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100">
                <a:solidFill>
                  <a:srgbClr val="51515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871918032" name="Google Shape;32;p4"/>
          <p:cNvSpPr txBox="1"/>
          <p:nvPr/>
        </p:nvSpPr>
        <p:spPr bwMode="auto">
          <a:xfrm>
            <a:off x="7537847" y="4446985"/>
            <a:ext cx="1248900" cy="37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Quattrocento Sans"/>
              <a:buNone/>
              <a:defRPr/>
            </a:pPr>
            <a:r>
              <a:rPr lang="en-US" sz="2400" b="1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</a:rPr>
              <a:t>spbu.ru</a:t>
            </a:r>
            <a:endParaRPr sz="2400" b="1">
              <a:solidFill>
                <a:schemeClr val="lt1"/>
              </a:solidFill>
              <a:latin typeface="Quattrocento Sans"/>
              <a:ea typeface="Quattrocento Sans"/>
              <a:cs typeface="Quattrocento Sans"/>
            </a:endParaRPr>
          </a:p>
        </p:txBody>
      </p:sp>
      <p:pic>
        <p:nvPicPr>
          <p:cNvPr id="648509819" name="Google Shape;33;p4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457540" y="506429"/>
            <a:ext cx="1926484" cy="592104"/>
          </a:xfrm>
          <a:prstGeom prst="rect">
            <a:avLst/>
          </a:prstGeom>
          <a:noFill/>
          <a:ln>
            <a:noFill/>
          </a:ln>
        </p:spPr>
      </p:pic>
      <p:sp>
        <p:nvSpPr>
          <p:cNvPr id="1224308659" name="Google Shape;34;p4"/>
          <p:cNvSpPr txBox="1"/>
          <p:nvPr>
            <p:ph type="body" idx="2"/>
          </p:nvPr>
        </p:nvSpPr>
        <p:spPr bwMode="auto">
          <a:xfrm>
            <a:off x="4139952" y="2157413"/>
            <a:ext cx="3534900" cy="11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400" b="1">
                <a:solidFill>
                  <a:srgbClr val="51515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 sz="1100">
                <a:solidFill>
                  <a:srgbClr val="51515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 sz="1100">
                <a:solidFill>
                  <a:srgbClr val="51515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515151"/>
              </a:buClr>
              <a:buSzPts val="1400"/>
              <a:buNone/>
              <a:defRPr sz="1100">
                <a:solidFill>
                  <a:srgbClr val="51515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100"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1100"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  <p:sp>
        <p:nvSpPr>
          <p:cNvPr id="606277701" name="Google Shape;35;p4"/>
          <p:cNvSpPr/>
          <p:nvPr/>
        </p:nvSpPr>
        <p:spPr bwMode="auto">
          <a:xfrm>
            <a:off x="498532" y="1615567"/>
            <a:ext cx="1400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2100" b="1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</a:rPr>
              <a:t>Контакты</a:t>
            </a:r>
            <a:endParaRPr sz="1100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microsoft.com/office/2007/relationships/media" Target="../media/media1.mp4"/><Relationship Id="rId6" Type="http://schemas.openxmlformats.org/officeDocument/2006/relationships/video" Target="../media/media1.mp4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microsoft.com/office/2007/relationships/media" Target="../media/media2.mp4"/><Relationship Id="rId6" Type="http://schemas.openxmlformats.org/officeDocument/2006/relationships/video" Target="../media/media2.mp4" /><Relationship Id="rId7" Type="http://schemas.openxmlformats.org/officeDocument/2006/relationships/image" Target="../media/image7.png"/><Relationship Id="rId8" Type="http://schemas.microsoft.com/office/2007/relationships/media" Target="../media/media3.mp4"/><Relationship Id="rId9" Type="http://schemas.openxmlformats.org/officeDocument/2006/relationships/video" Target="../media/media3.mp4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microsoft.com/office/2007/relationships/media" Target="../media/media4.mp4"/><Relationship Id="rId6" Type="http://schemas.openxmlformats.org/officeDocument/2006/relationships/video" Target="../media/media4.mp4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4495206" name="Google Shape;40;p5"/>
          <p:cNvSpPr txBox="1"/>
          <p:nvPr>
            <p:ph type="ctrTitle"/>
          </p:nvPr>
        </p:nvSpPr>
        <p:spPr bwMode="auto">
          <a:xfrm>
            <a:off x="504645" y="2215937"/>
            <a:ext cx="8476200" cy="14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/>
          <a:p>
            <a:pPr marL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-RU" sz="2400" b="1">
                <a:solidFill>
                  <a:srgbClr val="141414"/>
                </a:solidFill>
                <a:latin typeface="Open Sans"/>
                <a:ea typeface="Open Sans"/>
                <a:cs typeface="Open Sans"/>
              </a:rPr>
              <a:t>Биллиард Синая как модель динамического хаоса.</a:t>
            </a:r>
            <a:endParaRPr sz="2700" b="1">
              <a:solidFill>
                <a:srgbClr val="141414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3300"/>
              <a:buFont typeface="Quattrocento Sans"/>
              <a:buNone/>
              <a:defRPr/>
            </a:pPr>
            <a:endParaRPr sz="3300"/>
          </a:p>
        </p:txBody>
      </p:sp>
      <p:sp>
        <p:nvSpPr>
          <p:cNvPr id="1309950032" name="Google Shape;41;p5"/>
          <p:cNvSpPr txBox="1"/>
          <p:nvPr>
            <p:ph type="body" idx="2"/>
          </p:nvPr>
        </p:nvSpPr>
        <p:spPr bwMode="auto">
          <a:xfrm flipH="0" flipV="0">
            <a:off x="501642" y="3240657"/>
            <a:ext cx="8482199" cy="114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4" tIns="34274" rIns="68574" bIns="34274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/>
            </a:pPr>
            <a:r>
              <a:rPr lang="ru-RU">
                <a:latin typeface="Open Sans"/>
                <a:ea typeface="Open Sans"/>
                <a:cs typeface="Open Sans"/>
              </a:rPr>
              <a:t>Гончаров Иван</a:t>
            </a:r>
            <a:endParaRPr lang="ru-RU">
              <a:latin typeface="Open Sans"/>
              <a:ea typeface="Open Sans"/>
              <a:cs typeface="Open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/>
            </a:pPr>
            <a:r>
              <a:rPr lang="ru-RU">
                <a:latin typeface="Open Sans"/>
                <a:ea typeface="Open Sans"/>
                <a:cs typeface="Open Sans"/>
              </a:rPr>
              <a:t>Музиров Борис</a:t>
            </a:r>
            <a:endParaRPr lang="ru-RU">
              <a:latin typeface="Open Sans"/>
              <a:ea typeface="Open Sans"/>
              <a:cs typeface="Open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800"/>
              <a:buNone/>
              <a:defRPr/>
            </a:pPr>
            <a:r>
              <a:rPr lang="ru-RU">
                <a:latin typeface="Open Sans"/>
                <a:ea typeface="Open Sans"/>
                <a:cs typeface="Open Sans"/>
              </a:rPr>
              <a:t>Телицин Андрей</a:t>
            </a:r>
            <a:endParaRPr>
              <a:latin typeface="Open Sans"/>
              <a:cs typeface="Open Sans"/>
            </a:endParaRPr>
          </a:p>
        </p:txBody>
      </p:sp>
      <p:sp>
        <p:nvSpPr>
          <p:cNvPr id="1070035386" name="Google Shape;42;p5"/>
          <p:cNvSpPr txBox="1"/>
          <p:nvPr>
            <p:ph type="body" idx="3"/>
          </p:nvPr>
        </p:nvSpPr>
        <p:spPr bwMode="auto">
          <a:xfrm>
            <a:off x="494110" y="4383881"/>
            <a:ext cx="8486700" cy="25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ts val="1500"/>
              <a:buNone/>
              <a:defRPr/>
            </a:pPr>
            <a:r>
              <a:rPr lang="en-US"/>
              <a:t>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4229349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23685616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3" tIns="45699" rIns="91423" bIns="45699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/>
          </a:p>
        </p:txBody>
      </p:sp>
      <p:sp>
        <p:nvSpPr>
          <p:cNvPr id="97326590" name="TextBox 4"/>
          <p:cNvSpPr txBox="1"/>
          <p:nvPr/>
        </p:nvSpPr>
        <p:spPr bwMode="auto">
          <a:xfrm flipH="0" flipV="0">
            <a:off x="322229" y="182880"/>
            <a:ext cx="7907369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4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Вступление. О математических бильярдах.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788318092" name="Rectangle 5"/>
          <p:cNvSpPr/>
          <p:nvPr/>
        </p:nvSpPr>
        <p:spPr bwMode="auto">
          <a:xfrm>
            <a:off x="249078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3406501" name="Rectangle 6"/>
          <p:cNvSpPr/>
          <p:nvPr/>
        </p:nvSpPr>
        <p:spPr bwMode="auto">
          <a:xfrm flipH="0" flipV="0">
            <a:off x="249077" y="839556"/>
            <a:ext cx="4210123" cy="4189642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41838369" name=""/>
          <p:cNvSpPr txBox="1"/>
          <p:nvPr/>
        </p:nvSpPr>
        <p:spPr bwMode="auto">
          <a:xfrm rot="0" flipH="0" flipV="0">
            <a:off x="249077" y="862416"/>
            <a:ext cx="4268401" cy="414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Бильярды 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это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математические модели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описывающие множество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физических явлений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в которых одна или несколько частиц движутся внутри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некоторой области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сталкиваются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с её стенками и/или друг с другом.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Динамические свойства таких моделей определяются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формой стенок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этой области и могут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варьироваться 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 полностью регулярного (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интегрируемого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 движения до полностью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хаотического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4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Наибольший интерес представляют </a:t>
            </a:r>
            <a:r>
              <a:rPr sz="14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хаотические бильярды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К ним относятся классические модели абсолютно упругих шаров, изучавшиеся </a:t>
            </a:r>
            <a:r>
              <a:rPr sz="1400" b="0" i="0" u="sng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Л. Больцманом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в XIX веке, газ </a:t>
            </a:r>
            <a:r>
              <a:rPr sz="1400" b="0" i="0" u="sng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Лоренца</a:t>
            </a:r>
            <a:r>
              <a:rPr sz="14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введённый в 1905 году для описания электрических явлений, а также современные бильярды с рассеивающими границами, предложенные </a:t>
            </a:r>
            <a:r>
              <a:rPr sz="1400" b="0" i="0" u="sng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Я. Синаем.</a:t>
            </a:r>
            <a:endParaRPr sz="1600" u="sng">
              <a:latin typeface="Open Sans"/>
              <a:cs typeface="Open Sans"/>
            </a:endParaRPr>
          </a:p>
        </p:txBody>
      </p:sp>
      <p:sp>
        <p:nvSpPr>
          <p:cNvPr id="1676317598" name=""/>
          <p:cNvSpPr txBox="1"/>
          <p:nvPr/>
        </p:nvSpPr>
        <p:spPr bwMode="auto">
          <a:xfrm rot="0" flipH="0" flipV="0">
            <a:off x="4750623" y="873122"/>
            <a:ext cx="4222803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196956379" name=""/>
          <p:cNvSpPr txBox="1"/>
          <p:nvPr/>
        </p:nvSpPr>
        <p:spPr bwMode="auto">
          <a:xfrm rot="0" flipH="0" flipV="0">
            <a:off x="4571998" y="846666"/>
            <a:ext cx="454442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b="1">
                <a:solidFill>
                  <a:srgbClr val="C00000"/>
                </a:solidFill>
              </a:rPr>
              <a:t>Простой пример бильярда с круглым столом</a:t>
            </a:r>
            <a:r>
              <a:rPr b="1">
                <a:solidFill>
                  <a:srgbClr val="C00000"/>
                </a:solidFill>
              </a:rPr>
              <a:t>:</a:t>
            </a:r>
            <a:endParaRPr b="1">
              <a:solidFill>
                <a:srgbClr val="C00000"/>
              </a:solidFill>
            </a:endParaRPr>
          </a:p>
        </p:txBody>
      </p:sp>
      <p:pic>
        <p:nvPicPr>
          <p:cNvPr id="267243538" name="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 rotWithShape="1">
          <a:blip r:embed="rId4"/>
          <a:stretch/>
        </p:blipFill>
        <p:spPr bwMode="auto">
          <a:xfrm flipH="0" flipV="0">
            <a:off x="4967911" y="1219828"/>
            <a:ext cx="3788225" cy="3788225"/>
          </a:xfrm>
          <a:prstGeom prst="rect">
            <a:avLst/>
          </a:prstGeom>
        </p:spPr>
      </p:pic>
      <p:sp>
        <p:nvSpPr>
          <p:cNvPr id="1135675737" name="Rectangle 2"/>
          <p:cNvSpPr/>
          <p:nvPr/>
        </p:nvSpPr>
        <p:spPr bwMode="auto">
          <a:xfrm>
            <a:off x="8839199" y="4952999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54392417" name="TextBox 3"/>
          <p:cNvSpPr txBox="1"/>
          <p:nvPr/>
        </p:nvSpPr>
        <p:spPr bwMode="auto">
          <a:xfrm>
            <a:off x="8793479" y="4907279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37258324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46604145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7172349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8" rIns="91422" bIns="45698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100037290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8" rIns="91422" bIns="45698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4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Периодичность и эргодичность на круге.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209351681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97796972" name="Rectangle 6"/>
          <p:cNvSpPr/>
          <p:nvPr/>
        </p:nvSpPr>
        <p:spPr bwMode="auto">
          <a:xfrm flipH="0" flipV="0">
            <a:off x="459355" y="848355"/>
            <a:ext cx="8503920" cy="3878866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59864539" name=""/>
          <p:cNvSpPr txBox="1"/>
          <p:nvPr/>
        </p:nvSpPr>
        <p:spPr bwMode="auto">
          <a:xfrm rot="0" flipH="0" flipV="0">
            <a:off x="457199" y="848355"/>
            <a:ext cx="8509675" cy="383140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основе анализа бильярдных систем лежит изучение движения частицы, которое можно описать через </a:t>
            </a:r>
            <a:r>
              <a:rPr sz="13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отображения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3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столкновений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(</a:t>
            </a:r>
            <a:r>
              <a:rPr lang="ru-RU" sz="13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billiard map)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Вместо непрерывного движения частицы между столкновениями рассматривают последовательность её состояний непосредственно в моменты ударов о границу.</a:t>
            </a:r>
            <a:endParaRPr sz="13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Тогда состояние частицы при столкновении можно задать двумя параметрами:</a:t>
            </a:r>
            <a:endParaRPr sz="13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lang="ru-RU" sz="13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положением 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точки столкновения на границе;</a:t>
            </a:r>
            <a:endParaRPr sz="13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lang="ru-RU" sz="13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направлением 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движения после столкновения.</a:t>
            </a:r>
            <a:endParaRPr sz="1300" b="0" i="0" u="none" strike="noStrike" cap="none" spc="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этом скорость часто несущественна для геометрии траектории: если она постоянна, изменение её величины меняет время между столкновениями, но не последовательность точек столкновения и направлений движения.</a:t>
            </a:r>
            <a:endParaRPr sz="13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Простейший пример — вращение окружности с постоянным шагом. Здесь ключевую роль играет </a:t>
            </a:r>
            <a:r>
              <a:rPr sz="13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природа угла поворота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или, в контексте бильярда, отношения угла отражения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</m:oMath>
                  </m:oMathPara>
                </a14:m>
              </mc:Choice>
              <mc:Fallback/>
            </mc:AlternateContent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к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sz="1300">
                          <a:latin typeface="Cambria Math"/>
                          <a:ea typeface="Cambria Math"/>
                          <a:cs typeface="Cambria Math"/>
                        </a:rPr>
                        <m:t>𝜋</m:t>
                      </m:r>
                    </m:oMath>
                  </m:oMathPara>
                </a14:m>
              </mc:Choice>
              <mc:Fallback/>
            </mc:AlternateContent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(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&lt; </m:t>
                      </m:r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en-US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</a:t>
            </a:r>
            <a:r>
              <a:rPr lang="ru-RU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</a:t>
            </a:r>
            <a:endParaRPr sz="13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marL="239821" indent="274319">
              <a:buAutoNum type="arabicPeriod"/>
              <a:defRPr/>
            </a:pP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ψ</m:t>
                      </m:r>
                    </m:oMath>
                  </m:oMathPara>
                </a14:m>
              </mc:Choice>
              <mc:Fallback/>
            </mc:AlternateContent>
            <a:r>
              <a:rPr lang="en-US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— </a:t>
            </a:r>
            <a:r>
              <a:rPr lang="ru-RU" sz="13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рациональный </a:t>
            </a:r>
            <a:r>
              <a:rPr lang="ru-RU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множитель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ru-RU" sz="13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π</m:t>
                      </m:r>
                    </m:oMath>
                  </m:oMathPara>
                </a14:m>
              </mc:Choice>
              <mc:Fallback/>
            </mc:AlternateContent>
            <a:r>
              <a:rPr lang="ru-RU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 есть</a:t>
            </a:r>
            <a:r>
              <a:rPr lang="ru-RU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300" b="0" i="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3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3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300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f>
                        <m:fPr>
                          <m:ctrlPr>
                            <a:rPr lang="ru-RU" sz="1300" b="0" i="1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ru-RU" sz="130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ru-RU" sz="130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en-US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</a:t>
            </a:r>
            <a:r>
              <a:rPr lang="ru-RU"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несократимая дробь)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 вращение называется </a:t>
            </a:r>
            <a:r>
              <a:rPr sz="13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периодическим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и 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любая точка вернется в исходное положение ровно через n шагов. Траектория замыкается, образуя правильный многоугольник.</a:t>
            </a:r>
            <a:endParaRPr sz="13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marL="239821" indent="274319">
              <a:buAutoNum type="arabicPeriod"/>
              <a:defRPr/>
            </a:pP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отношение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300" b="0" i="0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ru-RU" sz="13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ψ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ru-RU" sz="13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π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3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иррационально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тогда вращение является </a:t>
            </a:r>
            <a:r>
              <a:rPr sz="13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эргодическим 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относительно меры Лебега. </a:t>
            </a:r>
            <a:r>
              <a:rPr lang="ru-RU" sz="13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Траектория с течением времени становится плотной и равномерно распределенной по всей окружности. Более подробно о понятии эргодичности будет сказано позже</a:t>
            </a:r>
            <a:r>
              <a:rPr sz="13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3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29571170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2055626685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44696141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1801016742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Визуализация периодического</a:t>
            </a:r>
            <a:endParaRPr lang="ru-RU" sz="1800" b="1" i="0" u="none" strike="noStrike" cap="none" spc="0">
              <a:solidFill>
                <a:srgbClr val="C0272D"/>
              </a:solidFill>
              <a:latin typeface="Open Sans"/>
              <a:ea typeface="Open Sans"/>
              <a:cs typeface="Open Sans"/>
            </a:endParaRPr>
          </a:p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и эргодического вращений.</a:t>
            </a:r>
            <a:endParaRPr lang="ru-RU" sz="1800" b="1" i="0" u="none" strike="noStrike" cap="none" spc="0">
              <a:solidFill>
                <a:srgbClr val="C0272D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97540814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66059753" name="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 rotWithShape="1">
          <a:blip r:embed="rId4"/>
          <a:stretch/>
        </p:blipFill>
        <p:spPr bwMode="auto">
          <a:xfrm flipH="0" flipV="0">
            <a:off x="665217" y="810835"/>
            <a:ext cx="3860336" cy="3860336"/>
          </a:xfrm>
          <a:prstGeom prst="rect">
            <a:avLst/>
          </a:prstGeom>
        </p:spPr>
      </p:pic>
      <p:pic>
        <p:nvPicPr>
          <p:cNvPr id="1766268990" name="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 rotWithShape="1">
          <a:blip r:embed="rId7"/>
          <a:stretch/>
        </p:blipFill>
        <p:spPr bwMode="auto">
          <a:xfrm flipH="0" flipV="0">
            <a:off x="4993004" y="810835"/>
            <a:ext cx="3830954" cy="38309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7396203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390831490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80854415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15899865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8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Законы квадратного бильярда. Метод развертки.</a:t>
            </a:r>
            <a:endParaRPr sz="900">
              <a:latin typeface="Open Sans"/>
              <a:cs typeface="Open Sans"/>
            </a:endParaRPr>
          </a:p>
        </p:txBody>
      </p:sp>
      <p:sp>
        <p:nvSpPr>
          <p:cNvPr id="1471704956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62614948" name="Rectangle 6"/>
          <p:cNvSpPr/>
          <p:nvPr/>
        </p:nvSpPr>
        <p:spPr bwMode="auto">
          <a:xfrm flipH="0" flipV="0">
            <a:off x="459356" y="848356"/>
            <a:ext cx="8503920" cy="3855346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7413275" name=""/>
          <p:cNvSpPr txBox="1"/>
          <p:nvPr/>
        </p:nvSpPr>
        <p:spPr bwMode="auto">
          <a:xfrm rot="0" flipH="0" flipV="0">
            <a:off x="422815" y="848355"/>
            <a:ext cx="8634779" cy="374542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Пусть</a:t>
            </a:r>
            <a:r>
              <a:rPr sz="16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𝑤</m:t>
                          </m:r>
                        </m:e>
                        <m:sub>
                          <m:r>
                            <m:rPr/>
                            <a:rPr sz="1600">
                              <a:latin typeface="Cambria Math"/>
                              <a:ea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m:rPr/>
                        <a:rPr sz="1600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обозначает вектор скорости частицы в момент времени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В квадратном бильярде изменение компонент скорости подчиняется строгим правилам, зависящим от типа столкновения со стенкой:</a:t>
            </a:r>
            <a:endParaRPr sz="1200"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ударе о вертикальную стенку горизонтальная компонента меняет знак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а вертикальная остается неизменной.</a:t>
            </a:r>
            <a:endParaRPr sz="1200">
              <a:latin typeface="Open Sans"/>
              <a:cs typeface="Open Sans"/>
            </a:endParaRPr>
          </a:p>
          <a:p>
            <a:pPr marL="217793" indent="274319">
              <a:buFont typeface="Arial"/>
              <a:buChar char="•"/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ударе о горизонтальную стенку вертикальная компонента меняет знак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а горизонтальная остается неизменной.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Следовательно, текущий вектор скорости выражается через начальный вектор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𝑢</m:t>
                          </m:r>
                        </m:e>
                        <m:sub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  <m:sSub>
                        <m:sSubPr>
                          <m:ctrlPr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𝑤</m:t>
                          </m:r>
                        </m:e>
                        <m:sub>
                          <m:r>
                            <m:rPr/>
                            <a:rPr sz="1200"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/>
                        <a:rPr sz="1200">
                          <a:latin typeface="Cambria Math"/>
                          <a:ea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с помощью формулы:</a:t>
            </a:r>
            <a:endParaRPr sz="1200"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endParaRPr sz="800">
              <a:latin typeface="Open Sans"/>
              <a:cs typeface="Open Sans"/>
            </a:endParaRPr>
          </a:p>
          <a:p>
            <a:pPr indent="274319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sz="16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sz="14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</m:t>
                          </m:r>
                        </m:sup>
                      </m:sSup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u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 </m:t>
                      </m:r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и</m:t>
                      </m:r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 </m:t>
                      </m:r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a:rPr sz="14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sz="16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sz="1400" u="none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-1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p>
                      </m:sSup>
                      <m:sSub>
                        <m:sSubPr>
                          <m:ctrlPr>
                            <a:rPr sz="16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sz="1400" u="none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600"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endParaRPr sz="6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где </a:t>
            </a:r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m </a:t>
            </a:r>
            <a:r>
              <a:rPr lang="ru-RU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 </a:t>
            </a:r>
            <a:r>
              <a:rPr lang="en-US"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n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количество столкновений с вертикальными и горизонтальными стенками соответственно за интервал времени </a:t>
            </a:r>
            <a:r>
              <a:rPr lang="en-US" sz="1200">
                <a:latin typeface="Open Sans"/>
                <a:ea typeface="Open Sans"/>
                <a:cs typeface="Open Sans"/>
              </a:rPr>
              <a:t>(0, t)</a:t>
            </a:r>
            <a:r>
              <a:rPr sz="1200">
                <a:latin typeface="Open Sans"/>
                <a:ea typeface="Open Sans"/>
                <a:cs typeface="Open Sans"/>
              </a:rPr>
              <a:t>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При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u</a:t>
            </a:r>
            <a:r>
              <a:rPr lang="en-US" sz="12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≠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0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w</a:t>
            </a:r>
            <a:r>
              <a:rPr lang="en-US" sz="1200" b="0" i="1" u="none" strike="noStrike" cap="none" spc="0" baseline="-25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≠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0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частица бесконечно много раз перебирает все возможные комбинации знаков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что демонстрирует активное перемешивание направлений в системе.</a:t>
            </a:r>
            <a:endParaRPr sz="1200"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>
                <a:latin typeface="Open Sans"/>
                <a:ea typeface="Open Sans"/>
                <a:cs typeface="Open Sans"/>
              </a:rPr>
              <a:t>Воспользуемся следующим приемом: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вместо того чтобы отражать траекторию частицы от стороны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∂D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мы отражаем сам квадрат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относительно этой стороны и позволяем частице двигаться прямолинейно в зеркальное отображение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Если продолжать делать это при каждом столкновении, наша частица будет двигаться вдоль прямой линии сквозь множество копий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полученных последовательными отражениями. Эта конструкция называется разверткой (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unfolding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 бильярдной траектории. Чтобы восстановить исходную траекторию в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нужно «сложить» полученную цепочку соседних копий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обратно в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200"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47206334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982614563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8412901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1633681786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Визуализация траектории в квадратном</a:t>
            </a:r>
            <a:endParaRPr lang="ru-RU" sz="1800" b="1" i="0" u="none" strike="noStrike" cap="none" spc="0">
              <a:solidFill>
                <a:srgbClr val="C0272D"/>
              </a:solidFill>
              <a:latin typeface="Open Sans"/>
              <a:ea typeface="Open Sans"/>
              <a:cs typeface="Open Sans"/>
            </a:endParaRPr>
          </a:p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бильярде и метода развертки.</a:t>
            </a:r>
            <a:endParaRPr sz="1800">
              <a:latin typeface="Open Sans"/>
              <a:cs typeface="Open Sans"/>
            </a:endParaRPr>
          </a:p>
        </p:txBody>
      </p:sp>
      <p:sp>
        <p:nvSpPr>
          <p:cNvPr id="1040424614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408105242" name="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 rotWithShape="1">
          <a:blip r:embed="rId4"/>
          <a:stretch/>
        </p:blipFill>
        <p:spPr bwMode="auto">
          <a:xfrm flipH="0" flipV="0">
            <a:off x="2716291" y="814139"/>
            <a:ext cx="4215060" cy="42150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45263057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13082008" name="Rectangle 2"/>
          <p:cNvSpPr/>
          <p:nvPr/>
        </p:nvSpPr>
        <p:spPr bwMode="auto">
          <a:xfrm>
            <a:off x="8732520" y="4892039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6905726" name="TextBox 3"/>
          <p:cNvSpPr txBox="1"/>
          <p:nvPr/>
        </p:nvSpPr>
        <p:spPr bwMode="auto">
          <a:xfrm>
            <a:off x="8686800" y="4846320"/>
            <a:ext cx="365760" cy="22860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2115938319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Периодическая структура и </a:t>
            </a: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связь с Тором</a:t>
            </a:r>
            <a:r>
              <a:rPr sz="18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.</a:t>
            </a:r>
            <a:endParaRPr sz="900">
              <a:latin typeface="Open Sans"/>
              <a:cs typeface="Open Sans"/>
            </a:endParaRPr>
          </a:p>
        </p:txBody>
      </p:sp>
      <p:sp>
        <p:nvSpPr>
          <p:cNvPr id="981376346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4713314" name="Rectangle 6"/>
          <p:cNvSpPr/>
          <p:nvPr/>
        </p:nvSpPr>
        <p:spPr bwMode="auto">
          <a:xfrm flipH="0" flipV="0">
            <a:off x="459355" y="755430"/>
            <a:ext cx="8503920" cy="4045168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72421013" name=""/>
          <p:cNvSpPr txBox="1"/>
          <p:nvPr/>
        </p:nvSpPr>
        <p:spPr bwMode="auto">
          <a:xfrm rot="0" flipH="0" flipV="0">
            <a:off x="422815" y="755430"/>
            <a:ext cx="8540463" cy="4365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результате последовательного отражения квадрата 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D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возникает бесконечная периодическая структура, состоящая из его зеркальных копий. Каждая копия получается отражением исходного квадрата относительно одной из сторон соседней копии.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Хотя эта структура распространяется на всю плоскость, она обладает периодичностью. В частности, квадрат со стороной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2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: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endParaRPr sz="8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𝕂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d>
                            <m:dPr>
                              <m:begChr m:val="("/>
                              <m:endChr m:val=")"/>
                              <m:ctrl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ru-RU" sz="12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x,y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ru-RU" sz="12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: 0≤x, y≤2</m:t>
                          </m:r>
                        </m:e>
                      </m:d>
                      <m:r>
                        <m:rPr>
                          <m:sty m:val="p"/>
                        </m:rPr>
                        <a:rPr lang="ru-RU" sz="12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</m:t>
                      </m:r>
                    </m:oMath>
                  </m:oMathPara>
                </a14:m>
              </mc:Choice>
              <mc:Fallback/>
            </mc:AlternateContent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endParaRPr sz="4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служит фундаментальной областью: вся плоскость покрывается его параллельными переносами.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Это означает, что для описания движения достаточно рассмотреть квадрат 2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× 2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а затем отождествить его противоположные стороны. Полученная поверхность называется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двумерным плоским тором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обозначается </a:t>
            </a:r>
            <a:r>
              <a:rPr lang="en-US" sz="1200" b="1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Tor</a:t>
            </a:r>
            <a:r>
              <a:rPr lang="en-US" sz="1200" b="1" i="1" u="none" strike="noStrike" cap="none" spc="0" baseline="3000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2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На торе прямая, по которой движется частица в развёрнутом пространстве, превращается в траекторию линейного потока. При этом частица движется с постоянной скоростью и не испытывает отражений.</a:t>
            </a:r>
            <a:endParaRPr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indent="274319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Линейный поток на плоском торе —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один из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стандартных примеров эргодической теории. Его основные свойства:</a:t>
            </a:r>
            <a:endParaRPr lang="ru-RU" sz="1200" b="0" i="0" u="none" strike="noStrike" cap="none" spc="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траектория имеет рациональный наклон</a:t>
            </a:r>
            <a:r>
              <a:rPr lang="ru-RU" sz="16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4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∈ ℚ,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то она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периодична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(она движется вдоль замкнутой геодезической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линии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);</a:t>
            </a:r>
            <a:endParaRPr lang="ru-RU" sz="1200" b="0" i="0" u="none" strike="noStrike" cap="none" spc="0">
              <a:solidFill>
                <a:srgbClr val="000000"/>
              </a:solidFill>
              <a:latin typeface="Open Sans"/>
              <a:cs typeface="Open Sans"/>
            </a:endParaRPr>
          </a:p>
          <a:p>
            <a:pPr marL="217793" indent="-217793">
              <a:buFont typeface="Arial"/>
              <a:buChar char="•"/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если траектория имеет иррациональный наклон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dy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ru-RU" sz="14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dx</m:t>
                          </m:r>
                        </m:den>
                      </m:f>
                      <m:r>
                        <m:rPr>
                          <m:sty m:val="p"/>
                        </m:rPr>
                        <a:rPr lang="ru-RU" sz="14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∉ ℚ</m:t>
                      </m:r>
                    </m:oMath>
                  </m:oMathPara>
                </a14:m>
              </mc:Choice>
              <mc:Fallback/>
            </mc:AlternateContent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то она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плотна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(ее </a:t>
            </a:r>
            <a:r>
              <a:rPr lang="ru-RU" sz="1200" b="0" i="0" u="sng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замыкание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весь тор).</a:t>
            </a:r>
            <a:endParaRPr lang="ru-RU" sz="1200" b="0" i="0" u="none" strike="noStrike" cap="none" spc="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20" algn="just">
              <a:defRPr/>
            </a:pP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Заметим, что теория легко обобщается на </a:t>
            </a:r>
            <a:r>
              <a:rPr lang="ru-RU" sz="1200" b="1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прямоугольные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бильярды, так как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прямоугольник со сторонами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 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b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можно преобразовать в единичный квадрат с помощью масштабирования координат:</a:t>
            </a:r>
            <a:r>
              <a:rPr lang="en-US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x, y) 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→</a:t>
            </a:r>
            <a:r>
              <a:rPr lang="ru-RU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(</a:t>
            </a:r>
            <a:r>
              <a:rPr lang="en-US" sz="1200" b="0" i="1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x/a, y/b)</a:t>
            </a:r>
            <a:endParaRPr sz="1200">
              <a:latin typeface="Open Sans"/>
              <a:cs typeface="Open Sans"/>
            </a:endParaRPr>
          </a:p>
          <a:p>
            <a:pPr>
              <a:defRPr/>
            </a:pPr>
            <a:endParaRPr sz="1200"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58086538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425321247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41492031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2112748510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Визуализация </a:t>
            </a: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периодической и непериодической траекторий на </a:t>
            </a:r>
            <a:r>
              <a:rPr lang="en-US" sz="1800" b="1" i="1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Tor</a:t>
            </a:r>
            <a:r>
              <a:rPr lang="en-US" sz="1800" b="1" i="1" u="none" strike="noStrike" cap="none" spc="0" baseline="3000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2</a:t>
            </a: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.</a:t>
            </a:r>
            <a:endParaRPr lang="ru-RU" sz="1800" b="1" i="0" u="none" strike="noStrike" cap="none" spc="0">
              <a:solidFill>
                <a:srgbClr val="C0272D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343663942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89238988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1324793416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0947693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219443036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7" rIns="91422" bIns="45697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400" b="1" i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Эллиптический бильярд.</a:t>
            </a:r>
            <a:endParaRPr sz="1200">
              <a:latin typeface="Open Sans"/>
              <a:cs typeface="Open Sans"/>
            </a:endParaRPr>
          </a:p>
        </p:txBody>
      </p:sp>
      <p:sp>
        <p:nvSpPr>
          <p:cNvPr id="1789183496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87908528" name="Rectangle 6"/>
          <p:cNvSpPr/>
          <p:nvPr/>
        </p:nvSpPr>
        <p:spPr bwMode="auto">
          <a:xfrm flipH="0" flipV="0">
            <a:off x="459355" y="848354"/>
            <a:ext cx="8503920" cy="3695179"/>
          </a:xfrm>
          <a:prstGeom prst="rect">
            <a:avLst/>
          </a:prstGeom>
          <a:solidFill>
            <a:srgbClr val="E8D5D5"/>
          </a:solidFill>
          <a:ln w="12700">
            <a:solidFill>
              <a:srgbClr val="D8B8B8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77390533" name=""/>
          <p:cNvSpPr txBox="1"/>
          <p:nvPr/>
        </p:nvSpPr>
        <p:spPr bwMode="auto">
          <a:xfrm rot="0" flipH="0" flipV="0">
            <a:off x="422815" y="848355"/>
            <a:ext cx="854297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1734859550" name=""/>
          <p:cNvSpPr txBox="1"/>
          <p:nvPr/>
        </p:nvSpPr>
        <p:spPr bwMode="auto">
          <a:xfrm rot="0" flipH="0" flipV="0">
            <a:off x="474045" y="848353"/>
            <a:ext cx="8556912" cy="34872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274319">
              <a:defRPr/>
            </a:pP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Эллиптический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бильярд представляет собой движение частицы внутри области, ограниченной эллипсом, заданным уравнением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𝑥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/</m:t>
                      </m:r>
                      <m:sSup>
                        <m:sSup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𝑎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sSup>
                        <m:sSup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𝑦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/</m:t>
                      </m:r>
                      <m:sSup>
                        <m:sSup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𝑏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sty m:val="i"/>
                        </m:rPr>
                        <a:rPr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(где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a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&gt;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b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&gt; </a:t>
            </a:r>
            <a:r>
              <a:rPr sz="1200" b="0" i="1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0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). Центральную роль играют два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фокуса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​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​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лежащие на большой оси.</a:t>
            </a:r>
            <a:endParaRPr sz="1200" b="0" i="0" u="none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Имеет место быть геометрическое свойство границы (</a:t>
            </a:r>
            <a:r>
              <a:rPr sz="1200" b="0" i="0" u="sng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теорема Понселе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): касательная к эллипсу в любой точке образует равные углы с отрезками, соединяющими эту точку с фокусами.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Отсюда вытекает главная особенность траекторий: если частица пролетает через один фокус, то после отражения от границы она обязательно пройдет через второй фокус. Такие траектории образуют особое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семейство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</a:t>
            </a:r>
            <a:endParaRPr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зависимости от поведения относительно отрезка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​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соединяющего фокусы, все траектории делятся на два типа.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Внутренние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траектории при каждом отражении пересекают этот отрезок, а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внешние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— огибают.</a:t>
            </a:r>
            <a:endParaRPr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Наиболее важным свойством эллиптического бильярда является наличие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каустик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(огибающих кривых). Оказывается, что для любого типа траекторий существует некая софокусная (имеющая те же фокусы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 и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𝐹</m:t>
                          </m:r>
                        </m:e>
                        <m:sub>
                          <m:r>
                            <m:rPr/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​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) </a:t>
            </a:r>
            <a:r>
              <a:rPr lang="ru-RU" sz="1200" b="0" i="0" u="none" strike="noStrike" cap="none" spc="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кривая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которой траектория касается при каждом отражении. Для внешних траекторий такой каустикой служит меньший эллипс, а для внутренних — софокусная гипербола. Это означает, что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траектории никогда не пересекают свои каустики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, а как бы «наматываются» на них.</a:t>
            </a:r>
            <a:endParaRPr>
              <a:latin typeface="Open Sans"/>
              <a:cs typeface="Open Sans"/>
            </a:endParaRPr>
          </a:p>
          <a:p>
            <a:pPr indent="274319">
              <a:defRPr/>
            </a:pP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В терминах теории динамических систем это означает, что фазовое пространство (пространство столкновений) полностью расслоено на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инвариантные кривые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. В отличие от рассмотренных далее хаотических бильярдов , эллиптический бильярд является полностью </a:t>
            </a:r>
            <a:r>
              <a:rPr sz="1200" b="1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регулярной </a:t>
            </a:r>
            <a:r>
              <a:rPr sz="1200" b="0" i="0" u="none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системой, в которой хаос отсутствует (к этому же классу систем относятся и прямоугольные бильярды). </a:t>
            </a:r>
            <a:endParaRPr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1966309" name="Picture 1" descr="image12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</p:spPr>
      </p:pic>
      <p:sp>
        <p:nvSpPr>
          <p:cNvPr id="546475986" name="Rectangle 2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5875140" name="TextBox 3"/>
          <p:cNvSpPr txBox="1"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1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/>
          </a:p>
        </p:txBody>
      </p:sp>
      <p:sp>
        <p:nvSpPr>
          <p:cNvPr id="2013004054" name="TextBox 4"/>
          <p:cNvSpPr txBox="1"/>
          <p:nvPr/>
        </p:nvSpPr>
        <p:spPr bwMode="auto">
          <a:xfrm>
            <a:off x="594360" y="182880"/>
            <a:ext cx="6858000" cy="502920"/>
          </a:xfrm>
          <a:prstGeom prst="rect">
            <a:avLst/>
          </a:prstGeom>
          <a:noFill/>
        </p:spPr>
        <p:txBody>
          <a:bodyPr wrap="square" lIns="91422" tIns="45696" rIns="91422" bIns="45696" anchor="ctr">
            <a:noAutofit/>
          </a:bodyPr>
          <a:lstStyle/>
          <a:p>
            <a:pPr marL="0" marR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Визуализация </a:t>
            </a: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эллиптических и гиперболических каустик на эллиптическом бильярде</a:t>
            </a:r>
            <a:r>
              <a:rPr lang="ru-RU" sz="1800" b="1" i="0" u="none" strike="noStrike" cap="none" spc="0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.</a:t>
            </a:r>
            <a:endParaRPr lang="ru-RU" sz="1800" b="1" i="0" u="none" strike="noStrike" cap="none" spc="0">
              <a:solidFill>
                <a:srgbClr val="C0272D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355156706" name="Rectangle 5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>
            <a:solidFill>
              <a:srgbClr val="C0272D"/>
            </a:solidFill>
            <a:prstDash val="solid"/>
          </a:ln>
        </p:spPr>
        <p:txBody>
          <a:bodyPr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2395894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019310" y="989504"/>
            <a:ext cx="7412832" cy="3347730"/>
          </a:xfrm>
          <a:prstGeom prst="rect">
            <a:avLst/>
          </a:prstGeom>
        </p:spPr>
      </p:pic>
      <p:sp>
        <p:nvSpPr>
          <p:cNvPr id="2132413112" name=""/>
          <p:cNvSpPr txBox="1"/>
          <p:nvPr/>
        </p:nvSpPr>
        <p:spPr bwMode="auto">
          <a:xfrm rot="0" flipH="0" flipV="0">
            <a:off x="570430" y="4280775"/>
            <a:ext cx="811351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ru-RU">
                <a:highlight>
                  <a:srgbClr val="FFFF00"/>
                </a:highlight>
              </a:rPr>
              <a:t>Что то в этом роде. В первом случае нет пересечения траекторий с </a:t>
            </a:r>
            <a:r>
              <a:rPr lang="en-US">
                <a:highlight>
                  <a:srgbClr val="FFFF00"/>
                </a:highlight>
              </a:rPr>
              <a:t>F1F2</a:t>
            </a:r>
            <a:r>
              <a:rPr lang="ru-RU">
                <a:highlight>
                  <a:srgbClr val="FFFF00"/>
                </a:highlight>
              </a:rPr>
              <a:t>, во втором —</a:t>
            </a:r>
            <a:r>
              <a:rPr lang="en-US">
                <a:highlight>
                  <a:srgbClr val="FFFF00"/>
                </a:highlight>
              </a:rPr>
              <a:t> </a:t>
            </a:r>
            <a:r>
              <a:rPr lang="ru-RU">
                <a:highlight>
                  <a:srgbClr val="FFFF00"/>
                </a:highlight>
              </a:rPr>
              <a:t>есть.</a:t>
            </a:r>
            <a:endParaRPr>
              <a:highlight>
                <a:srgbClr val="FFFF00"/>
              </a:highlight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94317167" name="Google Shape;48;p6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461693437" name="Google Shape;49;p6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535328658" name="Google Shape;50;p6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ru-RU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51458084" name="Google Shape;51;p6"/>
          <p:cNvSpPr/>
          <p:nvPr/>
        </p:nvSpPr>
        <p:spPr bwMode="auto">
          <a:xfrm flipH="0" flipV="0">
            <a:off x="530351" y="182880"/>
            <a:ext cx="6784848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800"/>
              <a:buFont typeface="Calibri"/>
              <a:buNone/>
              <a:defRPr/>
            </a:pPr>
            <a:r>
              <a:rPr lang="ru-RU" sz="28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Постановка задачи.</a:t>
            </a:r>
            <a:endParaRPr sz="28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680640562" name="Google Shape;52;p6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495874177" name="Google Shape;53;p6"/>
          <p:cNvSpPr/>
          <p:nvPr/>
        </p:nvSpPr>
        <p:spPr bwMode="auto">
          <a:xfrm flipH="0" flipV="0">
            <a:off x="457200" y="754760"/>
            <a:ext cx="8229600" cy="273197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D8B8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825673187" name="Google Shape;57;p6"/>
          <p:cNvSpPr/>
          <p:nvPr/>
        </p:nvSpPr>
        <p:spPr bwMode="auto">
          <a:xfrm>
            <a:off x="457200" y="3749040"/>
            <a:ext cx="8229600" cy="96012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136981423" name="Google Shape;58;p6"/>
          <p:cNvSpPr/>
          <p:nvPr/>
        </p:nvSpPr>
        <p:spPr bwMode="auto">
          <a:xfrm flipH="0" flipV="0">
            <a:off x="640080" y="3960394"/>
            <a:ext cx="7772400" cy="657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45699" rIns="91423" bIns="45699" anchor="ctr" anchorCtr="0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724826" name=""/>
          <p:cNvSpPr txBox="1"/>
          <p:nvPr/>
        </p:nvSpPr>
        <p:spPr bwMode="auto">
          <a:xfrm rot="0" flipH="0" flipV="0">
            <a:off x="457198" y="977563"/>
            <a:ext cx="8267897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indent="91440">
              <a:defRPr/>
            </a:pPr>
            <a:endParaRPr lang="ru-RU" sz="1400" b="0" i="0" u="none" strike="noStrike" cap="none" spc="0">
              <a:solidFill>
                <a:srgbClr val="000000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29797135" name="Google Shape;228;p14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170478203" name="Google Shape;229;p14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959816077" name="Google Shape;230;p14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en-US" sz="1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365102" name="Google Shape;231;p14"/>
          <p:cNvSpPr/>
          <p:nvPr/>
        </p:nvSpPr>
        <p:spPr bwMode="auto">
          <a:xfrm>
            <a:off x="594360" y="1828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en-US" sz="2600" b="1" i="0" u="none" strike="noStrike" cap="none">
                <a:solidFill>
                  <a:srgbClr val="C0272D"/>
                </a:solidFill>
                <a:latin typeface="Calibri"/>
                <a:ea typeface="Calibri"/>
                <a:cs typeface="Calibri"/>
              </a:rPr>
              <a:t>Обобщения и </a:t>
            </a:r>
            <a:r>
              <a:rPr lang="ru-RU" sz="2600" b="1" i="0" u="none" strike="noStrike" cap="none">
                <a:solidFill>
                  <a:srgbClr val="C0272D"/>
                </a:solidFill>
                <a:latin typeface="Calibri"/>
                <a:ea typeface="Calibri"/>
                <a:cs typeface="Calibri"/>
              </a:rPr>
              <a:t>области применения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34008665" name="Google Shape;232;p14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602283876" name="Google Shape;233;p14"/>
          <p:cNvSpPr/>
          <p:nvPr/>
        </p:nvSpPr>
        <p:spPr bwMode="auto">
          <a:xfrm>
            <a:off x="457200" y="804672"/>
            <a:ext cx="3977640" cy="132588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976897499" name="Google Shape;234;p14"/>
          <p:cNvSpPr/>
          <p:nvPr/>
        </p:nvSpPr>
        <p:spPr bwMode="auto">
          <a:xfrm>
            <a:off x="457200" y="804672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04236828" name="Google Shape;235;p14"/>
          <p:cNvSpPr/>
          <p:nvPr/>
        </p:nvSpPr>
        <p:spPr bwMode="auto">
          <a:xfrm>
            <a:off x="594360" y="877824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10652807" name="Google Shape;236;p14"/>
          <p:cNvSpPr/>
          <p:nvPr/>
        </p:nvSpPr>
        <p:spPr bwMode="auto">
          <a:xfrm>
            <a:off x="594360" y="1216151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6843977" name="Google Shape;237;p14"/>
          <p:cNvSpPr/>
          <p:nvPr/>
        </p:nvSpPr>
        <p:spPr bwMode="auto">
          <a:xfrm>
            <a:off x="4617720" y="804672"/>
            <a:ext cx="3977640" cy="132588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882363" name="Google Shape;238;p14"/>
          <p:cNvSpPr/>
          <p:nvPr/>
        </p:nvSpPr>
        <p:spPr bwMode="auto">
          <a:xfrm>
            <a:off x="4617720" y="804672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031245771" name="Google Shape;239;p14"/>
          <p:cNvSpPr/>
          <p:nvPr/>
        </p:nvSpPr>
        <p:spPr bwMode="auto">
          <a:xfrm>
            <a:off x="4754880" y="877824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802674102" name="Google Shape;240;p14"/>
          <p:cNvSpPr/>
          <p:nvPr/>
        </p:nvSpPr>
        <p:spPr bwMode="auto">
          <a:xfrm>
            <a:off x="4754880" y="1216151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25132202" name="Google Shape;241;p14"/>
          <p:cNvSpPr/>
          <p:nvPr/>
        </p:nvSpPr>
        <p:spPr bwMode="auto">
          <a:xfrm>
            <a:off x="457200" y="2240280"/>
            <a:ext cx="3977640" cy="1325880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2096127599" name="Google Shape;242;p14"/>
          <p:cNvSpPr/>
          <p:nvPr/>
        </p:nvSpPr>
        <p:spPr bwMode="auto">
          <a:xfrm>
            <a:off x="457200" y="2240280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467010423" name="Google Shape;243;p14"/>
          <p:cNvSpPr/>
          <p:nvPr/>
        </p:nvSpPr>
        <p:spPr bwMode="auto">
          <a:xfrm>
            <a:off x="594360" y="231343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86682413" name="Google Shape;244;p14"/>
          <p:cNvSpPr/>
          <p:nvPr/>
        </p:nvSpPr>
        <p:spPr bwMode="auto">
          <a:xfrm>
            <a:off x="594360" y="2651760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81465433" name="Google Shape;245;p14"/>
          <p:cNvSpPr/>
          <p:nvPr/>
        </p:nvSpPr>
        <p:spPr bwMode="auto">
          <a:xfrm>
            <a:off x="4617720" y="2240280"/>
            <a:ext cx="3977640" cy="1325880"/>
          </a:xfrm>
          <a:prstGeom prst="rect">
            <a:avLst/>
          </a:prstGeom>
          <a:solidFill>
            <a:srgbClr val="E8D5D5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1301035326" name="Google Shape;246;p14"/>
          <p:cNvSpPr/>
          <p:nvPr/>
        </p:nvSpPr>
        <p:spPr bwMode="auto">
          <a:xfrm>
            <a:off x="4617720" y="2240280"/>
            <a:ext cx="54864" cy="1325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769338388" name="Google Shape;247;p14"/>
          <p:cNvSpPr/>
          <p:nvPr/>
        </p:nvSpPr>
        <p:spPr bwMode="auto">
          <a:xfrm>
            <a:off x="4754880" y="231343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1300"/>
              <a:buFont typeface="Calibri"/>
              <a:buNone/>
              <a:defRPr/>
            </a:pP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30051126" name="Google Shape;248;p14"/>
          <p:cNvSpPr/>
          <p:nvPr/>
        </p:nvSpPr>
        <p:spPr bwMode="auto">
          <a:xfrm>
            <a:off x="4754880" y="2651760"/>
            <a:ext cx="3749040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00"/>
              <a:buFont typeface="Calibri"/>
              <a:buNone/>
              <a:defRPr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6375997" name="Google Shape;200;p13"/>
          <p:cNvSpPr/>
          <p:nvPr/>
        </p:nvSpPr>
        <p:spPr bwMode="auto">
          <a:xfrm flipH="0" flipV="0">
            <a:off x="411479" y="3844847"/>
            <a:ext cx="8229600" cy="1092912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>
              <a:defRPr/>
            </a:pPr>
            <a:endParaRPr lang="ru-RU" sz="1400" b="1" i="0" u="none" strike="noStrike" cap="none" spc="0">
              <a:solidFill>
                <a:srgbClr val="FFFFFF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5489574" name="Google Shape;280;p16" descr="/home/claude/logo_300spbu.png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7498080" y="137160"/>
            <a:ext cx="1463040" cy="475488"/>
          </a:xfrm>
          <a:prstGeom prst="rect">
            <a:avLst/>
          </a:prstGeom>
          <a:noFill/>
          <a:ln>
            <a:noFill/>
          </a:ln>
        </p:spPr>
      </p:pic>
      <p:sp>
        <p:nvSpPr>
          <p:cNvPr id="62847711" name="Google Shape;281;p16"/>
          <p:cNvSpPr/>
          <p:nvPr/>
        </p:nvSpPr>
        <p:spPr bwMode="auto">
          <a:xfrm>
            <a:off x="8686800" y="4846320"/>
            <a:ext cx="274320" cy="18288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608598764" name="Google Shape;282;p16"/>
          <p:cNvSpPr/>
          <p:nvPr/>
        </p:nvSpPr>
        <p:spPr bwMode="auto">
          <a:xfrm>
            <a:off x="8641080" y="48006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  <a:defRPr/>
            </a:pPr>
            <a:r>
              <a:rPr lang="en-US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  <a:r>
              <a:rPr lang="ru-RU" sz="10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  <a:endParaRPr sz="10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98139894" name="Google Shape;283;p16"/>
          <p:cNvSpPr/>
          <p:nvPr/>
        </p:nvSpPr>
        <p:spPr bwMode="auto">
          <a:xfrm>
            <a:off x="594360" y="1828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0272D"/>
              </a:buClr>
              <a:buSzPts val="2600"/>
              <a:buFont typeface="Calibri"/>
              <a:buNone/>
              <a:defRPr/>
            </a:pPr>
            <a:r>
              <a:rPr lang="ru-RU" sz="2600" b="1" i="0" u="none" strike="noStrike" cap="none">
                <a:solidFill>
                  <a:srgbClr val="C0272D"/>
                </a:solidFill>
                <a:latin typeface="Open Sans"/>
                <a:ea typeface="Open Sans"/>
                <a:cs typeface="Open Sans"/>
              </a:rPr>
              <a:t>Выводы.</a:t>
            </a:r>
            <a:endParaRPr sz="2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2099121596" name="Google Shape;284;p16"/>
          <p:cNvSpPr/>
          <p:nvPr/>
        </p:nvSpPr>
        <p:spPr bwMode="auto">
          <a:xfrm>
            <a:off x="457200" y="201168"/>
            <a:ext cx="73152" cy="457200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623129105" name="Google Shape;285;p16"/>
          <p:cNvSpPr/>
          <p:nvPr/>
        </p:nvSpPr>
        <p:spPr bwMode="auto">
          <a:xfrm>
            <a:off x="457200" y="822960"/>
            <a:ext cx="8229600" cy="768096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748528525" name="Google Shape;286;p16"/>
          <p:cNvSpPr/>
          <p:nvPr/>
        </p:nvSpPr>
        <p:spPr bwMode="auto">
          <a:xfrm>
            <a:off x="457200" y="822960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196671453" name="Google Shape;287;p16"/>
          <p:cNvSpPr/>
          <p:nvPr/>
        </p:nvSpPr>
        <p:spPr bwMode="auto">
          <a:xfrm>
            <a:off x="457200" y="822960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937145458" name="Google Shape;288;p16"/>
          <p:cNvSpPr/>
          <p:nvPr/>
        </p:nvSpPr>
        <p:spPr bwMode="auto">
          <a:xfrm>
            <a:off x="960120" y="914400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2134170547" name="Google Shape;289;p16"/>
          <p:cNvSpPr/>
          <p:nvPr/>
        </p:nvSpPr>
        <p:spPr bwMode="auto">
          <a:xfrm>
            <a:off x="457200" y="1664208"/>
            <a:ext cx="8229600" cy="7680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796931497" name="Google Shape;290;p16"/>
          <p:cNvSpPr/>
          <p:nvPr/>
        </p:nvSpPr>
        <p:spPr bwMode="auto">
          <a:xfrm>
            <a:off x="457200" y="1664208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569516820" name="Google Shape;291;p16"/>
          <p:cNvSpPr/>
          <p:nvPr/>
        </p:nvSpPr>
        <p:spPr bwMode="auto">
          <a:xfrm>
            <a:off x="457200" y="1664208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796144711" name="Google Shape;292;p16"/>
          <p:cNvSpPr/>
          <p:nvPr/>
        </p:nvSpPr>
        <p:spPr bwMode="auto">
          <a:xfrm>
            <a:off x="960120" y="1755648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657493792" name="Google Shape;293;p16"/>
          <p:cNvSpPr/>
          <p:nvPr/>
        </p:nvSpPr>
        <p:spPr bwMode="auto">
          <a:xfrm>
            <a:off x="457200" y="2505456"/>
            <a:ext cx="8229600" cy="768096"/>
          </a:xfrm>
          <a:prstGeom prst="rect">
            <a:avLst/>
          </a:prstGeom>
          <a:solidFill>
            <a:srgbClr val="F5F5F5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532146978" name="Google Shape;294;p16"/>
          <p:cNvSpPr/>
          <p:nvPr/>
        </p:nvSpPr>
        <p:spPr bwMode="auto">
          <a:xfrm>
            <a:off x="457200" y="2505456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936128496" name="Google Shape;295;p16"/>
          <p:cNvSpPr/>
          <p:nvPr/>
        </p:nvSpPr>
        <p:spPr bwMode="auto">
          <a:xfrm>
            <a:off x="457200" y="2505456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967886629" name="Google Shape;296;p16"/>
          <p:cNvSpPr/>
          <p:nvPr/>
        </p:nvSpPr>
        <p:spPr bwMode="auto">
          <a:xfrm>
            <a:off x="960120" y="2596896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222837095" name="Google Shape;297;p16"/>
          <p:cNvSpPr/>
          <p:nvPr/>
        </p:nvSpPr>
        <p:spPr bwMode="auto">
          <a:xfrm>
            <a:off x="457200" y="3346704"/>
            <a:ext cx="8229600" cy="7680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1090979159" name="Google Shape;298;p16"/>
          <p:cNvSpPr/>
          <p:nvPr/>
        </p:nvSpPr>
        <p:spPr bwMode="auto">
          <a:xfrm>
            <a:off x="457200" y="3346704"/>
            <a:ext cx="411480" cy="768096"/>
          </a:xfrm>
          <a:prstGeom prst="rect">
            <a:avLst/>
          </a:prstGeom>
          <a:solidFill>
            <a:srgbClr val="C0272D"/>
          </a:solidFill>
          <a:ln w="12700" cap="flat" cmpd="sng">
            <a:solidFill>
              <a:srgbClr val="C0272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>
              <a:latin typeface="Open Sans"/>
              <a:cs typeface="Open Sans"/>
            </a:endParaRPr>
          </a:p>
        </p:txBody>
      </p:sp>
      <p:sp>
        <p:nvSpPr>
          <p:cNvPr id="900082329" name="Google Shape;299;p16"/>
          <p:cNvSpPr/>
          <p:nvPr/>
        </p:nvSpPr>
        <p:spPr bwMode="auto">
          <a:xfrm>
            <a:off x="457200" y="3346704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1334602335" name="Google Shape;300;p16"/>
          <p:cNvSpPr/>
          <p:nvPr/>
        </p:nvSpPr>
        <p:spPr bwMode="auto">
          <a:xfrm>
            <a:off x="960120" y="3438144"/>
            <a:ext cx="75895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250"/>
              <a:buFont typeface="Calibri"/>
              <a:buNone/>
              <a:defRPr/>
            </a:pPr>
            <a:endParaRPr sz="125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  <p:sp>
        <p:nvSpPr>
          <p:cNvPr id="70679641" name="Google Shape;303;p16"/>
          <p:cNvSpPr/>
          <p:nvPr/>
        </p:nvSpPr>
        <p:spPr bwMode="auto">
          <a:xfrm>
            <a:off x="457200" y="4187952"/>
            <a:ext cx="411480" cy="768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  <a:defRPr/>
            </a:pPr>
            <a:r>
              <a:rPr lang="en-US" sz="1600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Open Sans"/>
              <a:cs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010339" name="Google Shape;309;p17"/>
          <p:cNvSpPr txBox="1"/>
          <p:nvPr>
            <p:ph type="body" idx="1"/>
          </p:nvPr>
        </p:nvSpPr>
        <p:spPr bwMode="auto">
          <a:xfrm>
            <a:off x="494094" y="2157425"/>
            <a:ext cx="5330700" cy="1157400"/>
          </a:xfrm>
          <a:prstGeom prst="rect">
            <a:avLst/>
          </a:prstGeom>
          <a:noFill/>
          <a:ln>
            <a:noFill/>
          </a:ln>
        </p:spPr>
        <p:txBody>
          <a:bodyPr spcFirstLastPara="1" vertOverflow="overflow" horzOverflow="overflow" vert="horz" wrap="square" lIns="68574" tIns="34274" rIns="68574" bIns="34274" numCol="1" spcCol="0" rtlCol="0" fromWordArt="0" anchor="t" anchorCtr="0" forceAA="0" upright="0" compatLnSpc="0">
            <a:normAutofit fontScale="80000" lnSpcReduction="4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  <a:defRPr/>
            </a:pPr>
            <a:r>
              <a:rPr lang="ru-RU" sz="4200">
                <a:solidFill>
                  <a:schemeClr val="dk1"/>
                </a:solidFill>
                <a:latin typeface="Open Sans"/>
                <a:ea typeface="Open Sans"/>
                <a:cs typeface="Open Sans"/>
              </a:rPr>
              <a:t>Спасибо за внимание!</a:t>
            </a:r>
            <a:endParaRPr lang="ru-RU" sz="4200" b="0">
              <a:solidFill>
                <a:schemeClr val="dk1"/>
              </a:solidFill>
              <a:latin typeface="Open Sans"/>
              <a:cs typeface="Open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15151"/>
              </a:buClr>
              <a:buSzPct val="100000"/>
              <a:buNone/>
              <a:defRPr/>
            </a:pPr>
            <a:endParaRPr lang="ru-RU">
              <a:latin typeface="Open Sans"/>
              <a:cs typeface="Open Sans"/>
            </a:endParaRPr>
          </a:p>
        </p:txBody>
      </p:sp>
      <p:sp>
        <p:nvSpPr>
          <p:cNvPr id="863595271" name="Google Shape;310;p17"/>
          <p:cNvSpPr/>
          <p:nvPr/>
        </p:nvSpPr>
        <p:spPr bwMode="auto">
          <a:xfrm>
            <a:off x="371175" y="1585850"/>
            <a:ext cx="1878900" cy="657900"/>
          </a:xfrm>
          <a:prstGeom prst="rect">
            <a:avLst/>
          </a:prstGeom>
          <a:solidFill>
            <a:srgbClr val="EAE0D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82898131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320891" y="4510203"/>
            <a:ext cx="1285875" cy="6007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12</cp:revision>
  <dcterms:modified xsi:type="dcterms:W3CDTF">2026-10-18T22:49:35Z</dcterms:modified>
</cp:coreProperties>
</file>